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4069080" y="1417320"/>
            <a:ext cx="4023360" cy="4023360"/>
          </a:xfrm>
          <a:prstGeom prst="ellipse">
            <a:avLst/>
          </a:prstGeom>
          <a:solidFill>
            <a:srgbClr val="070B14">
              <a:alpha val="0"/>
            </a:srgbClr>
          </a:solidFill>
          <a:ln w="6350">
            <a:solidFill>
              <a:srgbClr val="1C2840"/>
            </a:solidFill>
            <a:prstDash val="solid"/>
          </a:ln>
        </p:spPr>
      </p:sp>
      <p:sp>
        <p:nvSpPr>
          <p:cNvPr id="3" name="Shape 1"/>
          <p:cNvSpPr/>
          <p:nvPr/>
        </p:nvSpPr>
        <p:spPr>
          <a:xfrm>
            <a:off x="3566160" y="914400"/>
            <a:ext cx="5029200" cy="5029200"/>
          </a:xfrm>
          <a:prstGeom prst="ellipse">
            <a:avLst/>
          </a:prstGeom>
          <a:solidFill>
            <a:srgbClr val="070B14">
              <a:alpha val="0"/>
            </a:srgbClr>
          </a:solidFill>
          <a:ln w="6350">
            <a:solidFill>
              <a:srgbClr val="1C2840"/>
            </a:solidFill>
            <a:prstDash val="solid"/>
          </a:ln>
        </p:spPr>
      </p:sp>
      <p:sp>
        <p:nvSpPr>
          <p:cNvPr id="4" name="Shape 2"/>
          <p:cNvSpPr/>
          <p:nvPr/>
        </p:nvSpPr>
        <p:spPr>
          <a:xfrm>
            <a:off x="3063240" y="411480"/>
            <a:ext cx="6035040" cy="6035040"/>
          </a:xfrm>
          <a:prstGeom prst="ellipse">
            <a:avLst/>
          </a:prstGeom>
          <a:solidFill>
            <a:srgbClr val="070B14">
              <a:alpha val="0"/>
            </a:srgbClr>
          </a:solidFill>
          <a:ln w="6350">
            <a:solidFill>
              <a:srgbClr val="1C2840"/>
            </a:solidFill>
            <a:prstDash val="solid"/>
          </a:ln>
        </p:spPr>
      </p:sp>
      <p:sp>
        <p:nvSpPr>
          <p:cNvPr id="5" name="Shape 3"/>
          <p:cNvSpPr/>
          <p:nvPr/>
        </p:nvSpPr>
        <p:spPr>
          <a:xfrm>
            <a:off x="2560320" y="-91440"/>
            <a:ext cx="7040880" cy="7040880"/>
          </a:xfrm>
          <a:prstGeom prst="ellipse">
            <a:avLst/>
          </a:prstGeom>
          <a:solidFill>
            <a:srgbClr val="070B14">
              <a:alpha val="0"/>
            </a:srgbClr>
          </a:solidFill>
          <a:ln w="6350">
            <a:solidFill>
              <a:srgbClr val="1C2840"/>
            </a:solidFill>
            <a:prstDash val="solid"/>
          </a:ln>
        </p:spPr>
      </p:sp>
      <p:sp>
        <p:nvSpPr>
          <p:cNvPr id="6" name="Shape 4"/>
          <p:cNvSpPr/>
          <p:nvPr/>
        </p:nvSpPr>
        <p:spPr>
          <a:xfrm>
            <a:off x="2057400" y="-594360"/>
            <a:ext cx="8046720" cy="8046720"/>
          </a:xfrm>
          <a:prstGeom prst="ellipse">
            <a:avLst/>
          </a:prstGeom>
          <a:solidFill>
            <a:srgbClr val="070B14">
              <a:alpha val="0"/>
            </a:srgbClr>
          </a:solidFill>
          <a:ln w="6350">
            <a:solidFill>
              <a:srgbClr val="1C2840"/>
            </a:solidFill>
            <a:prstDash val="solid"/>
          </a:ln>
        </p:spPr>
      </p:sp>
      <p:sp>
        <p:nvSpPr>
          <p:cNvPr id="7" name="Shape 5"/>
          <p:cNvSpPr/>
          <p:nvPr/>
        </p:nvSpPr>
        <p:spPr>
          <a:xfrm>
            <a:off x="1554480" y="-1097280"/>
            <a:ext cx="9052560" cy="9052560"/>
          </a:xfrm>
          <a:prstGeom prst="ellipse">
            <a:avLst/>
          </a:prstGeom>
          <a:solidFill>
            <a:srgbClr val="070B14">
              <a:alpha val="0"/>
            </a:srgbClr>
          </a:solidFill>
          <a:ln w="6350">
            <a:solidFill>
              <a:srgbClr val="1C2840"/>
            </a:solidFill>
            <a:prstDash val="solid"/>
          </a:ln>
        </p:spPr>
      </p:sp>
      <p:sp>
        <p:nvSpPr>
          <p:cNvPr id="8" name="Shape 6"/>
          <p:cNvSpPr/>
          <p:nvPr/>
        </p:nvSpPr>
        <p:spPr>
          <a:xfrm>
            <a:off x="6080760" y="3017520"/>
            <a:ext cx="0" cy="822960"/>
          </a:xfrm>
          <a:prstGeom prst="line">
            <a:avLst/>
          </a:prstGeom>
          <a:noFill/>
          <a:ln w="9525">
            <a:solidFill>
              <a:srgbClr val="38D9F0"/>
            </a:solidFill>
            <a:prstDash val="solid"/>
          </a:ln>
        </p:spPr>
      </p:sp>
      <p:sp>
        <p:nvSpPr>
          <p:cNvPr id="9" name="Shape 7"/>
          <p:cNvSpPr/>
          <p:nvPr/>
        </p:nvSpPr>
        <p:spPr>
          <a:xfrm>
            <a:off x="5669280" y="3429000"/>
            <a:ext cx="822960" cy="0"/>
          </a:xfrm>
          <a:prstGeom prst="line">
            <a:avLst/>
          </a:prstGeom>
          <a:noFill/>
          <a:ln w="9525">
            <a:solidFill>
              <a:srgbClr val="38D9F0"/>
            </a:solidFill>
            <a:prstDash val="solid"/>
          </a:ln>
        </p:spPr>
      </p:sp>
      <p:sp>
        <p:nvSpPr>
          <p:cNvPr id="10" name="Shape 8"/>
          <p:cNvSpPr/>
          <p:nvPr/>
        </p:nvSpPr>
        <p:spPr>
          <a:xfrm>
            <a:off x="6007608" y="3355848"/>
            <a:ext cx="146304" cy="146304"/>
          </a:xfrm>
          <a:prstGeom prst="ellipse">
            <a:avLst/>
          </a:prstGeom>
          <a:solidFill>
            <a:srgbClr val="F5B024"/>
          </a:solidFill>
          <a:ln w="12700">
            <a:solidFill>
              <a:srgbClr val="F5B024"/>
            </a:solidFill>
            <a:prstDash val="solid"/>
          </a:ln>
        </p:spPr>
      </p:sp>
      <p:sp>
        <p:nvSpPr>
          <p:cNvPr id="11" name="Shape 9"/>
          <p:cNvSpPr/>
          <p:nvPr/>
        </p:nvSpPr>
        <p:spPr>
          <a:xfrm>
            <a:off x="201168" y="201168"/>
            <a:ext cx="201168" cy="25603"/>
          </a:xfrm>
          <a:prstGeom prst="rect">
            <a:avLst/>
          </a:prstGeom>
          <a:solidFill>
            <a:srgbClr val="38D9F0"/>
          </a:solidFill>
          <a:ln w="12700">
            <a:solidFill>
              <a:srgbClr val="38D9F0"/>
            </a:solidFill>
            <a:prstDash val="solid"/>
          </a:ln>
        </p:spPr>
      </p:sp>
      <p:sp>
        <p:nvSpPr>
          <p:cNvPr id="12" name="Shape 10"/>
          <p:cNvSpPr/>
          <p:nvPr/>
        </p:nvSpPr>
        <p:spPr>
          <a:xfrm>
            <a:off x="201168" y="201168"/>
            <a:ext cx="25603" cy="201168"/>
          </a:xfrm>
          <a:prstGeom prst="rect">
            <a:avLst/>
          </a:prstGeom>
          <a:solidFill>
            <a:srgbClr val="38D9F0"/>
          </a:solidFill>
          <a:ln w="12700">
            <a:solidFill>
              <a:srgbClr val="38D9F0"/>
            </a:solidFill>
            <a:prstDash val="solid"/>
          </a:ln>
        </p:spPr>
      </p:sp>
      <p:sp>
        <p:nvSpPr>
          <p:cNvPr id="13" name="Shape 11"/>
          <p:cNvSpPr/>
          <p:nvPr/>
        </p:nvSpPr>
        <p:spPr>
          <a:xfrm>
            <a:off x="11759184" y="201168"/>
            <a:ext cx="201168" cy="25603"/>
          </a:xfrm>
          <a:prstGeom prst="rect">
            <a:avLst/>
          </a:prstGeom>
          <a:solidFill>
            <a:srgbClr val="38D9F0"/>
          </a:solidFill>
          <a:ln w="12700">
            <a:solidFill>
              <a:srgbClr val="38D9F0"/>
            </a:solidFill>
            <a:prstDash val="solid"/>
          </a:ln>
        </p:spPr>
      </p:sp>
      <p:sp>
        <p:nvSpPr>
          <p:cNvPr id="14" name="Shape 12"/>
          <p:cNvSpPr/>
          <p:nvPr/>
        </p:nvSpPr>
        <p:spPr>
          <a:xfrm>
            <a:off x="11934749" y="201168"/>
            <a:ext cx="25603" cy="201168"/>
          </a:xfrm>
          <a:prstGeom prst="rect">
            <a:avLst/>
          </a:prstGeom>
          <a:solidFill>
            <a:srgbClr val="38D9F0"/>
          </a:solidFill>
          <a:ln w="12700">
            <a:solidFill>
              <a:srgbClr val="38D9F0"/>
            </a:solidFill>
            <a:prstDash val="solid"/>
          </a:ln>
        </p:spPr>
      </p:sp>
      <p:sp>
        <p:nvSpPr>
          <p:cNvPr id="15" name="Shape 13"/>
          <p:cNvSpPr/>
          <p:nvPr/>
        </p:nvSpPr>
        <p:spPr>
          <a:xfrm>
            <a:off x="201168" y="6631229"/>
            <a:ext cx="201168" cy="25603"/>
          </a:xfrm>
          <a:prstGeom prst="rect">
            <a:avLst/>
          </a:prstGeom>
          <a:solidFill>
            <a:srgbClr val="38D9F0"/>
          </a:solidFill>
          <a:ln w="12700">
            <a:solidFill>
              <a:srgbClr val="38D9F0"/>
            </a:solidFill>
            <a:prstDash val="solid"/>
          </a:ln>
        </p:spPr>
      </p:sp>
      <p:sp>
        <p:nvSpPr>
          <p:cNvPr id="16" name="Shape 14"/>
          <p:cNvSpPr/>
          <p:nvPr/>
        </p:nvSpPr>
        <p:spPr>
          <a:xfrm>
            <a:off x="201168" y="6455664"/>
            <a:ext cx="25603" cy="201168"/>
          </a:xfrm>
          <a:prstGeom prst="rect">
            <a:avLst/>
          </a:prstGeom>
          <a:solidFill>
            <a:srgbClr val="38D9F0"/>
          </a:solidFill>
          <a:ln w="12700">
            <a:solidFill>
              <a:srgbClr val="38D9F0"/>
            </a:solidFill>
            <a:prstDash val="solid"/>
          </a:ln>
        </p:spPr>
      </p:sp>
      <p:sp>
        <p:nvSpPr>
          <p:cNvPr id="17" name="Shape 15"/>
          <p:cNvSpPr/>
          <p:nvPr/>
        </p:nvSpPr>
        <p:spPr>
          <a:xfrm>
            <a:off x="11759184" y="6631229"/>
            <a:ext cx="201168" cy="25603"/>
          </a:xfrm>
          <a:prstGeom prst="rect">
            <a:avLst/>
          </a:prstGeom>
          <a:solidFill>
            <a:srgbClr val="38D9F0"/>
          </a:solidFill>
          <a:ln w="12700">
            <a:solidFill>
              <a:srgbClr val="38D9F0"/>
            </a:solidFill>
            <a:prstDash val="solid"/>
          </a:ln>
        </p:spPr>
      </p:sp>
      <p:sp>
        <p:nvSpPr>
          <p:cNvPr id="18" name="Shape 16"/>
          <p:cNvSpPr/>
          <p:nvPr/>
        </p:nvSpPr>
        <p:spPr>
          <a:xfrm>
            <a:off x="11934749" y="6455664"/>
            <a:ext cx="25603" cy="201168"/>
          </a:xfrm>
          <a:prstGeom prst="rect">
            <a:avLst/>
          </a:prstGeom>
          <a:solidFill>
            <a:srgbClr val="38D9F0"/>
          </a:solidFill>
          <a:ln w="12700">
            <a:solidFill>
              <a:srgbClr val="38D9F0"/>
            </a:solidFill>
            <a:prstDash val="solid"/>
          </a:ln>
        </p:spPr>
      </p:sp>
      <p:sp>
        <p:nvSpPr>
          <p:cNvPr id="19" name="Text 17"/>
          <p:cNvSpPr/>
          <p:nvPr/>
        </p:nvSpPr>
        <p:spPr>
          <a:xfrm>
            <a:off x="777240" y="164592"/>
            <a:ext cx="5486400" cy="274320"/>
          </a:xfrm>
          <a:prstGeom prst="rect">
            <a:avLst/>
          </a:prstGeom>
          <a:noFill/>
          <a:ln/>
        </p:spPr>
        <p:txBody>
          <a:bodyPr wrap="square" lIns="0" tIns="0" rIns="0" bIns="0" rtlCol="0" anchor="ctr"/>
          <a:lstStyle/>
          <a:p>
            <a:pPr indent="0" marL="0">
              <a:buNone/>
            </a:pPr>
            <a:r>
              <a:rPr lang="en-US" sz="1000" spc="400" kern="0" dirty="0">
                <a:solidFill>
                  <a:srgbClr val="8A97AD"/>
                </a:solidFill>
                <a:latin typeface="Consolas" pitchFamily="34" charset="0"/>
                <a:ea typeface="Consolas" pitchFamily="34" charset="-122"/>
                <a:cs typeface="Consolas" pitchFamily="34" charset="-120"/>
              </a:rPr>
              <a:t>DOC-001  //  UAP ARCHIVE  //  VOL. I</a:t>
            </a:r>
            <a:endParaRPr lang="en-US" sz="1000" dirty="0"/>
          </a:p>
        </p:txBody>
      </p:sp>
      <p:sp>
        <p:nvSpPr>
          <p:cNvPr id="20" name="Text 18"/>
          <p:cNvSpPr/>
          <p:nvPr/>
        </p:nvSpPr>
        <p:spPr>
          <a:xfrm>
            <a:off x="6812280" y="164592"/>
            <a:ext cx="4572000" cy="274320"/>
          </a:xfrm>
          <a:prstGeom prst="rect">
            <a:avLst/>
          </a:prstGeom>
          <a:noFill/>
          <a:ln/>
        </p:spPr>
        <p:txBody>
          <a:bodyPr wrap="square" lIns="0" tIns="0" rIns="0" bIns="0" rtlCol="0" anchor="ctr"/>
          <a:lstStyle/>
          <a:p>
            <a:pPr algn="r" indent="0" marL="0">
              <a:buNone/>
            </a:pPr>
            <a:r>
              <a:rPr lang="en-US" sz="1000" b="1" spc="400" kern="0" dirty="0">
                <a:solidFill>
                  <a:srgbClr val="F5B024"/>
                </a:solidFill>
                <a:latin typeface="Consolas" pitchFamily="34" charset="0"/>
                <a:ea typeface="Consolas" pitchFamily="34" charset="-122"/>
                <a:cs typeface="Consolas" pitchFamily="34" charset="-120"/>
              </a:rPr>
              <a:t>CLASSIFICATION: OPEN SOURCE</a:t>
            </a:r>
            <a:endParaRPr lang="en-US" sz="1000" dirty="0"/>
          </a:p>
        </p:txBody>
      </p:sp>
      <p:sp>
        <p:nvSpPr>
          <p:cNvPr id="21" name="Text 19"/>
          <p:cNvSpPr/>
          <p:nvPr/>
        </p:nvSpPr>
        <p:spPr>
          <a:xfrm>
            <a:off x="548640" y="1874520"/>
            <a:ext cx="10972800" cy="320040"/>
          </a:xfrm>
          <a:prstGeom prst="rect">
            <a:avLst/>
          </a:prstGeom>
          <a:noFill/>
          <a:ln/>
        </p:spPr>
        <p:txBody>
          <a:bodyPr wrap="square" lIns="0" tIns="0" rIns="0" bIns="0" rtlCol="0" anchor="ctr"/>
          <a:lstStyle/>
          <a:p>
            <a:pPr indent="0" marL="0">
              <a:buNone/>
            </a:pPr>
            <a:r>
              <a:rPr lang="en-US" sz="1300" b="1" spc="700" kern="0" dirty="0">
                <a:solidFill>
                  <a:srgbClr val="38D9F0"/>
                </a:solidFill>
                <a:latin typeface="Consolas" pitchFamily="34" charset="0"/>
                <a:ea typeface="Consolas" pitchFamily="34" charset="-122"/>
                <a:cs typeface="Consolas" pitchFamily="34" charset="-120"/>
              </a:rPr>
              <a:t>A HISTORICAL RECORD</a:t>
            </a:r>
            <a:endParaRPr lang="en-US" sz="1300" dirty="0"/>
          </a:p>
        </p:txBody>
      </p:sp>
      <p:sp>
        <p:nvSpPr>
          <p:cNvPr id="22" name="Text 20"/>
          <p:cNvSpPr/>
          <p:nvPr/>
        </p:nvSpPr>
        <p:spPr>
          <a:xfrm>
            <a:off x="548640" y="2240280"/>
            <a:ext cx="11064240" cy="914400"/>
          </a:xfrm>
          <a:prstGeom prst="rect">
            <a:avLst/>
          </a:prstGeom>
          <a:noFill/>
          <a:ln/>
        </p:spPr>
        <p:txBody>
          <a:bodyPr wrap="square" lIns="0" tIns="0" rIns="0" bIns="0" rtlCol="0" anchor="ctr"/>
          <a:lstStyle/>
          <a:p>
            <a:pPr indent="0" marL="0">
              <a:buNone/>
            </a:pPr>
            <a:r>
              <a:rPr lang="en-US" sz="5200" spc="200" kern="0" dirty="0">
                <a:solidFill>
                  <a:srgbClr val="ECF1F8"/>
                </a:solidFill>
                <a:latin typeface="Arial Black" pitchFamily="34" charset="0"/>
                <a:ea typeface="Arial Black" pitchFamily="34" charset="-122"/>
                <a:cs typeface="Arial Black" pitchFamily="34" charset="-120"/>
              </a:rPr>
              <a:t>UNIDENTIFIED ANOMALOUS</a:t>
            </a:r>
            <a:endParaRPr lang="en-US" sz="5200" dirty="0"/>
          </a:p>
        </p:txBody>
      </p:sp>
      <p:sp>
        <p:nvSpPr>
          <p:cNvPr id="23" name="Text 21"/>
          <p:cNvSpPr/>
          <p:nvPr/>
        </p:nvSpPr>
        <p:spPr>
          <a:xfrm>
            <a:off x="548640" y="3154680"/>
            <a:ext cx="11064240" cy="914400"/>
          </a:xfrm>
          <a:prstGeom prst="rect">
            <a:avLst/>
          </a:prstGeom>
          <a:noFill/>
          <a:ln/>
        </p:spPr>
        <p:txBody>
          <a:bodyPr wrap="square" lIns="0" tIns="0" rIns="0" bIns="0" rtlCol="0" anchor="ctr"/>
          <a:lstStyle/>
          <a:p>
            <a:pPr indent="0" marL="0">
              <a:buNone/>
            </a:pPr>
            <a:r>
              <a:rPr lang="en-US" sz="5200" spc="200" kern="0" dirty="0">
                <a:solidFill>
                  <a:srgbClr val="ECF1F8"/>
                </a:solidFill>
                <a:latin typeface="Arial Black" pitchFamily="34" charset="0"/>
                <a:ea typeface="Arial Black" pitchFamily="34" charset="-122"/>
                <a:cs typeface="Arial Black" pitchFamily="34" charset="-120"/>
              </a:rPr>
              <a:t>PHENOMENA</a:t>
            </a:r>
            <a:endParaRPr lang="en-US" sz="5200" dirty="0"/>
          </a:p>
        </p:txBody>
      </p:sp>
      <p:sp>
        <p:nvSpPr>
          <p:cNvPr id="24" name="Shape 22"/>
          <p:cNvSpPr/>
          <p:nvPr/>
        </p:nvSpPr>
        <p:spPr>
          <a:xfrm>
            <a:off x="548640" y="4251960"/>
            <a:ext cx="1097280" cy="45720"/>
          </a:xfrm>
          <a:prstGeom prst="rect">
            <a:avLst/>
          </a:prstGeom>
          <a:solidFill>
            <a:srgbClr val="F5B024"/>
          </a:solidFill>
          <a:ln w="12700">
            <a:solidFill>
              <a:srgbClr val="F5B024"/>
            </a:solidFill>
            <a:prstDash val="solid"/>
          </a:ln>
        </p:spPr>
      </p:sp>
      <p:sp>
        <p:nvSpPr>
          <p:cNvPr id="25" name="Text 23"/>
          <p:cNvSpPr/>
          <p:nvPr/>
        </p:nvSpPr>
        <p:spPr>
          <a:xfrm>
            <a:off x="548640" y="4389120"/>
            <a:ext cx="11064240" cy="457200"/>
          </a:xfrm>
          <a:prstGeom prst="rect">
            <a:avLst/>
          </a:prstGeom>
          <a:noFill/>
          <a:ln/>
        </p:spPr>
        <p:txBody>
          <a:bodyPr wrap="square" lIns="0" tIns="0" rIns="0" bIns="0" rtlCol="0" anchor="ctr"/>
          <a:lstStyle/>
          <a:p>
            <a:pPr indent="0" marL="0">
              <a:buNone/>
            </a:pPr>
            <a:r>
              <a:rPr lang="en-US" sz="2000" i="1" dirty="0">
                <a:solidFill>
                  <a:srgbClr val="8A97AD"/>
                </a:solidFill>
                <a:latin typeface="Calibri" pitchFamily="34" charset="0"/>
                <a:ea typeface="Calibri" pitchFamily="34" charset="-122"/>
                <a:cs typeface="Calibri" pitchFamily="34" charset="-120"/>
              </a:rPr>
              <a:t>From Myth to Measurement — Tracing Humanity's Encounter with the Unknown</a:t>
            </a:r>
            <a:endParaRPr lang="en-US" sz="2000" dirty="0"/>
          </a:p>
        </p:txBody>
      </p:sp>
      <p:sp>
        <p:nvSpPr>
          <p:cNvPr id="26" name="Shape 24"/>
          <p:cNvSpPr/>
          <p:nvPr/>
        </p:nvSpPr>
        <p:spPr>
          <a:xfrm>
            <a:off x="365760" y="6035040"/>
            <a:ext cx="11430000" cy="0"/>
          </a:xfrm>
          <a:prstGeom prst="line">
            <a:avLst/>
          </a:prstGeom>
          <a:noFill/>
          <a:ln w="6350">
            <a:solidFill>
              <a:srgbClr val="1C2840"/>
            </a:solidFill>
            <a:prstDash val="solid"/>
          </a:ln>
        </p:spPr>
      </p:sp>
      <p:sp>
        <p:nvSpPr>
          <p:cNvPr id="27" name="Text 25"/>
          <p:cNvSpPr/>
          <p:nvPr/>
        </p:nvSpPr>
        <p:spPr>
          <a:xfrm>
            <a:off x="365760" y="6217920"/>
            <a:ext cx="11430000" cy="274320"/>
          </a:xfrm>
          <a:prstGeom prst="rect">
            <a:avLst/>
          </a:prstGeom>
          <a:noFill/>
          <a:ln/>
        </p:spPr>
        <p:txBody>
          <a:bodyPr wrap="square" lIns="0" tIns="0" rIns="0" bIns="0" rtlCol="0" anchor="ctr"/>
          <a:lstStyle/>
          <a:p>
            <a:pPr indent="0" marL="0">
              <a:buNone/>
            </a:pPr>
            <a:r>
              <a:rPr lang="en-US" sz="950" spc="500" kern="0" dirty="0">
                <a:solidFill>
                  <a:srgbClr val="5C6A83"/>
                </a:solidFill>
                <a:latin typeface="Consolas" pitchFamily="34" charset="0"/>
                <a:ea typeface="Consolas" pitchFamily="34" charset="-122"/>
                <a:cs typeface="Consolas" pitchFamily="34" charset="-120"/>
              </a:rPr>
              <a:t>A PRESENTATION  //  COMPILED FROM DECLASSIFIED AND PUBLIC RECORDS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DOC-002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TABLE OF CONTENTS</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CONTENTS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02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AGENDA  ·  A THREE-ACT INQUIRY</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Structure of the Investigation</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66928" y="2240280"/>
            <a:ext cx="2606040" cy="3977640"/>
          </a:xfrm>
          <a:prstGeom prst="rect">
            <a:avLst/>
          </a:prstGeom>
          <a:solidFill>
            <a:srgbClr val="0F1624"/>
          </a:solidFill>
          <a:ln w="9525">
            <a:solidFill>
              <a:srgbClr val="2B3A55"/>
            </a:solidFill>
            <a:prstDash val="solid"/>
          </a:ln>
        </p:spPr>
      </p:sp>
      <p:sp>
        <p:nvSpPr>
          <p:cNvPr id="25" name="Shape 23"/>
          <p:cNvSpPr/>
          <p:nvPr/>
        </p:nvSpPr>
        <p:spPr>
          <a:xfrm>
            <a:off x="566928" y="2240280"/>
            <a:ext cx="54864" cy="3977640"/>
          </a:xfrm>
          <a:prstGeom prst="rect">
            <a:avLst/>
          </a:prstGeom>
          <a:solidFill>
            <a:srgbClr val="F5B024"/>
          </a:solidFill>
          <a:ln w="12700">
            <a:solidFill>
              <a:srgbClr val="F5B024"/>
            </a:solidFill>
            <a:prstDash val="solid"/>
          </a:ln>
        </p:spPr>
      </p:sp>
      <p:sp>
        <p:nvSpPr>
          <p:cNvPr id="26" name="Text 24"/>
          <p:cNvSpPr/>
          <p:nvPr/>
        </p:nvSpPr>
        <p:spPr>
          <a:xfrm>
            <a:off x="795528" y="2514600"/>
            <a:ext cx="2240280" cy="320040"/>
          </a:xfrm>
          <a:prstGeom prst="rect">
            <a:avLst/>
          </a:prstGeom>
          <a:noFill/>
          <a:ln/>
        </p:spPr>
        <p:txBody>
          <a:bodyPr wrap="square" lIns="0" tIns="0" rIns="0" bIns="0" rtlCol="0" anchor="ctr"/>
          <a:lstStyle/>
          <a:p>
            <a:pPr indent="0" marL="0">
              <a:buNone/>
            </a:pPr>
            <a:r>
              <a:rPr lang="en-US" sz="1050" b="1" spc="500" kern="0" dirty="0">
                <a:solidFill>
                  <a:srgbClr val="F5B024"/>
                </a:solidFill>
                <a:latin typeface="Consolas" pitchFamily="34" charset="0"/>
                <a:ea typeface="Consolas" pitchFamily="34" charset="-122"/>
                <a:cs typeface="Consolas" pitchFamily="34" charset="-120"/>
              </a:rPr>
              <a:t>ACT I</a:t>
            </a:r>
            <a:endParaRPr lang="en-US" sz="1050" dirty="0"/>
          </a:p>
        </p:txBody>
      </p:sp>
      <p:sp>
        <p:nvSpPr>
          <p:cNvPr id="27" name="Text 25"/>
          <p:cNvSpPr/>
          <p:nvPr/>
        </p:nvSpPr>
        <p:spPr>
          <a:xfrm>
            <a:off x="795528" y="2834640"/>
            <a:ext cx="2240280" cy="86868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THE CULTURAL LENS</a:t>
            </a:r>
            <a:endParaRPr lang="en-US" sz="1500" dirty="0"/>
          </a:p>
        </p:txBody>
      </p:sp>
      <p:sp>
        <p:nvSpPr>
          <p:cNvPr id="28" name="Shape 26"/>
          <p:cNvSpPr/>
          <p:nvPr/>
        </p:nvSpPr>
        <p:spPr>
          <a:xfrm>
            <a:off x="795528" y="3721608"/>
            <a:ext cx="2148840" cy="0"/>
          </a:xfrm>
          <a:prstGeom prst="line">
            <a:avLst/>
          </a:prstGeom>
          <a:noFill/>
          <a:ln w="9525">
            <a:solidFill>
              <a:srgbClr val="2B3A55"/>
            </a:solidFill>
            <a:prstDash val="solid"/>
          </a:ln>
        </p:spPr>
      </p:sp>
      <p:sp>
        <p:nvSpPr>
          <p:cNvPr id="29" name="Text 27"/>
          <p:cNvSpPr/>
          <p:nvPr/>
        </p:nvSpPr>
        <p:spPr>
          <a:xfrm>
            <a:off x="795528" y="3886200"/>
            <a:ext cx="2240280" cy="2148840"/>
          </a:xfrm>
          <a:prstGeom prst="rect">
            <a:avLst/>
          </a:prstGeom>
          <a:noFill/>
          <a:ln/>
        </p:spPr>
        <p:txBody>
          <a:bodyPr wrap="square" lIns="0" tIns="0" rIns="0" bIns="0" rtlCol="0" anchor="t"/>
          <a:lstStyle/>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01   Ancient accounts (218 BC – 1561)</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02   Mesopotamia &amp; the Near East</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03   Egypt, India &amp; the vimanas</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04   Global traditions &amp; megaliths</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05   Knowledge from the heavens</a:t>
            </a:r>
            <a:endParaRPr lang="en-US" sz="1150" dirty="0"/>
          </a:p>
        </p:txBody>
      </p:sp>
      <p:sp>
        <p:nvSpPr>
          <p:cNvPr id="30" name="Shape 28"/>
          <p:cNvSpPr/>
          <p:nvPr/>
        </p:nvSpPr>
        <p:spPr>
          <a:xfrm>
            <a:off x="3374136" y="2240280"/>
            <a:ext cx="2606040" cy="3977640"/>
          </a:xfrm>
          <a:prstGeom prst="rect">
            <a:avLst/>
          </a:prstGeom>
          <a:solidFill>
            <a:srgbClr val="0F1624"/>
          </a:solidFill>
          <a:ln w="9525">
            <a:solidFill>
              <a:srgbClr val="2B3A55"/>
            </a:solidFill>
            <a:prstDash val="solid"/>
          </a:ln>
        </p:spPr>
      </p:sp>
      <p:sp>
        <p:nvSpPr>
          <p:cNvPr id="31" name="Shape 29"/>
          <p:cNvSpPr/>
          <p:nvPr/>
        </p:nvSpPr>
        <p:spPr>
          <a:xfrm>
            <a:off x="3374136" y="2240280"/>
            <a:ext cx="54864" cy="3977640"/>
          </a:xfrm>
          <a:prstGeom prst="rect">
            <a:avLst/>
          </a:prstGeom>
          <a:solidFill>
            <a:srgbClr val="38D9F0"/>
          </a:solidFill>
          <a:ln w="12700">
            <a:solidFill>
              <a:srgbClr val="38D9F0"/>
            </a:solidFill>
            <a:prstDash val="solid"/>
          </a:ln>
        </p:spPr>
      </p:sp>
      <p:sp>
        <p:nvSpPr>
          <p:cNvPr id="32" name="Text 30"/>
          <p:cNvSpPr/>
          <p:nvPr/>
        </p:nvSpPr>
        <p:spPr>
          <a:xfrm>
            <a:off x="3602736" y="2514600"/>
            <a:ext cx="2240280" cy="320040"/>
          </a:xfrm>
          <a:prstGeom prst="rect">
            <a:avLst/>
          </a:prstGeom>
          <a:noFill/>
          <a:ln/>
        </p:spPr>
        <p:txBody>
          <a:bodyPr wrap="square" lIns="0" tIns="0" rIns="0" bIns="0" rtlCol="0" anchor="ctr"/>
          <a:lstStyle/>
          <a:p>
            <a:pPr indent="0" marL="0">
              <a:buNone/>
            </a:pPr>
            <a:r>
              <a:rPr lang="en-US" sz="1050" b="1" spc="500" kern="0" dirty="0">
                <a:solidFill>
                  <a:srgbClr val="38D9F0"/>
                </a:solidFill>
                <a:latin typeface="Consolas" pitchFamily="34" charset="0"/>
                <a:ea typeface="Consolas" pitchFamily="34" charset="-122"/>
                <a:cs typeface="Consolas" pitchFamily="34" charset="-120"/>
              </a:rPr>
              <a:t>ACT II</a:t>
            </a:r>
            <a:endParaRPr lang="en-US" sz="1050" dirty="0"/>
          </a:p>
        </p:txBody>
      </p:sp>
      <p:sp>
        <p:nvSpPr>
          <p:cNvPr id="33" name="Text 31"/>
          <p:cNvSpPr/>
          <p:nvPr/>
        </p:nvSpPr>
        <p:spPr>
          <a:xfrm>
            <a:off x="3602736" y="2834640"/>
            <a:ext cx="2240280" cy="86868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THE TECHNOLOGICAL LENS</a:t>
            </a:r>
            <a:endParaRPr lang="en-US" sz="1500" dirty="0"/>
          </a:p>
        </p:txBody>
      </p:sp>
      <p:sp>
        <p:nvSpPr>
          <p:cNvPr id="34" name="Shape 32"/>
          <p:cNvSpPr/>
          <p:nvPr/>
        </p:nvSpPr>
        <p:spPr>
          <a:xfrm>
            <a:off x="3602736" y="3721608"/>
            <a:ext cx="2148840" cy="0"/>
          </a:xfrm>
          <a:prstGeom prst="line">
            <a:avLst/>
          </a:prstGeom>
          <a:noFill/>
          <a:ln w="9525">
            <a:solidFill>
              <a:srgbClr val="2B3A55"/>
            </a:solidFill>
            <a:prstDash val="solid"/>
          </a:ln>
        </p:spPr>
      </p:sp>
      <p:sp>
        <p:nvSpPr>
          <p:cNvPr id="35" name="Text 33"/>
          <p:cNvSpPr/>
          <p:nvPr/>
        </p:nvSpPr>
        <p:spPr>
          <a:xfrm>
            <a:off x="3602736" y="3886200"/>
            <a:ext cx="2240280" cy="2148840"/>
          </a:xfrm>
          <a:prstGeom prst="rect">
            <a:avLst/>
          </a:prstGeom>
          <a:noFill/>
          <a:ln/>
        </p:spPr>
        <p:txBody>
          <a:bodyPr wrap="square" lIns="0" tIns="0" rIns="0" bIns="0" rtlCol="0" anchor="t"/>
          <a:lstStyle/>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01   Mystery airships (1896–97)</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02   Foo fighters of WWII</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03   Kenneth Arnold &amp; Roswell</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04   The nuclear correlation</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05   Origin hypotheses</a:t>
            </a:r>
            <a:endParaRPr lang="en-US" sz="1150" dirty="0"/>
          </a:p>
        </p:txBody>
      </p:sp>
      <p:sp>
        <p:nvSpPr>
          <p:cNvPr id="36" name="Shape 34"/>
          <p:cNvSpPr/>
          <p:nvPr/>
        </p:nvSpPr>
        <p:spPr>
          <a:xfrm>
            <a:off x="6181344" y="2240280"/>
            <a:ext cx="2606040" cy="3977640"/>
          </a:xfrm>
          <a:prstGeom prst="rect">
            <a:avLst/>
          </a:prstGeom>
          <a:solidFill>
            <a:srgbClr val="0F1624"/>
          </a:solidFill>
          <a:ln w="9525">
            <a:solidFill>
              <a:srgbClr val="2B3A55"/>
            </a:solidFill>
            <a:prstDash val="solid"/>
          </a:ln>
        </p:spPr>
      </p:sp>
      <p:sp>
        <p:nvSpPr>
          <p:cNvPr id="37" name="Shape 35"/>
          <p:cNvSpPr/>
          <p:nvPr/>
        </p:nvSpPr>
        <p:spPr>
          <a:xfrm>
            <a:off x="6181344" y="2240280"/>
            <a:ext cx="54864" cy="3977640"/>
          </a:xfrm>
          <a:prstGeom prst="rect">
            <a:avLst/>
          </a:prstGeom>
          <a:solidFill>
            <a:srgbClr val="5DD39E"/>
          </a:solidFill>
          <a:ln w="12700">
            <a:solidFill>
              <a:srgbClr val="5DD39E"/>
            </a:solidFill>
            <a:prstDash val="solid"/>
          </a:ln>
        </p:spPr>
      </p:sp>
      <p:sp>
        <p:nvSpPr>
          <p:cNvPr id="38" name="Text 36"/>
          <p:cNvSpPr/>
          <p:nvPr/>
        </p:nvSpPr>
        <p:spPr>
          <a:xfrm>
            <a:off x="6409944" y="2514600"/>
            <a:ext cx="2240280" cy="320040"/>
          </a:xfrm>
          <a:prstGeom prst="rect">
            <a:avLst/>
          </a:prstGeom>
          <a:noFill/>
          <a:ln/>
        </p:spPr>
        <p:txBody>
          <a:bodyPr wrap="square" lIns="0" tIns="0" rIns="0" bIns="0" rtlCol="0" anchor="ctr"/>
          <a:lstStyle/>
          <a:p>
            <a:pPr indent="0" marL="0">
              <a:buNone/>
            </a:pPr>
            <a:r>
              <a:rPr lang="en-US" sz="1050" b="1" spc="500" kern="0" dirty="0">
                <a:solidFill>
                  <a:srgbClr val="5DD39E"/>
                </a:solidFill>
                <a:latin typeface="Consolas" pitchFamily="34" charset="0"/>
                <a:ea typeface="Consolas" pitchFamily="34" charset="-122"/>
                <a:cs typeface="Consolas" pitchFamily="34" charset="-120"/>
              </a:rPr>
              <a:t>ACT III</a:t>
            </a:r>
            <a:endParaRPr lang="en-US" sz="1050" dirty="0"/>
          </a:p>
        </p:txBody>
      </p:sp>
      <p:sp>
        <p:nvSpPr>
          <p:cNvPr id="39" name="Text 37"/>
          <p:cNvSpPr/>
          <p:nvPr/>
        </p:nvSpPr>
        <p:spPr>
          <a:xfrm>
            <a:off x="6409944" y="2834640"/>
            <a:ext cx="2240280" cy="86868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THE EMPIRICAL LENS</a:t>
            </a:r>
            <a:endParaRPr lang="en-US" sz="1500" dirty="0"/>
          </a:p>
        </p:txBody>
      </p:sp>
      <p:sp>
        <p:nvSpPr>
          <p:cNvPr id="40" name="Shape 38"/>
          <p:cNvSpPr/>
          <p:nvPr/>
        </p:nvSpPr>
        <p:spPr>
          <a:xfrm>
            <a:off x="6409944" y="3721608"/>
            <a:ext cx="2148840" cy="0"/>
          </a:xfrm>
          <a:prstGeom prst="line">
            <a:avLst/>
          </a:prstGeom>
          <a:noFill/>
          <a:ln w="9525">
            <a:solidFill>
              <a:srgbClr val="2B3A55"/>
            </a:solidFill>
            <a:prstDash val="solid"/>
          </a:ln>
        </p:spPr>
      </p:sp>
      <p:sp>
        <p:nvSpPr>
          <p:cNvPr id="41" name="Text 39"/>
          <p:cNvSpPr/>
          <p:nvPr/>
        </p:nvSpPr>
        <p:spPr>
          <a:xfrm>
            <a:off x="6409944" y="3886200"/>
            <a:ext cx="2240280" cy="2148840"/>
          </a:xfrm>
          <a:prstGeom prst="rect">
            <a:avLst/>
          </a:prstGeom>
          <a:noFill/>
          <a:ln/>
        </p:spPr>
        <p:txBody>
          <a:bodyPr wrap="square" lIns="0" tIns="0" rIns="0" bIns="0" rtlCol="0" anchor="t"/>
          <a:lstStyle/>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01   Hard data &amp; credible observers</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02   The Nimitz encounter, 2004</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03   Mass sightings worldwide</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04   U.S. government studies</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05   The investigation matrix</a:t>
            </a:r>
            <a:endParaRPr lang="en-US" sz="1150" dirty="0"/>
          </a:p>
        </p:txBody>
      </p:sp>
      <p:sp>
        <p:nvSpPr>
          <p:cNvPr id="42" name="Shape 40"/>
          <p:cNvSpPr/>
          <p:nvPr/>
        </p:nvSpPr>
        <p:spPr>
          <a:xfrm>
            <a:off x="8988552" y="2240280"/>
            <a:ext cx="2606040" cy="3977640"/>
          </a:xfrm>
          <a:prstGeom prst="rect">
            <a:avLst/>
          </a:prstGeom>
          <a:solidFill>
            <a:srgbClr val="0F1624"/>
          </a:solidFill>
          <a:ln w="9525">
            <a:solidFill>
              <a:srgbClr val="2B3A55"/>
            </a:solidFill>
            <a:prstDash val="solid"/>
          </a:ln>
        </p:spPr>
      </p:sp>
      <p:sp>
        <p:nvSpPr>
          <p:cNvPr id="43" name="Shape 41"/>
          <p:cNvSpPr/>
          <p:nvPr/>
        </p:nvSpPr>
        <p:spPr>
          <a:xfrm>
            <a:off x="8988552" y="2240280"/>
            <a:ext cx="54864" cy="3977640"/>
          </a:xfrm>
          <a:prstGeom prst="rect">
            <a:avLst/>
          </a:prstGeom>
          <a:solidFill>
            <a:srgbClr val="E8434C"/>
          </a:solidFill>
          <a:ln w="12700">
            <a:solidFill>
              <a:srgbClr val="E8434C"/>
            </a:solidFill>
            <a:prstDash val="solid"/>
          </a:ln>
        </p:spPr>
      </p:sp>
      <p:sp>
        <p:nvSpPr>
          <p:cNvPr id="44" name="Text 42"/>
          <p:cNvSpPr/>
          <p:nvPr/>
        </p:nvSpPr>
        <p:spPr>
          <a:xfrm>
            <a:off x="9217152" y="2514600"/>
            <a:ext cx="2240280" cy="320040"/>
          </a:xfrm>
          <a:prstGeom prst="rect">
            <a:avLst/>
          </a:prstGeom>
          <a:noFill/>
          <a:ln/>
        </p:spPr>
        <p:txBody>
          <a:bodyPr wrap="square" lIns="0" tIns="0" rIns="0" bIns="0" rtlCol="0" anchor="ctr"/>
          <a:lstStyle/>
          <a:p>
            <a:pPr indent="0" marL="0">
              <a:buNone/>
            </a:pPr>
            <a:r>
              <a:rPr lang="en-US" sz="1050" b="1" spc="500" kern="0" dirty="0">
                <a:solidFill>
                  <a:srgbClr val="E8434C"/>
                </a:solidFill>
                <a:latin typeface="Consolas" pitchFamily="34" charset="0"/>
                <a:ea typeface="Consolas" pitchFamily="34" charset="-122"/>
                <a:cs typeface="Consolas" pitchFamily="34" charset="-120"/>
              </a:rPr>
              <a:t>ACT IV</a:t>
            </a:r>
            <a:endParaRPr lang="en-US" sz="1050" dirty="0"/>
          </a:p>
        </p:txBody>
      </p:sp>
      <p:sp>
        <p:nvSpPr>
          <p:cNvPr id="45" name="Text 43"/>
          <p:cNvSpPr/>
          <p:nvPr/>
        </p:nvSpPr>
        <p:spPr>
          <a:xfrm>
            <a:off x="9217152" y="2834640"/>
            <a:ext cx="2240280" cy="86868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THE DISCLOSURE ERA</a:t>
            </a:r>
            <a:endParaRPr lang="en-US" sz="1500" dirty="0"/>
          </a:p>
        </p:txBody>
      </p:sp>
      <p:sp>
        <p:nvSpPr>
          <p:cNvPr id="46" name="Shape 44"/>
          <p:cNvSpPr/>
          <p:nvPr/>
        </p:nvSpPr>
        <p:spPr>
          <a:xfrm>
            <a:off x="9217152" y="3721608"/>
            <a:ext cx="2148840" cy="0"/>
          </a:xfrm>
          <a:prstGeom prst="line">
            <a:avLst/>
          </a:prstGeom>
          <a:noFill/>
          <a:ln w="9525">
            <a:solidFill>
              <a:srgbClr val="2B3A55"/>
            </a:solidFill>
            <a:prstDash val="solid"/>
          </a:ln>
        </p:spPr>
      </p:sp>
      <p:sp>
        <p:nvSpPr>
          <p:cNvPr id="47" name="Text 45"/>
          <p:cNvSpPr/>
          <p:nvPr/>
        </p:nvSpPr>
        <p:spPr>
          <a:xfrm>
            <a:off x="9217152" y="3886200"/>
            <a:ext cx="2240280" cy="2148840"/>
          </a:xfrm>
          <a:prstGeom prst="rect">
            <a:avLst/>
          </a:prstGeom>
          <a:noFill/>
          <a:ln/>
        </p:spPr>
        <p:txBody>
          <a:bodyPr wrap="square" lIns="0" tIns="0" rIns="0" bIns="0" rtlCol="0" anchor="t"/>
          <a:lstStyle/>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01   The 2017 NYT revelation</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02   Pilot testimony &amp; the Tic Tac</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03   ODNI &amp; AARO investigations</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04   The Grusch hearings, 2023</a:t>
            </a:r>
            <a:endParaRPr lang="en-US" sz="1150" dirty="0"/>
          </a:p>
          <a:p>
            <a:pPr indent="0" marL="0">
              <a:spcAft>
                <a:spcPts val="800"/>
              </a:spcAft>
              <a:buNone/>
            </a:pPr>
            <a:r>
              <a:rPr lang="en-US" sz="1150" dirty="0">
                <a:solidFill>
                  <a:srgbClr val="ECF1F8"/>
                </a:solidFill>
                <a:latin typeface="Calibri" pitchFamily="34" charset="0"/>
                <a:ea typeface="Calibri" pitchFamily="34" charset="-122"/>
                <a:cs typeface="Calibri" pitchFamily="34" charset="-120"/>
              </a:rPr>
              <a:t>05   The public record today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201168" y="201168"/>
            <a:ext cx="201168" cy="25603"/>
          </a:xfrm>
          <a:prstGeom prst="rect">
            <a:avLst/>
          </a:prstGeom>
          <a:solidFill>
            <a:srgbClr val="38D9F0"/>
          </a:solidFill>
          <a:ln w="12700">
            <a:solidFill>
              <a:srgbClr val="38D9F0"/>
            </a:solidFill>
            <a:prstDash val="solid"/>
          </a:ln>
        </p:spPr>
      </p:sp>
      <p:sp>
        <p:nvSpPr>
          <p:cNvPr id="3" name="Shape 1"/>
          <p:cNvSpPr/>
          <p:nvPr/>
        </p:nvSpPr>
        <p:spPr>
          <a:xfrm>
            <a:off x="201168" y="201168"/>
            <a:ext cx="25603" cy="201168"/>
          </a:xfrm>
          <a:prstGeom prst="rect">
            <a:avLst/>
          </a:prstGeom>
          <a:solidFill>
            <a:srgbClr val="38D9F0"/>
          </a:solidFill>
          <a:ln w="12700">
            <a:solidFill>
              <a:srgbClr val="38D9F0"/>
            </a:solidFill>
            <a:prstDash val="solid"/>
          </a:ln>
        </p:spPr>
      </p:sp>
      <p:sp>
        <p:nvSpPr>
          <p:cNvPr id="4" name="Shape 2"/>
          <p:cNvSpPr/>
          <p:nvPr/>
        </p:nvSpPr>
        <p:spPr>
          <a:xfrm>
            <a:off x="11759184" y="201168"/>
            <a:ext cx="201168" cy="25603"/>
          </a:xfrm>
          <a:prstGeom prst="rect">
            <a:avLst/>
          </a:prstGeom>
          <a:solidFill>
            <a:srgbClr val="38D9F0"/>
          </a:solidFill>
          <a:ln w="12700">
            <a:solidFill>
              <a:srgbClr val="38D9F0"/>
            </a:solidFill>
            <a:prstDash val="solid"/>
          </a:ln>
        </p:spPr>
      </p:sp>
      <p:sp>
        <p:nvSpPr>
          <p:cNvPr id="5" name="Shape 3"/>
          <p:cNvSpPr/>
          <p:nvPr/>
        </p:nvSpPr>
        <p:spPr>
          <a:xfrm>
            <a:off x="11934749" y="201168"/>
            <a:ext cx="25603" cy="201168"/>
          </a:xfrm>
          <a:prstGeom prst="rect">
            <a:avLst/>
          </a:prstGeom>
          <a:solidFill>
            <a:srgbClr val="38D9F0"/>
          </a:solidFill>
          <a:ln w="12700">
            <a:solidFill>
              <a:srgbClr val="38D9F0"/>
            </a:solidFill>
            <a:prstDash val="solid"/>
          </a:ln>
        </p:spPr>
      </p:sp>
      <p:sp>
        <p:nvSpPr>
          <p:cNvPr id="6" name="Shape 4"/>
          <p:cNvSpPr/>
          <p:nvPr/>
        </p:nvSpPr>
        <p:spPr>
          <a:xfrm>
            <a:off x="201168" y="6631229"/>
            <a:ext cx="201168" cy="25603"/>
          </a:xfrm>
          <a:prstGeom prst="rect">
            <a:avLst/>
          </a:prstGeom>
          <a:solidFill>
            <a:srgbClr val="38D9F0"/>
          </a:solidFill>
          <a:ln w="12700">
            <a:solidFill>
              <a:srgbClr val="38D9F0"/>
            </a:solidFill>
            <a:prstDash val="solid"/>
          </a:ln>
        </p:spPr>
      </p:sp>
      <p:sp>
        <p:nvSpPr>
          <p:cNvPr id="7" name="Shape 5"/>
          <p:cNvSpPr/>
          <p:nvPr/>
        </p:nvSpPr>
        <p:spPr>
          <a:xfrm>
            <a:off x="201168" y="6455664"/>
            <a:ext cx="25603" cy="201168"/>
          </a:xfrm>
          <a:prstGeom prst="rect">
            <a:avLst/>
          </a:prstGeom>
          <a:solidFill>
            <a:srgbClr val="38D9F0"/>
          </a:solidFill>
          <a:ln w="12700">
            <a:solidFill>
              <a:srgbClr val="38D9F0"/>
            </a:solidFill>
            <a:prstDash val="solid"/>
          </a:ln>
        </p:spPr>
      </p:sp>
      <p:sp>
        <p:nvSpPr>
          <p:cNvPr id="8" name="Shape 6"/>
          <p:cNvSpPr/>
          <p:nvPr/>
        </p:nvSpPr>
        <p:spPr>
          <a:xfrm>
            <a:off x="11759184" y="6631229"/>
            <a:ext cx="201168" cy="25603"/>
          </a:xfrm>
          <a:prstGeom prst="rect">
            <a:avLst/>
          </a:prstGeom>
          <a:solidFill>
            <a:srgbClr val="38D9F0"/>
          </a:solidFill>
          <a:ln w="12700">
            <a:solidFill>
              <a:srgbClr val="38D9F0"/>
            </a:solidFill>
            <a:prstDash val="solid"/>
          </a:ln>
        </p:spPr>
      </p:sp>
      <p:sp>
        <p:nvSpPr>
          <p:cNvPr id="9" name="Shape 7"/>
          <p:cNvSpPr/>
          <p:nvPr/>
        </p:nvSpPr>
        <p:spPr>
          <a:xfrm>
            <a:off x="11934749" y="6455664"/>
            <a:ext cx="25603" cy="201168"/>
          </a:xfrm>
          <a:prstGeom prst="rect">
            <a:avLst/>
          </a:prstGeom>
          <a:solidFill>
            <a:srgbClr val="38D9F0"/>
          </a:solidFill>
          <a:ln w="12700">
            <a:solidFill>
              <a:srgbClr val="38D9F0"/>
            </a:solidFill>
            <a:prstDash val="solid"/>
          </a:ln>
        </p:spPr>
      </p:sp>
      <p:sp>
        <p:nvSpPr>
          <p:cNvPr id="10" name="Text 8"/>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DOC-003  //  UAP ARCHIVE  //  VOL. I</a:t>
            </a:r>
            <a:endParaRPr lang="en-US" sz="900" dirty="0"/>
          </a:p>
        </p:txBody>
      </p:sp>
      <p:sp>
        <p:nvSpPr>
          <p:cNvPr id="11" name="Text 9"/>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SECTION MARKER</a:t>
            </a:r>
            <a:endParaRPr lang="en-US" sz="900" dirty="0"/>
          </a:p>
        </p:txBody>
      </p:sp>
      <p:sp>
        <p:nvSpPr>
          <p:cNvPr id="12" name="Text 10"/>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THE CULTURAL LENS</a:t>
            </a:r>
            <a:endParaRPr lang="en-US" sz="850" dirty="0"/>
          </a:p>
        </p:txBody>
      </p:sp>
      <p:sp>
        <p:nvSpPr>
          <p:cNvPr id="13" name="Text 11"/>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03 / 40</a:t>
            </a:r>
            <a:endParaRPr lang="en-US" sz="850" dirty="0"/>
          </a:p>
        </p:txBody>
      </p:sp>
      <p:sp>
        <p:nvSpPr>
          <p:cNvPr id="14" name="Text 12"/>
          <p:cNvSpPr/>
          <p:nvPr/>
        </p:nvSpPr>
        <p:spPr>
          <a:xfrm>
            <a:off x="7589520" y="1920240"/>
            <a:ext cx="4206240" cy="3291840"/>
          </a:xfrm>
          <a:prstGeom prst="rect">
            <a:avLst/>
          </a:prstGeom>
          <a:noFill/>
          <a:ln/>
        </p:spPr>
        <p:txBody>
          <a:bodyPr wrap="square" lIns="0" tIns="0" rIns="0" bIns="0" rtlCol="0" anchor="ctr"/>
          <a:lstStyle/>
          <a:p>
            <a:pPr algn="r" indent="0" marL="0">
              <a:buNone/>
            </a:pPr>
            <a:r>
              <a:rPr lang="en-US" sz="22000" dirty="0">
                <a:solidFill>
                  <a:srgbClr val="0F1624"/>
                </a:solidFill>
                <a:latin typeface="Arial Black" pitchFamily="34" charset="0"/>
                <a:ea typeface="Arial Black" pitchFamily="34" charset="-122"/>
                <a:cs typeface="Arial Black" pitchFamily="34" charset="-120"/>
              </a:rPr>
              <a:t>01</a:t>
            </a:r>
            <a:endParaRPr lang="en-US" sz="22000" dirty="0"/>
          </a:p>
        </p:txBody>
      </p:sp>
      <p:sp>
        <p:nvSpPr>
          <p:cNvPr id="15" name="Shape 13"/>
          <p:cNvSpPr/>
          <p:nvPr/>
        </p:nvSpPr>
        <p:spPr>
          <a:xfrm>
            <a:off x="7589520" y="2103120"/>
            <a:ext cx="4069080" cy="2971800"/>
          </a:xfrm>
          <a:prstGeom prst="rect">
            <a:avLst/>
          </a:prstGeom>
          <a:solidFill>
            <a:srgbClr val="070B14">
              <a:alpha val="0"/>
            </a:srgbClr>
          </a:solidFill>
          <a:ln w="6350">
            <a:solidFill>
              <a:srgbClr val="1C2840"/>
            </a:solidFill>
            <a:prstDash val="solid"/>
          </a:ln>
        </p:spPr>
      </p:sp>
      <p:sp>
        <p:nvSpPr>
          <p:cNvPr id="16" name="Text 14"/>
          <p:cNvSpPr/>
          <p:nvPr/>
        </p:nvSpPr>
        <p:spPr>
          <a:xfrm>
            <a:off x="7589520" y="5166360"/>
            <a:ext cx="4069080" cy="274320"/>
          </a:xfrm>
          <a:prstGeom prst="rect">
            <a:avLst/>
          </a:prstGeom>
          <a:noFill/>
          <a:ln/>
        </p:spPr>
        <p:txBody>
          <a:bodyPr wrap="square" lIns="0" tIns="0" rIns="0" bIns="0" rtlCol="0" anchor="ctr"/>
          <a:lstStyle/>
          <a:p>
            <a:pPr algn="r" indent="0" marL="0">
              <a:buNone/>
            </a:pPr>
            <a:r>
              <a:rPr lang="en-US" sz="1000" b="1" spc="400" kern="0" dirty="0">
                <a:solidFill>
                  <a:srgbClr val="F5B024"/>
                </a:solidFill>
                <a:latin typeface="Consolas" pitchFamily="34" charset="0"/>
                <a:ea typeface="Consolas" pitchFamily="34" charset="-122"/>
                <a:cs typeface="Consolas" pitchFamily="34" charset="-120"/>
              </a:rPr>
              <a:t>SECTION 01  //  ACT I</a:t>
            </a:r>
            <a:endParaRPr lang="en-US" sz="1000" dirty="0"/>
          </a:p>
        </p:txBody>
      </p:sp>
      <p:sp>
        <p:nvSpPr>
          <p:cNvPr id="17" name="Shape 15"/>
          <p:cNvSpPr/>
          <p:nvPr/>
        </p:nvSpPr>
        <p:spPr>
          <a:xfrm>
            <a:off x="777240" y="2560320"/>
            <a:ext cx="73152" cy="2103120"/>
          </a:xfrm>
          <a:prstGeom prst="rect">
            <a:avLst/>
          </a:prstGeom>
          <a:solidFill>
            <a:srgbClr val="F5B024"/>
          </a:solidFill>
          <a:ln w="12700">
            <a:solidFill>
              <a:srgbClr val="F5B024"/>
            </a:solidFill>
            <a:prstDash val="solid"/>
          </a:ln>
        </p:spPr>
      </p:sp>
      <p:sp>
        <p:nvSpPr>
          <p:cNvPr id="18" name="Text 16"/>
          <p:cNvSpPr/>
          <p:nvPr/>
        </p:nvSpPr>
        <p:spPr>
          <a:xfrm>
            <a:off x="1051560" y="2514600"/>
            <a:ext cx="6217920" cy="365760"/>
          </a:xfrm>
          <a:prstGeom prst="rect">
            <a:avLst/>
          </a:prstGeom>
          <a:noFill/>
          <a:ln/>
        </p:spPr>
        <p:txBody>
          <a:bodyPr wrap="square" lIns="0" tIns="0" rIns="0" bIns="0" rtlCol="0" anchor="ctr"/>
          <a:lstStyle/>
          <a:p>
            <a:pPr indent="0" marL="0">
              <a:buNone/>
            </a:pPr>
            <a:r>
              <a:rPr lang="en-US" sz="1300" b="1" spc="700" kern="0" dirty="0">
                <a:solidFill>
                  <a:srgbClr val="F5B024"/>
                </a:solidFill>
                <a:latin typeface="Consolas" pitchFamily="34" charset="0"/>
                <a:ea typeface="Consolas" pitchFamily="34" charset="-122"/>
                <a:cs typeface="Consolas" pitchFamily="34" charset="-120"/>
              </a:rPr>
              <a:t>ACT I</a:t>
            </a:r>
            <a:endParaRPr lang="en-US" sz="1300" dirty="0"/>
          </a:p>
        </p:txBody>
      </p:sp>
      <p:sp>
        <p:nvSpPr>
          <p:cNvPr id="19" name="Text 17"/>
          <p:cNvSpPr/>
          <p:nvPr/>
        </p:nvSpPr>
        <p:spPr>
          <a:xfrm>
            <a:off x="1051560" y="2880360"/>
            <a:ext cx="6492240" cy="1097280"/>
          </a:xfrm>
          <a:prstGeom prst="rect">
            <a:avLst/>
          </a:prstGeom>
          <a:noFill/>
          <a:ln/>
        </p:spPr>
        <p:txBody>
          <a:bodyPr wrap="square" lIns="0" tIns="0" rIns="0" bIns="0" rtlCol="0" anchor="ctr"/>
          <a:lstStyle/>
          <a:p>
            <a:pPr indent="0" marL="0">
              <a:buNone/>
            </a:pPr>
            <a:r>
              <a:rPr lang="en-US" sz="4200" dirty="0">
                <a:solidFill>
                  <a:srgbClr val="ECF1F8"/>
                </a:solidFill>
                <a:latin typeface="Arial Black" pitchFamily="34" charset="0"/>
                <a:ea typeface="Arial Black" pitchFamily="34" charset="-122"/>
                <a:cs typeface="Arial Black" pitchFamily="34" charset="-120"/>
              </a:rPr>
              <a:t>The Cultural Lens</a:t>
            </a:r>
            <a:endParaRPr lang="en-US" sz="4200" dirty="0"/>
          </a:p>
        </p:txBody>
      </p:sp>
      <p:sp>
        <p:nvSpPr>
          <p:cNvPr id="20" name="Text 18"/>
          <p:cNvSpPr/>
          <p:nvPr/>
        </p:nvSpPr>
        <p:spPr>
          <a:xfrm>
            <a:off x="1051560" y="4114800"/>
            <a:ext cx="6400800" cy="1188720"/>
          </a:xfrm>
          <a:prstGeom prst="rect">
            <a:avLst/>
          </a:prstGeom>
          <a:noFill/>
          <a:ln/>
        </p:spPr>
        <p:txBody>
          <a:bodyPr wrap="square" lIns="0" tIns="0" rIns="0" bIns="0" rtlCol="0" anchor="ctr"/>
          <a:lstStyle/>
          <a:p>
            <a:pPr indent="0" marL="0">
              <a:buNone/>
            </a:pPr>
            <a:r>
              <a:rPr lang="en-US" sz="1600" i="1" dirty="0">
                <a:solidFill>
                  <a:srgbClr val="8A97AD"/>
                </a:solidFill>
                <a:latin typeface="Calibri" pitchFamily="34" charset="0"/>
                <a:ea typeface="Calibri" pitchFamily="34" charset="-122"/>
                <a:cs typeface="Calibri" pitchFamily="34" charset="-120"/>
              </a:rPr>
              <a:t>Antiquity through the Renaissance — humanity explains the unknown through gods, magic, and myth.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DOC-004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HISTORICAL</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ANCIENT ACCOUNTS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04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01</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Ancient Accounts  ·  218 BC — 1561 AD</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438912" y="2240280"/>
            <a:ext cx="2697480" cy="3931920"/>
          </a:xfrm>
          <a:prstGeom prst="rect">
            <a:avLst/>
          </a:prstGeom>
          <a:solidFill>
            <a:srgbClr val="0F1624"/>
          </a:solidFill>
          <a:ln w="9525">
            <a:solidFill>
              <a:srgbClr val="2B3A55"/>
            </a:solidFill>
            <a:prstDash val="solid"/>
          </a:ln>
        </p:spPr>
      </p:sp>
      <p:sp>
        <p:nvSpPr>
          <p:cNvPr id="25" name="Shape 23"/>
          <p:cNvSpPr/>
          <p:nvPr/>
        </p:nvSpPr>
        <p:spPr>
          <a:xfrm>
            <a:off x="438912" y="2240280"/>
            <a:ext cx="54864" cy="3931920"/>
          </a:xfrm>
          <a:prstGeom prst="rect">
            <a:avLst/>
          </a:prstGeom>
          <a:solidFill>
            <a:srgbClr val="F5B024"/>
          </a:solidFill>
          <a:ln w="12700">
            <a:solidFill>
              <a:srgbClr val="F5B024"/>
            </a:solidFill>
            <a:prstDash val="solid"/>
          </a:ln>
        </p:spPr>
      </p:sp>
      <p:sp>
        <p:nvSpPr>
          <p:cNvPr id="26" name="Text 24"/>
          <p:cNvSpPr/>
          <p:nvPr/>
        </p:nvSpPr>
        <p:spPr>
          <a:xfrm>
            <a:off x="667512" y="2514600"/>
            <a:ext cx="2331720" cy="502920"/>
          </a:xfrm>
          <a:prstGeom prst="rect">
            <a:avLst/>
          </a:prstGeom>
          <a:noFill/>
          <a:ln/>
        </p:spPr>
        <p:txBody>
          <a:bodyPr wrap="square" lIns="0" tIns="0" rIns="0" bIns="0" rtlCol="0" anchor="ctr"/>
          <a:lstStyle/>
          <a:p>
            <a:pPr indent="0" marL="0">
              <a:buNone/>
            </a:pPr>
            <a:r>
              <a:rPr lang="en-US" sz="2600" dirty="0">
                <a:solidFill>
                  <a:srgbClr val="F5B024"/>
                </a:solidFill>
                <a:latin typeface="Arial Black" pitchFamily="34" charset="0"/>
                <a:ea typeface="Arial Black" pitchFamily="34" charset="-122"/>
                <a:cs typeface="Arial Black" pitchFamily="34" charset="-120"/>
              </a:rPr>
              <a:t>218 BC</a:t>
            </a:r>
            <a:endParaRPr lang="en-US" sz="2600" dirty="0"/>
          </a:p>
        </p:txBody>
      </p:sp>
      <p:sp>
        <p:nvSpPr>
          <p:cNvPr id="27" name="Text 25"/>
          <p:cNvSpPr/>
          <p:nvPr/>
        </p:nvSpPr>
        <p:spPr>
          <a:xfrm>
            <a:off x="667512" y="3063240"/>
            <a:ext cx="2331720" cy="274320"/>
          </a:xfrm>
          <a:prstGeom prst="rect">
            <a:avLst/>
          </a:prstGeom>
          <a:noFill/>
          <a:ln/>
        </p:spPr>
        <p:txBody>
          <a:bodyPr wrap="square" lIns="0" tIns="0" rIns="0" bIns="0" rtlCol="0" anchor="ctr"/>
          <a:lstStyle/>
          <a:p>
            <a:pPr indent="0" marL="0">
              <a:buNone/>
            </a:pPr>
            <a:r>
              <a:rPr lang="en-US" sz="1000" b="1" spc="500" kern="0" dirty="0">
                <a:solidFill>
                  <a:srgbClr val="8A97AD"/>
                </a:solidFill>
                <a:latin typeface="Consolas" pitchFamily="34" charset="0"/>
                <a:ea typeface="Consolas" pitchFamily="34" charset="-122"/>
                <a:cs typeface="Consolas" pitchFamily="34" charset="-120"/>
              </a:rPr>
              <a:t>ROME</a:t>
            </a:r>
            <a:endParaRPr lang="en-US" sz="1000" dirty="0"/>
          </a:p>
        </p:txBody>
      </p:sp>
      <p:sp>
        <p:nvSpPr>
          <p:cNvPr id="28" name="Shape 26"/>
          <p:cNvSpPr/>
          <p:nvPr/>
        </p:nvSpPr>
        <p:spPr>
          <a:xfrm>
            <a:off x="667512" y="3383280"/>
            <a:ext cx="457200" cy="0"/>
          </a:xfrm>
          <a:prstGeom prst="line">
            <a:avLst/>
          </a:prstGeom>
          <a:noFill/>
          <a:ln w="12700">
            <a:solidFill>
              <a:srgbClr val="2B3A55"/>
            </a:solidFill>
            <a:prstDash val="solid"/>
          </a:ln>
        </p:spPr>
      </p:sp>
      <p:sp>
        <p:nvSpPr>
          <p:cNvPr id="29" name="Text 27"/>
          <p:cNvSpPr/>
          <p:nvPr/>
        </p:nvSpPr>
        <p:spPr>
          <a:xfrm>
            <a:off x="667512" y="3520440"/>
            <a:ext cx="2331720" cy="54864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Ships in the Sky</a:t>
            </a:r>
            <a:endParaRPr lang="en-US" sz="1600" dirty="0"/>
          </a:p>
        </p:txBody>
      </p:sp>
      <p:sp>
        <p:nvSpPr>
          <p:cNvPr id="30" name="Text 28"/>
          <p:cNvSpPr/>
          <p:nvPr/>
        </p:nvSpPr>
        <p:spPr>
          <a:xfrm>
            <a:off x="667512" y="4160520"/>
            <a:ext cx="2331720" cy="1874520"/>
          </a:xfrm>
          <a:prstGeom prst="rect">
            <a:avLst/>
          </a:prstGeom>
          <a:noFill/>
          <a:ln/>
        </p:spPr>
        <p:txBody>
          <a:bodyPr wrap="square" lIns="0" tIns="0" rIns="0" bIns="0" rtlCol="0" anchor="t"/>
          <a:lstStyle/>
          <a:p>
            <a:pPr indent="0" marL="0">
              <a:spcAft>
                <a:spcPts val="400"/>
              </a:spcAft>
              <a:buNone/>
            </a:pPr>
            <a:r>
              <a:rPr lang="en-US" sz="1200" dirty="0">
                <a:solidFill>
                  <a:srgbClr val="ECF1F8"/>
                </a:solidFill>
                <a:latin typeface="Calibri" pitchFamily="34" charset="0"/>
                <a:ea typeface="Calibri" pitchFamily="34" charset="-122"/>
                <a:cs typeface="Calibri" pitchFamily="34" charset="-120"/>
              </a:rPr>
              <a:t>During the Second Punic War, observers reported ships gleaming in the sky, emerging from the clouds. Documented in Rome's Annales maximi.</a:t>
            </a:r>
            <a:endParaRPr lang="en-US" sz="1200" dirty="0"/>
          </a:p>
        </p:txBody>
      </p:sp>
      <p:sp>
        <p:nvSpPr>
          <p:cNvPr id="31" name="Shape 29"/>
          <p:cNvSpPr/>
          <p:nvPr/>
        </p:nvSpPr>
        <p:spPr>
          <a:xfrm>
            <a:off x="3300984" y="2240280"/>
            <a:ext cx="2697480" cy="3931920"/>
          </a:xfrm>
          <a:prstGeom prst="rect">
            <a:avLst/>
          </a:prstGeom>
          <a:solidFill>
            <a:srgbClr val="0F1624"/>
          </a:solidFill>
          <a:ln w="9525">
            <a:solidFill>
              <a:srgbClr val="2B3A55"/>
            </a:solidFill>
            <a:prstDash val="solid"/>
          </a:ln>
        </p:spPr>
      </p:sp>
      <p:sp>
        <p:nvSpPr>
          <p:cNvPr id="32" name="Shape 30"/>
          <p:cNvSpPr/>
          <p:nvPr/>
        </p:nvSpPr>
        <p:spPr>
          <a:xfrm>
            <a:off x="3300984" y="2240280"/>
            <a:ext cx="54864" cy="3931920"/>
          </a:xfrm>
          <a:prstGeom prst="rect">
            <a:avLst/>
          </a:prstGeom>
          <a:solidFill>
            <a:srgbClr val="F5B024"/>
          </a:solidFill>
          <a:ln w="12700">
            <a:solidFill>
              <a:srgbClr val="F5B024"/>
            </a:solidFill>
            <a:prstDash val="solid"/>
          </a:ln>
        </p:spPr>
      </p:sp>
      <p:sp>
        <p:nvSpPr>
          <p:cNvPr id="33" name="Text 31"/>
          <p:cNvSpPr/>
          <p:nvPr/>
        </p:nvSpPr>
        <p:spPr>
          <a:xfrm>
            <a:off x="3529584" y="2514600"/>
            <a:ext cx="2331720" cy="502920"/>
          </a:xfrm>
          <a:prstGeom prst="rect">
            <a:avLst/>
          </a:prstGeom>
          <a:noFill/>
          <a:ln/>
        </p:spPr>
        <p:txBody>
          <a:bodyPr wrap="square" lIns="0" tIns="0" rIns="0" bIns="0" rtlCol="0" anchor="ctr"/>
          <a:lstStyle/>
          <a:p>
            <a:pPr indent="0" marL="0">
              <a:buNone/>
            </a:pPr>
            <a:r>
              <a:rPr lang="en-US" sz="2600" dirty="0">
                <a:solidFill>
                  <a:srgbClr val="F5B024"/>
                </a:solidFill>
                <a:latin typeface="Arial Black" pitchFamily="34" charset="0"/>
                <a:ea typeface="Arial Black" pitchFamily="34" charset="-122"/>
                <a:cs typeface="Arial Black" pitchFamily="34" charset="-120"/>
              </a:rPr>
              <a:t>9th C.</a:t>
            </a:r>
            <a:endParaRPr lang="en-US" sz="2600" dirty="0"/>
          </a:p>
        </p:txBody>
      </p:sp>
      <p:sp>
        <p:nvSpPr>
          <p:cNvPr id="34" name="Text 32"/>
          <p:cNvSpPr/>
          <p:nvPr/>
        </p:nvSpPr>
        <p:spPr>
          <a:xfrm>
            <a:off x="3529584" y="3063240"/>
            <a:ext cx="2331720" cy="274320"/>
          </a:xfrm>
          <a:prstGeom prst="rect">
            <a:avLst/>
          </a:prstGeom>
          <a:noFill/>
          <a:ln/>
        </p:spPr>
        <p:txBody>
          <a:bodyPr wrap="square" lIns="0" tIns="0" rIns="0" bIns="0" rtlCol="0" anchor="ctr"/>
          <a:lstStyle/>
          <a:p>
            <a:pPr indent="0" marL="0">
              <a:buNone/>
            </a:pPr>
            <a:r>
              <a:rPr lang="en-US" sz="1000" b="1" spc="500" kern="0" dirty="0">
                <a:solidFill>
                  <a:srgbClr val="8A97AD"/>
                </a:solidFill>
                <a:latin typeface="Consolas" pitchFamily="34" charset="0"/>
                <a:ea typeface="Consolas" pitchFamily="34" charset="-122"/>
                <a:cs typeface="Consolas" pitchFamily="34" charset="-120"/>
              </a:rPr>
              <a:t>FRANCE</a:t>
            </a:r>
            <a:endParaRPr lang="en-US" sz="1000" dirty="0"/>
          </a:p>
        </p:txBody>
      </p:sp>
      <p:sp>
        <p:nvSpPr>
          <p:cNvPr id="35" name="Shape 33"/>
          <p:cNvSpPr/>
          <p:nvPr/>
        </p:nvSpPr>
        <p:spPr>
          <a:xfrm>
            <a:off x="3529584" y="3383280"/>
            <a:ext cx="457200" cy="0"/>
          </a:xfrm>
          <a:prstGeom prst="line">
            <a:avLst/>
          </a:prstGeom>
          <a:noFill/>
          <a:ln w="12700">
            <a:solidFill>
              <a:srgbClr val="2B3A55"/>
            </a:solidFill>
            <a:prstDash val="solid"/>
          </a:ln>
        </p:spPr>
      </p:sp>
      <p:sp>
        <p:nvSpPr>
          <p:cNvPr id="36" name="Text 34"/>
          <p:cNvSpPr/>
          <p:nvPr/>
        </p:nvSpPr>
        <p:spPr>
          <a:xfrm>
            <a:off x="3529584" y="3520440"/>
            <a:ext cx="2331720" cy="54864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Magonia</a:t>
            </a:r>
            <a:endParaRPr lang="en-US" sz="1600" dirty="0"/>
          </a:p>
        </p:txBody>
      </p:sp>
      <p:sp>
        <p:nvSpPr>
          <p:cNvPr id="37" name="Text 35"/>
          <p:cNvSpPr/>
          <p:nvPr/>
        </p:nvSpPr>
        <p:spPr>
          <a:xfrm>
            <a:off x="3529584" y="4160520"/>
            <a:ext cx="2331720" cy="1874520"/>
          </a:xfrm>
          <a:prstGeom prst="rect">
            <a:avLst/>
          </a:prstGeom>
          <a:noFill/>
          <a:ln/>
        </p:spPr>
        <p:txBody>
          <a:bodyPr wrap="square" lIns="0" tIns="0" rIns="0" bIns="0" rtlCol="0" anchor="t"/>
          <a:lstStyle/>
          <a:p>
            <a:pPr indent="0" marL="0">
              <a:spcAft>
                <a:spcPts val="400"/>
              </a:spcAft>
              <a:buNone/>
            </a:pPr>
            <a:r>
              <a:rPr lang="en-US" sz="1200" dirty="0">
                <a:solidFill>
                  <a:srgbClr val="ECF1F8"/>
                </a:solidFill>
                <a:latin typeface="Calibri" pitchFamily="34" charset="0"/>
                <a:ea typeface="Calibri" pitchFamily="34" charset="-122"/>
                <a:cs typeface="Calibri" pitchFamily="34" charset="-120"/>
              </a:rPr>
              <a:t>Agobard, Archbishop of Lyons, described a region called Magonia from which cloud-ships were said to descend to collect crops destroyed by hail.</a:t>
            </a:r>
            <a:endParaRPr lang="en-US" sz="1200" dirty="0"/>
          </a:p>
        </p:txBody>
      </p:sp>
      <p:sp>
        <p:nvSpPr>
          <p:cNvPr id="38" name="Shape 36"/>
          <p:cNvSpPr/>
          <p:nvPr/>
        </p:nvSpPr>
        <p:spPr>
          <a:xfrm>
            <a:off x="6163056" y="2240280"/>
            <a:ext cx="2697480" cy="3931920"/>
          </a:xfrm>
          <a:prstGeom prst="rect">
            <a:avLst/>
          </a:prstGeom>
          <a:solidFill>
            <a:srgbClr val="0F1624"/>
          </a:solidFill>
          <a:ln w="9525">
            <a:solidFill>
              <a:srgbClr val="2B3A55"/>
            </a:solidFill>
            <a:prstDash val="solid"/>
          </a:ln>
        </p:spPr>
      </p:sp>
      <p:sp>
        <p:nvSpPr>
          <p:cNvPr id="39" name="Shape 37"/>
          <p:cNvSpPr/>
          <p:nvPr/>
        </p:nvSpPr>
        <p:spPr>
          <a:xfrm>
            <a:off x="6163056" y="2240280"/>
            <a:ext cx="54864" cy="3931920"/>
          </a:xfrm>
          <a:prstGeom prst="rect">
            <a:avLst/>
          </a:prstGeom>
          <a:solidFill>
            <a:srgbClr val="F5B024"/>
          </a:solidFill>
          <a:ln w="12700">
            <a:solidFill>
              <a:srgbClr val="F5B024"/>
            </a:solidFill>
            <a:prstDash val="solid"/>
          </a:ln>
        </p:spPr>
      </p:sp>
      <p:sp>
        <p:nvSpPr>
          <p:cNvPr id="40" name="Text 38"/>
          <p:cNvSpPr/>
          <p:nvPr/>
        </p:nvSpPr>
        <p:spPr>
          <a:xfrm>
            <a:off x="6391656" y="2514600"/>
            <a:ext cx="2331720" cy="502920"/>
          </a:xfrm>
          <a:prstGeom prst="rect">
            <a:avLst/>
          </a:prstGeom>
          <a:noFill/>
          <a:ln/>
        </p:spPr>
        <p:txBody>
          <a:bodyPr wrap="square" lIns="0" tIns="0" rIns="0" bIns="0" rtlCol="0" anchor="ctr"/>
          <a:lstStyle/>
          <a:p>
            <a:pPr indent="0" marL="0">
              <a:buNone/>
            </a:pPr>
            <a:r>
              <a:rPr lang="en-US" sz="2600" dirty="0">
                <a:solidFill>
                  <a:srgbClr val="F5B024"/>
                </a:solidFill>
                <a:latin typeface="Arial Black" pitchFamily="34" charset="0"/>
                <a:ea typeface="Arial Black" pitchFamily="34" charset="-122"/>
                <a:cs typeface="Arial Black" pitchFamily="34" charset="-120"/>
              </a:rPr>
              <a:t>1211 AD</a:t>
            </a:r>
            <a:endParaRPr lang="en-US" sz="2600" dirty="0"/>
          </a:p>
        </p:txBody>
      </p:sp>
      <p:sp>
        <p:nvSpPr>
          <p:cNvPr id="41" name="Text 39"/>
          <p:cNvSpPr/>
          <p:nvPr/>
        </p:nvSpPr>
        <p:spPr>
          <a:xfrm>
            <a:off x="6391656" y="3063240"/>
            <a:ext cx="2331720" cy="274320"/>
          </a:xfrm>
          <a:prstGeom prst="rect">
            <a:avLst/>
          </a:prstGeom>
          <a:noFill/>
          <a:ln/>
        </p:spPr>
        <p:txBody>
          <a:bodyPr wrap="square" lIns="0" tIns="0" rIns="0" bIns="0" rtlCol="0" anchor="ctr"/>
          <a:lstStyle/>
          <a:p>
            <a:pPr indent="0" marL="0">
              <a:buNone/>
            </a:pPr>
            <a:r>
              <a:rPr lang="en-US" sz="1000" b="1" spc="500" kern="0" dirty="0">
                <a:solidFill>
                  <a:srgbClr val="8A97AD"/>
                </a:solidFill>
                <a:latin typeface="Consolas" pitchFamily="34" charset="0"/>
                <a:ea typeface="Consolas" pitchFamily="34" charset="-122"/>
                <a:cs typeface="Consolas" pitchFamily="34" charset="-120"/>
              </a:rPr>
              <a:t>ENGLAND</a:t>
            </a:r>
            <a:endParaRPr lang="en-US" sz="1000" dirty="0"/>
          </a:p>
        </p:txBody>
      </p:sp>
      <p:sp>
        <p:nvSpPr>
          <p:cNvPr id="42" name="Shape 40"/>
          <p:cNvSpPr/>
          <p:nvPr/>
        </p:nvSpPr>
        <p:spPr>
          <a:xfrm>
            <a:off x="6391656" y="3383280"/>
            <a:ext cx="457200" cy="0"/>
          </a:xfrm>
          <a:prstGeom prst="line">
            <a:avLst/>
          </a:prstGeom>
          <a:noFill/>
          <a:ln w="12700">
            <a:solidFill>
              <a:srgbClr val="2B3A55"/>
            </a:solidFill>
            <a:prstDash val="solid"/>
          </a:ln>
        </p:spPr>
      </p:sp>
      <p:sp>
        <p:nvSpPr>
          <p:cNvPr id="43" name="Text 41"/>
          <p:cNvSpPr/>
          <p:nvPr/>
        </p:nvSpPr>
        <p:spPr>
          <a:xfrm>
            <a:off x="6391656" y="3520440"/>
            <a:ext cx="2331720" cy="54864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The Sky Anchor</a:t>
            </a:r>
            <a:endParaRPr lang="en-US" sz="1600" dirty="0"/>
          </a:p>
        </p:txBody>
      </p:sp>
      <p:sp>
        <p:nvSpPr>
          <p:cNvPr id="44" name="Text 42"/>
          <p:cNvSpPr/>
          <p:nvPr/>
        </p:nvSpPr>
        <p:spPr>
          <a:xfrm>
            <a:off x="6391656" y="4160520"/>
            <a:ext cx="2331720" cy="1874520"/>
          </a:xfrm>
          <a:prstGeom prst="rect">
            <a:avLst/>
          </a:prstGeom>
          <a:noFill/>
          <a:ln/>
        </p:spPr>
        <p:txBody>
          <a:bodyPr wrap="square" lIns="0" tIns="0" rIns="0" bIns="0" rtlCol="0" anchor="t"/>
          <a:lstStyle/>
          <a:p>
            <a:pPr indent="0" marL="0">
              <a:spcAft>
                <a:spcPts val="400"/>
              </a:spcAft>
              <a:buNone/>
            </a:pPr>
            <a:r>
              <a:rPr lang="en-US" sz="1200" dirty="0">
                <a:solidFill>
                  <a:srgbClr val="ECF1F8"/>
                </a:solidFill>
                <a:latin typeface="Calibri" pitchFamily="34" charset="0"/>
                <a:ea typeface="Calibri" pitchFamily="34" charset="-122"/>
                <a:cs typeface="Calibri" pitchFamily="34" charset="-120"/>
              </a:rPr>
              <a:t>Gervase of Tilbury recorded a ship dropping an anchor that caught on a church door. Onlookers reported a man descending to free it, before being released by the bishop.</a:t>
            </a:r>
            <a:endParaRPr lang="en-US" sz="1200" dirty="0"/>
          </a:p>
        </p:txBody>
      </p:sp>
      <p:sp>
        <p:nvSpPr>
          <p:cNvPr id="45" name="Shape 43"/>
          <p:cNvSpPr/>
          <p:nvPr/>
        </p:nvSpPr>
        <p:spPr>
          <a:xfrm>
            <a:off x="9025128" y="2240280"/>
            <a:ext cx="2697480" cy="3931920"/>
          </a:xfrm>
          <a:prstGeom prst="rect">
            <a:avLst/>
          </a:prstGeom>
          <a:solidFill>
            <a:srgbClr val="0F1624"/>
          </a:solidFill>
          <a:ln w="9525">
            <a:solidFill>
              <a:srgbClr val="2B3A55"/>
            </a:solidFill>
            <a:prstDash val="solid"/>
          </a:ln>
        </p:spPr>
      </p:sp>
      <p:sp>
        <p:nvSpPr>
          <p:cNvPr id="46" name="Shape 44"/>
          <p:cNvSpPr/>
          <p:nvPr/>
        </p:nvSpPr>
        <p:spPr>
          <a:xfrm>
            <a:off x="9025128" y="2240280"/>
            <a:ext cx="54864" cy="3931920"/>
          </a:xfrm>
          <a:prstGeom prst="rect">
            <a:avLst/>
          </a:prstGeom>
          <a:solidFill>
            <a:srgbClr val="F5B024"/>
          </a:solidFill>
          <a:ln w="12700">
            <a:solidFill>
              <a:srgbClr val="F5B024"/>
            </a:solidFill>
            <a:prstDash val="solid"/>
          </a:ln>
        </p:spPr>
      </p:sp>
      <p:sp>
        <p:nvSpPr>
          <p:cNvPr id="47" name="Text 45"/>
          <p:cNvSpPr/>
          <p:nvPr/>
        </p:nvSpPr>
        <p:spPr>
          <a:xfrm>
            <a:off x="9253728" y="2514600"/>
            <a:ext cx="2331720" cy="502920"/>
          </a:xfrm>
          <a:prstGeom prst="rect">
            <a:avLst/>
          </a:prstGeom>
          <a:noFill/>
          <a:ln/>
        </p:spPr>
        <p:txBody>
          <a:bodyPr wrap="square" lIns="0" tIns="0" rIns="0" bIns="0" rtlCol="0" anchor="ctr"/>
          <a:lstStyle/>
          <a:p>
            <a:pPr indent="0" marL="0">
              <a:buNone/>
            </a:pPr>
            <a:r>
              <a:rPr lang="en-US" sz="2600" dirty="0">
                <a:solidFill>
                  <a:srgbClr val="F5B024"/>
                </a:solidFill>
                <a:latin typeface="Arial Black" pitchFamily="34" charset="0"/>
                <a:ea typeface="Arial Black" pitchFamily="34" charset="-122"/>
                <a:cs typeface="Arial Black" pitchFamily="34" charset="-120"/>
              </a:rPr>
              <a:t>1561</a:t>
            </a:r>
            <a:endParaRPr lang="en-US" sz="2600" dirty="0"/>
          </a:p>
        </p:txBody>
      </p:sp>
      <p:sp>
        <p:nvSpPr>
          <p:cNvPr id="48" name="Text 46"/>
          <p:cNvSpPr/>
          <p:nvPr/>
        </p:nvSpPr>
        <p:spPr>
          <a:xfrm>
            <a:off x="9253728" y="3063240"/>
            <a:ext cx="2331720" cy="274320"/>
          </a:xfrm>
          <a:prstGeom prst="rect">
            <a:avLst/>
          </a:prstGeom>
          <a:noFill/>
          <a:ln/>
        </p:spPr>
        <p:txBody>
          <a:bodyPr wrap="square" lIns="0" tIns="0" rIns="0" bIns="0" rtlCol="0" anchor="ctr"/>
          <a:lstStyle/>
          <a:p>
            <a:pPr indent="0" marL="0">
              <a:buNone/>
            </a:pPr>
            <a:r>
              <a:rPr lang="en-US" sz="1000" b="1" spc="500" kern="0" dirty="0">
                <a:solidFill>
                  <a:srgbClr val="8A97AD"/>
                </a:solidFill>
                <a:latin typeface="Consolas" pitchFamily="34" charset="0"/>
                <a:ea typeface="Consolas" pitchFamily="34" charset="-122"/>
                <a:cs typeface="Consolas" pitchFamily="34" charset="-120"/>
              </a:rPr>
              <a:t>NUREMBERG</a:t>
            </a:r>
            <a:endParaRPr lang="en-US" sz="1000" dirty="0"/>
          </a:p>
        </p:txBody>
      </p:sp>
      <p:sp>
        <p:nvSpPr>
          <p:cNvPr id="49" name="Shape 47"/>
          <p:cNvSpPr/>
          <p:nvPr/>
        </p:nvSpPr>
        <p:spPr>
          <a:xfrm>
            <a:off x="9253728" y="3383280"/>
            <a:ext cx="457200" cy="0"/>
          </a:xfrm>
          <a:prstGeom prst="line">
            <a:avLst/>
          </a:prstGeom>
          <a:noFill/>
          <a:ln w="12700">
            <a:solidFill>
              <a:srgbClr val="2B3A55"/>
            </a:solidFill>
            <a:prstDash val="solid"/>
          </a:ln>
        </p:spPr>
      </p:sp>
      <p:sp>
        <p:nvSpPr>
          <p:cNvPr id="50" name="Text 48"/>
          <p:cNvSpPr/>
          <p:nvPr/>
        </p:nvSpPr>
        <p:spPr>
          <a:xfrm>
            <a:off x="9253728" y="3520440"/>
            <a:ext cx="2331720" cy="54864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Aerial Battle</a:t>
            </a:r>
            <a:endParaRPr lang="en-US" sz="1600" dirty="0"/>
          </a:p>
        </p:txBody>
      </p:sp>
      <p:sp>
        <p:nvSpPr>
          <p:cNvPr id="51" name="Text 49"/>
          <p:cNvSpPr/>
          <p:nvPr/>
        </p:nvSpPr>
        <p:spPr>
          <a:xfrm>
            <a:off x="9253728" y="4160520"/>
            <a:ext cx="2331720" cy="1874520"/>
          </a:xfrm>
          <a:prstGeom prst="rect">
            <a:avLst/>
          </a:prstGeom>
          <a:noFill/>
          <a:ln/>
        </p:spPr>
        <p:txBody>
          <a:bodyPr wrap="square" lIns="0" tIns="0" rIns="0" bIns="0" rtlCol="0" anchor="t"/>
          <a:lstStyle/>
          <a:p>
            <a:pPr indent="0" marL="0">
              <a:spcAft>
                <a:spcPts val="400"/>
              </a:spcAft>
              <a:buNone/>
            </a:pPr>
            <a:r>
              <a:rPr lang="en-US" sz="1200" dirty="0">
                <a:solidFill>
                  <a:srgbClr val="ECF1F8"/>
                </a:solidFill>
                <a:latin typeface="Calibri" pitchFamily="34" charset="0"/>
                <a:ea typeface="Calibri" pitchFamily="34" charset="-122"/>
                <a:cs typeface="Calibri" pitchFamily="34" charset="-120"/>
              </a:rPr>
              <a:t>A broadsheet described an aerial battle involving globes, crosses, and tubes. The objects reportedly turned to steam on impact and were viewed as a divine warning.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DOC-005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ANCIENT NEAR EAST</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MESOPOTAMIA &amp; THE BIBLE</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05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02</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Mesopotamia  ·  The Near East</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438912" y="2240280"/>
            <a:ext cx="2697480" cy="3840480"/>
          </a:xfrm>
          <a:prstGeom prst="rect">
            <a:avLst/>
          </a:prstGeom>
          <a:solidFill>
            <a:srgbClr val="0F1624"/>
          </a:solidFill>
          <a:ln w="9525">
            <a:solidFill>
              <a:srgbClr val="2B3A55"/>
            </a:solidFill>
            <a:prstDash val="solid"/>
          </a:ln>
        </p:spPr>
      </p:sp>
      <p:sp>
        <p:nvSpPr>
          <p:cNvPr id="25" name="Shape 23"/>
          <p:cNvSpPr/>
          <p:nvPr/>
        </p:nvSpPr>
        <p:spPr>
          <a:xfrm>
            <a:off x="438912" y="2240280"/>
            <a:ext cx="54864" cy="3840480"/>
          </a:xfrm>
          <a:prstGeom prst="rect">
            <a:avLst/>
          </a:prstGeom>
          <a:solidFill>
            <a:srgbClr val="F5B024"/>
          </a:solidFill>
          <a:ln w="12700">
            <a:solidFill>
              <a:srgbClr val="F5B024"/>
            </a:solidFill>
            <a:prstDash val="solid"/>
          </a:ln>
        </p:spPr>
      </p:sp>
      <p:sp>
        <p:nvSpPr>
          <p:cNvPr id="26" name="Text 24"/>
          <p:cNvSpPr/>
          <p:nvPr/>
        </p:nvSpPr>
        <p:spPr>
          <a:xfrm>
            <a:off x="667512" y="2514600"/>
            <a:ext cx="2331720" cy="411480"/>
          </a:xfrm>
          <a:prstGeom prst="rect">
            <a:avLst/>
          </a:prstGeom>
          <a:noFill/>
          <a:ln/>
        </p:spPr>
        <p:txBody>
          <a:bodyPr wrap="square" lIns="0" tIns="0" rIns="0" bIns="0" rtlCol="0" anchor="ctr"/>
          <a:lstStyle/>
          <a:p>
            <a:pPr indent="0" marL="0">
              <a:buNone/>
            </a:pPr>
            <a:r>
              <a:rPr lang="en-US" sz="1700" dirty="0">
                <a:solidFill>
                  <a:srgbClr val="F5B024"/>
                </a:solidFill>
                <a:latin typeface="Arial Black" pitchFamily="34" charset="0"/>
                <a:ea typeface="Arial Black" pitchFamily="34" charset="-122"/>
                <a:cs typeface="Arial Black" pitchFamily="34" charset="-120"/>
              </a:rPr>
              <a:t>c. 4000–2000 BCE</a:t>
            </a:r>
            <a:endParaRPr lang="en-US" sz="1700" dirty="0"/>
          </a:p>
        </p:txBody>
      </p:sp>
      <p:sp>
        <p:nvSpPr>
          <p:cNvPr id="27" name="Text 25"/>
          <p:cNvSpPr/>
          <p:nvPr/>
        </p:nvSpPr>
        <p:spPr>
          <a:xfrm>
            <a:off x="667512" y="3017520"/>
            <a:ext cx="2331720" cy="274320"/>
          </a:xfrm>
          <a:prstGeom prst="rect">
            <a:avLst/>
          </a:prstGeom>
          <a:noFill/>
          <a:ln/>
        </p:spPr>
        <p:txBody>
          <a:bodyPr wrap="square" lIns="0" tIns="0" rIns="0" bIns="0" rtlCol="0" anchor="ctr"/>
          <a:lstStyle/>
          <a:p>
            <a:pPr indent="0" marL="0">
              <a:buNone/>
            </a:pPr>
            <a:r>
              <a:rPr lang="en-US" sz="1000" b="1" spc="400" kern="0" dirty="0">
                <a:solidFill>
                  <a:srgbClr val="8A97AD"/>
                </a:solidFill>
                <a:latin typeface="Consolas" pitchFamily="34" charset="0"/>
                <a:ea typeface="Consolas" pitchFamily="34" charset="-122"/>
                <a:cs typeface="Consolas" pitchFamily="34" charset="-120"/>
              </a:rPr>
              <a:t>SUMER / BABYLON</a:t>
            </a:r>
            <a:endParaRPr lang="en-US" sz="1000" dirty="0"/>
          </a:p>
        </p:txBody>
      </p:sp>
      <p:sp>
        <p:nvSpPr>
          <p:cNvPr id="28" name="Shape 26"/>
          <p:cNvSpPr/>
          <p:nvPr/>
        </p:nvSpPr>
        <p:spPr>
          <a:xfrm>
            <a:off x="667512" y="3337560"/>
            <a:ext cx="457200" cy="0"/>
          </a:xfrm>
          <a:prstGeom prst="line">
            <a:avLst/>
          </a:prstGeom>
          <a:noFill/>
          <a:ln w="12700">
            <a:solidFill>
              <a:srgbClr val="F5B024"/>
            </a:solidFill>
            <a:prstDash val="solid"/>
          </a:ln>
        </p:spPr>
      </p:sp>
      <p:sp>
        <p:nvSpPr>
          <p:cNvPr id="29" name="Text 27"/>
          <p:cNvSpPr/>
          <p:nvPr/>
        </p:nvSpPr>
        <p:spPr>
          <a:xfrm>
            <a:off x="667512" y="3429000"/>
            <a:ext cx="2331720" cy="45720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The Anunnaki</a:t>
            </a:r>
            <a:endParaRPr lang="en-US" sz="1500" dirty="0"/>
          </a:p>
        </p:txBody>
      </p:sp>
      <p:sp>
        <p:nvSpPr>
          <p:cNvPr id="30" name="Text 28"/>
          <p:cNvSpPr/>
          <p:nvPr/>
        </p:nvSpPr>
        <p:spPr>
          <a:xfrm>
            <a:off x="667512" y="3931920"/>
            <a:ext cx="2331720" cy="2011680"/>
          </a:xfrm>
          <a:prstGeom prst="rect">
            <a:avLst/>
          </a:prstGeom>
          <a:noFill/>
          <a:ln/>
        </p:spPr>
        <p:txBody>
          <a:bodyPr wrap="square" lIns="0" tIns="0" rIns="0" bIns="0" rtlCol="0" anchor="ctr"/>
          <a:lstStyle/>
          <a:p>
            <a:pPr indent="0" marL="0">
              <a:buNone/>
            </a:pPr>
            <a:r>
              <a:rPr lang="en-US" sz="1050" dirty="0">
                <a:solidFill>
                  <a:srgbClr val="ECF1F8"/>
                </a:solidFill>
                <a:latin typeface="Calibri" pitchFamily="34" charset="0"/>
                <a:ea typeface="Calibri" pitchFamily="34" charset="-122"/>
                <a:cs typeface="Calibri" pitchFamily="34" charset="-120"/>
              </a:rPr>
              <a:t>Cuneiform tablets describe “princely offspring” descending from the heavens. The Enūma Eliš details gods fashioning humanity as laborers. Sitchin later reinterpreted them as astronauts from “Nibiru” who genetically engineered Homo sapiens.</a:t>
            </a:r>
            <a:endParaRPr lang="en-US" sz="1050" dirty="0"/>
          </a:p>
        </p:txBody>
      </p:sp>
      <p:sp>
        <p:nvSpPr>
          <p:cNvPr id="31" name="Shape 29"/>
          <p:cNvSpPr/>
          <p:nvPr/>
        </p:nvSpPr>
        <p:spPr>
          <a:xfrm>
            <a:off x="3300984" y="2240280"/>
            <a:ext cx="2697480" cy="3840480"/>
          </a:xfrm>
          <a:prstGeom prst="rect">
            <a:avLst/>
          </a:prstGeom>
          <a:solidFill>
            <a:srgbClr val="0F1624"/>
          </a:solidFill>
          <a:ln w="9525">
            <a:solidFill>
              <a:srgbClr val="2B3A55"/>
            </a:solidFill>
            <a:prstDash val="solid"/>
          </a:ln>
        </p:spPr>
      </p:sp>
      <p:sp>
        <p:nvSpPr>
          <p:cNvPr id="32" name="Shape 30"/>
          <p:cNvSpPr/>
          <p:nvPr/>
        </p:nvSpPr>
        <p:spPr>
          <a:xfrm>
            <a:off x="3300984" y="2240280"/>
            <a:ext cx="54864" cy="3840480"/>
          </a:xfrm>
          <a:prstGeom prst="rect">
            <a:avLst/>
          </a:prstGeom>
          <a:solidFill>
            <a:srgbClr val="F5B024"/>
          </a:solidFill>
          <a:ln w="12700">
            <a:solidFill>
              <a:srgbClr val="F5B024"/>
            </a:solidFill>
            <a:prstDash val="solid"/>
          </a:ln>
        </p:spPr>
      </p:sp>
      <p:sp>
        <p:nvSpPr>
          <p:cNvPr id="33" name="Text 31"/>
          <p:cNvSpPr/>
          <p:nvPr/>
        </p:nvSpPr>
        <p:spPr>
          <a:xfrm>
            <a:off x="3529584" y="2514600"/>
            <a:ext cx="2331720" cy="411480"/>
          </a:xfrm>
          <a:prstGeom prst="rect">
            <a:avLst/>
          </a:prstGeom>
          <a:noFill/>
          <a:ln/>
        </p:spPr>
        <p:txBody>
          <a:bodyPr wrap="square" lIns="0" tIns="0" rIns="0" bIns="0" rtlCol="0" anchor="ctr"/>
          <a:lstStyle/>
          <a:p>
            <a:pPr indent="0" marL="0">
              <a:buNone/>
            </a:pPr>
            <a:r>
              <a:rPr lang="en-US" sz="1700" dirty="0">
                <a:solidFill>
                  <a:srgbClr val="F5B024"/>
                </a:solidFill>
                <a:latin typeface="Arial Black" pitchFamily="34" charset="0"/>
                <a:ea typeface="Arial Black" pitchFamily="34" charset="-122"/>
                <a:cs typeface="Arial Black" pitchFamily="34" charset="-120"/>
              </a:rPr>
              <a:t>c. 3000 BCE</a:t>
            </a:r>
            <a:endParaRPr lang="en-US" sz="1700" dirty="0"/>
          </a:p>
        </p:txBody>
      </p:sp>
      <p:sp>
        <p:nvSpPr>
          <p:cNvPr id="34" name="Text 32"/>
          <p:cNvSpPr/>
          <p:nvPr/>
        </p:nvSpPr>
        <p:spPr>
          <a:xfrm>
            <a:off x="3529584" y="3017520"/>
            <a:ext cx="2331720" cy="274320"/>
          </a:xfrm>
          <a:prstGeom prst="rect">
            <a:avLst/>
          </a:prstGeom>
          <a:noFill/>
          <a:ln/>
        </p:spPr>
        <p:txBody>
          <a:bodyPr wrap="square" lIns="0" tIns="0" rIns="0" bIns="0" rtlCol="0" anchor="ctr"/>
          <a:lstStyle/>
          <a:p>
            <a:pPr indent="0" marL="0">
              <a:buNone/>
            </a:pPr>
            <a:r>
              <a:rPr lang="en-US" sz="1000" b="1" spc="400" kern="0" dirty="0">
                <a:solidFill>
                  <a:srgbClr val="8A97AD"/>
                </a:solidFill>
                <a:latin typeface="Consolas" pitchFamily="34" charset="0"/>
                <a:ea typeface="Consolas" pitchFamily="34" charset="-122"/>
                <a:cs typeface="Consolas" pitchFamily="34" charset="-120"/>
              </a:rPr>
              <a:t>PERSIAN GULF</a:t>
            </a:r>
            <a:endParaRPr lang="en-US" sz="1000" dirty="0"/>
          </a:p>
        </p:txBody>
      </p:sp>
      <p:sp>
        <p:nvSpPr>
          <p:cNvPr id="35" name="Shape 33"/>
          <p:cNvSpPr/>
          <p:nvPr/>
        </p:nvSpPr>
        <p:spPr>
          <a:xfrm>
            <a:off x="3529584" y="3337560"/>
            <a:ext cx="457200" cy="0"/>
          </a:xfrm>
          <a:prstGeom prst="line">
            <a:avLst/>
          </a:prstGeom>
          <a:noFill/>
          <a:ln w="12700">
            <a:solidFill>
              <a:srgbClr val="F5B024"/>
            </a:solidFill>
            <a:prstDash val="solid"/>
          </a:ln>
        </p:spPr>
      </p:sp>
      <p:sp>
        <p:nvSpPr>
          <p:cNvPr id="36" name="Text 34"/>
          <p:cNvSpPr/>
          <p:nvPr/>
        </p:nvSpPr>
        <p:spPr>
          <a:xfrm>
            <a:off x="3529584" y="3429000"/>
            <a:ext cx="2331720" cy="45720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The Apkallu</a:t>
            </a:r>
            <a:endParaRPr lang="en-US" sz="1500" dirty="0"/>
          </a:p>
        </p:txBody>
      </p:sp>
      <p:sp>
        <p:nvSpPr>
          <p:cNvPr id="37" name="Text 35"/>
          <p:cNvSpPr/>
          <p:nvPr/>
        </p:nvSpPr>
        <p:spPr>
          <a:xfrm>
            <a:off x="3529584" y="3931920"/>
            <a:ext cx="2331720" cy="2011680"/>
          </a:xfrm>
          <a:prstGeom prst="rect">
            <a:avLst/>
          </a:prstGeom>
          <a:noFill/>
          <a:ln/>
        </p:spPr>
        <p:txBody>
          <a:bodyPr wrap="square" lIns="0" tIns="0" rIns="0" bIns="0" rtlCol="0" anchor="ctr"/>
          <a:lstStyle/>
          <a:p>
            <a:pPr indent="0" marL="0">
              <a:buNone/>
            </a:pPr>
            <a:r>
              <a:rPr lang="en-US" sz="1050" dirty="0">
                <a:solidFill>
                  <a:srgbClr val="ECF1F8"/>
                </a:solidFill>
                <a:latin typeface="Calibri" pitchFamily="34" charset="0"/>
                <a:ea typeface="Calibri" pitchFamily="34" charset="-122"/>
                <a:cs typeface="Calibri" pitchFamily="34" charset="-120"/>
              </a:rPr>
              <a:t>Seven fish-like sages, led by Oannes, said to emerge from the sea to teach agriculture, writing, and astronomy. Proponents read this as early contact narrative; scholars as mythic archetype of the civilizing hero.</a:t>
            </a:r>
            <a:endParaRPr lang="en-US" sz="1050" dirty="0"/>
          </a:p>
        </p:txBody>
      </p:sp>
      <p:sp>
        <p:nvSpPr>
          <p:cNvPr id="38" name="Shape 36"/>
          <p:cNvSpPr/>
          <p:nvPr/>
        </p:nvSpPr>
        <p:spPr>
          <a:xfrm>
            <a:off x="6163056" y="2240280"/>
            <a:ext cx="2697480" cy="3840480"/>
          </a:xfrm>
          <a:prstGeom prst="rect">
            <a:avLst/>
          </a:prstGeom>
          <a:solidFill>
            <a:srgbClr val="0F1624"/>
          </a:solidFill>
          <a:ln w="9525">
            <a:solidFill>
              <a:srgbClr val="2B3A55"/>
            </a:solidFill>
            <a:prstDash val="solid"/>
          </a:ln>
        </p:spPr>
      </p:sp>
      <p:sp>
        <p:nvSpPr>
          <p:cNvPr id="39" name="Shape 37"/>
          <p:cNvSpPr/>
          <p:nvPr/>
        </p:nvSpPr>
        <p:spPr>
          <a:xfrm>
            <a:off x="6163056" y="2240280"/>
            <a:ext cx="54864" cy="3840480"/>
          </a:xfrm>
          <a:prstGeom prst="rect">
            <a:avLst/>
          </a:prstGeom>
          <a:solidFill>
            <a:srgbClr val="F5B024"/>
          </a:solidFill>
          <a:ln w="12700">
            <a:solidFill>
              <a:srgbClr val="F5B024"/>
            </a:solidFill>
            <a:prstDash val="solid"/>
          </a:ln>
        </p:spPr>
      </p:sp>
      <p:sp>
        <p:nvSpPr>
          <p:cNvPr id="40" name="Text 38"/>
          <p:cNvSpPr/>
          <p:nvPr/>
        </p:nvSpPr>
        <p:spPr>
          <a:xfrm>
            <a:off x="6391656" y="2514600"/>
            <a:ext cx="2331720" cy="411480"/>
          </a:xfrm>
          <a:prstGeom prst="rect">
            <a:avLst/>
          </a:prstGeom>
          <a:noFill/>
          <a:ln/>
        </p:spPr>
        <p:txBody>
          <a:bodyPr wrap="square" lIns="0" tIns="0" rIns="0" bIns="0" rtlCol="0" anchor="ctr"/>
          <a:lstStyle/>
          <a:p>
            <a:pPr indent="0" marL="0">
              <a:buNone/>
            </a:pPr>
            <a:r>
              <a:rPr lang="en-US" sz="1700" dirty="0">
                <a:solidFill>
                  <a:srgbClr val="F5B024"/>
                </a:solidFill>
                <a:latin typeface="Arial Black" pitchFamily="34" charset="0"/>
                <a:ea typeface="Arial Black" pitchFamily="34" charset="-122"/>
                <a:cs typeface="Arial Black" pitchFamily="34" charset="-120"/>
              </a:rPr>
              <a:t>Genesis · Ezekiel</a:t>
            </a:r>
            <a:endParaRPr lang="en-US" sz="1700" dirty="0"/>
          </a:p>
        </p:txBody>
      </p:sp>
      <p:sp>
        <p:nvSpPr>
          <p:cNvPr id="41" name="Text 39"/>
          <p:cNvSpPr/>
          <p:nvPr/>
        </p:nvSpPr>
        <p:spPr>
          <a:xfrm>
            <a:off x="6391656" y="3017520"/>
            <a:ext cx="2331720" cy="274320"/>
          </a:xfrm>
          <a:prstGeom prst="rect">
            <a:avLst/>
          </a:prstGeom>
          <a:noFill/>
          <a:ln/>
        </p:spPr>
        <p:txBody>
          <a:bodyPr wrap="square" lIns="0" tIns="0" rIns="0" bIns="0" rtlCol="0" anchor="ctr"/>
          <a:lstStyle/>
          <a:p>
            <a:pPr indent="0" marL="0">
              <a:buNone/>
            </a:pPr>
            <a:r>
              <a:rPr lang="en-US" sz="1000" b="1" spc="400" kern="0" dirty="0">
                <a:solidFill>
                  <a:srgbClr val="8A97AD"/>
                </a:solidFill>
                <a:latin typeface="Consolas" pitchFamily="34" charset="0"/>
                <a:ea typeface="Consolas" pitchFamily="34" charset="-122"/>
                <a:cs typeface="Consolas" pitchFamily="34" charset="-120"/>
              </a:rPr>
              <a:t>CANAAN</a:t>
            </a:r>
            <a:endParaRPr lang="en-US" sz="1000" dirty="0"/>
          </a:p>
        </p:txBody>
      </p:sp>
      <p:sp>
        <p:nvSpPr>
          <p:cNvPr id="42" name="Shape 40"/>
          <p:cNvSpPr/>
          <p:nvPr/>
        </p:nvSpPr>
        <p:spPr>
          <a:xfrm>
            <a:off x="6391656" y="3337560"/>
            <a:ext cx="457200" cy="0"/>
          </a:xfrm>
          <a:prstGeom prst="line">
            <a:avLst/>
          </a:prstGeom>
          <a:noFill/>
          <a:ln w="12700">
            <a:solidFill>
              <a:srgbClr val="F5B024"/>
            </a:solidFill>
            <a:prstDash val="solid"/>
          </a:ln>
        </p:spPr>
      </p:sp>
      <p:sp>
        <p:nvSpPr>
          <p:cNvPr id="43" name="Text 41"/>
          <p:cNvSpPr/>
          <p:nvPr/>
        </p:nvSpPr>
        <p:spPr>
          <a:xfrm>
            <a:off x="6391656" y="3429000"/>
            <a:ext cx="2331720" cy="45720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Biblical Re-readings</a:t>
            </a:r>
            <a:endParaRPr lang="en-US" sz="1500" dirty="0"/>
          </a:p>
        </p:txBody>
      </p:sp>
      <p:sp>
        <p:nvSpPr>
          <p:cNvPr id="44" name="Text 42"/>
          <p:cNvSpPr/>
          <p:nvPr/>
        </p:nvSpPr>
        <p:spPr>
          <a:xfrm>
            <a:off x="6391656" y="3931920"/>
            <a:ext cx="2331720" cy="2011680"/>
          </a:xfrm>
          <a:prstGeom prst="rect">
            <a:avLst/>
          </a:prstGeom>
          <a:noFill/>
          <a:ln/>
        </p:spPr>
        <p:txBody>
          <a:bodyPr wrap="square" lIns="0" tIns="0" rIns="0" bIns="0" rtlCol="0" anchor="ctr"/>
          <a:lstStyle/>
          <a:p>
            <a:pPr indent="0" marL="0">
              <a:buNone/>
            </a:pPr>
            <a:r>
              <a:rPr lang="en-US" sz="1050" dirty="0">
                <a:solidFill>
                  <a:srgbClr val="ECF1F8"/>
                </a:solidFill>
                <a:latin typeface="Calibri" pitchFamily="34" charset="0"/>
                <a:ea typeface="Calibri" pitchFamily="34" charset="-122"/>
                <a:cs typeface="Calibri" pitchFamily="34" charset="-120"/>
              </a:rPr>
              <a:t>Nephilim “giants” (Gen 6:1–4), Ezekiel’s “wheel within a wheel” vision, and the Ark of the Covenant have been reframed by proponents as extraterrestrial encounters or advanced technology.</a:t>
            </a:r>
            <a:endParaRPr lang="en-US" sz="1050" dirty="0"/>
          </a:p>
        </p:txBody>
      </p:sp>
      <p:sp>
        <p:nvSpPr>
          <p:cNvPr id="45" name="Shape 43"/>
          <p:cNvSpPr/>
          <p:nvPr/>
        </p:nvSpPr>
        <p:spPr>
          <a:xfrm>
            <a:off x="9025128" y="2240280"/>
            <a:ext cx="2697480" cy="3840480"/>
          </a:xfrm>
          <a:prstGeom prst="rect">
            <a:avLst/>
          </a:prstGeom>
          <a:solidFill>
            <a:srgbClr val="0F1624"/>
          </a:solidFill>
          <a:ln w="9525">
            <a:solidFill>
              <a:srgbClr val="2B3A55"/>
            </a:solidFill>
            <a:prstDash val="solid"/>
          </a:ln>
        </p:spPr>
      </p:sp>
      <p:sp>
        <p:nvSpPr>
          <p:cNvPr id="46" name="Shape 44"/>
          <p:cNvSpPr/>
          <p:nvPr/>
        </p:nvSpPr>
        <p:spPr>
          <a:xfrm>
            <a:off x="9025128" y="2240280"/>
            <a:ext cx="54864" cy="3840480"/>
          </a:xfrm>
          <a:prstGeom prst="rect">
            <a:avLst/>
          </a:prstGeom>
          <a:solidFill>
            <a:srgbClr val="F5B024"/>
          </a:solidFill>
          <a:ln w="12700">
            <a:solidFill>
              <a:srgbClr val="F5B024"/>
            </a:solidFill>
            <a:prstDash val="solid"/>
          </a:ln>
        </p:spPr>
      </p:sp>
      <p:sp>
        <p:nvSpPr>
          <p:cNvPr id="47" name="Text 45"/>
          <p:cNvSpPr/>
          <p:nvPr/>
        </p:nvSpPr>
        <p:spPr>
          <a:xfrm>
            <a:off x="9253728" y="2514600"/>
            <a:ext cx="2331720" cy="411480"/>
          </a:xfrm>
          <a:prstGeom prst="rect">
            <a:avLst/>
          </a:prstGeom>
          <a:noFill/>
          <a:ln/>
        </p:spPr>
        <p:txBody>
          <a:bodyPr wrap="square" lIns="0" tIns="0" rIns="0" bIns="0" rtlCol="0" anchor="ctr"/>
          <a:lstStyle/>
          <a:p>
            <a:pPr indent="0" marL="0">
              <a:buNone/>
            </a:pPr>
            <a:r>
              <a:rPr lang="en-US" sz="1700" dirty="0">
                <a:solidFill>
                  <a:srgbClr val="F5B024"/>
                </a:solidFill>
                <a:latin typeface="Arial Black" pitchFamily="34" charset="0"/>
                <a:ea typeface="Arial Black" pitchFamily="34" charset="-122"/>
                <a:cs typeface="Arial Black" pitchFamily="34" charset="-120"/>
              </a:rPr>
              <a:t>artifacts</a:t>
            </a:r>
            <a:endParaRPr lang="en-US" sz="1700" dirty="0"/>
          </a:p>
        </p:txBody>
      </p:sp>
      <p:sp>
        <p:nvSpPr>
          <p:cNvPr id="48" name="Text 46"/>
          <p:cNvSpPr/>
          <p:nvPr/>
        </p:nvSpPr>
        <p:spPr>
          <a:xfrm>
            <a:off x="9253728" y="3017520"/>
            <a:ext cx="2331720" cy="274320"/>
          </a:xfrm>
          <a:prstGeom prst="rect">
            <a:avLst/>
          </a:prstGeom>
          <a:noFill/>
          <a:ln/>
        </p:spPr>
        <p:txBody>
          <a:bodyPr wrap="square" lIns="0" tIns="0" rIns="0" bIns="0" rtlCol="0" anchor="ctr"/>
          <a:lstStyle/>
          <a:p>
            <a:pPr indent="0" marL="0">
              <a:buNone/>
            </a:pPr>
            <a:r>
              <a:rPr lang="en-US" sz="1000" b="1" spc="400" kern="0" dirty="0">
                <a:solidFill>
                  <a:srgbClr val="8A97AD"/>
                </a:solidFill>
                <a:latin typeface="Consolas" pitchFamily="34" charset="0"/>
                <a:ea typeface="Consolas" pitchFamily="34" charset="-122"/>
                <a:cs typeface="Consolas" pitchFamily="34" charset="-120"/>
              </a:rPr>
              <a:t>CYLINDER SEALS</a:t>
            </a:r>
            <a:endParaRPr lang="en-US" sz="1000" dirty="0"/>
          </a:p>
        </p:txBody>
      </p:sp>
      <p:sp>
        <p:nvSpPr>
          <p:cNvPr id="49" name="Shape 47"/>
          <p:cNvSpPr/>
          <p:nvPr/>
        </p:nvSpPr>
        <p:spPr>
          <a:xfrm>
            <a:off x="9253728" y="3337560"/>
            <a:ext cx="457200" cy="0"/>
          </a:xfrm>
          <a:prstGeom prst="line">
            <a:avLst/>
          </a:prstGeom>
          <a:noFill/>
          <a:ln w="12700">
            <a:solidFill>
              <a:srgbClr val="F5B024"/>
            </a:solidFill>
            <a:prstDash val="solid"/>
          </a:ln>
        </p:spPr>
      </p:sp>
      <p:sp>
        <p:nvSpPr>
          <p:cNvPr id="50" name="Text 48"/>
          <p:cNvSpPr/>
          <p:nvPr/>
        </p:nvSpPr>
        <p:spPr>
          <a:xfrm>
            <a:off x="9253728" y="3429000"/>
            <a:ext cx="2331720" cy="45720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VA 243</a:t>
            </a:r>
            <a:endParaRPr lang="en-US" sz="1500" dirty="0"/>
          </a:p>
        </p:txBody>
      </p:sp>
      <p:sp>
        <p:nvSpPr>
          <p:cNvPr id="51" name="Text 49"/>
          <p:cNvSpPr/>
          <p:nvPr/>
        </p:nvSpPr>
        <p:spPr>
          <a:xfrm>
            <a:off x="9253728" y="3931920"/>
            <a:ext cx="2331720" cy="2011680"/>
          </a:xfrm>
          <a:prstGeom prst="rect">
            <a:avLst/>
          </a:prstGeom>
          <a:noFill/>
          <a:ln/>
        </p:spPr>
        <p:txBody>
          <a:bodyPr wrap="square" lIns="0" tIns="0" rIns="0" bIns="0" rtlCol="0" anchor="ctr"/>
          <a:lstStyle/>
          <a:p>
            <a:pPr indent="0" marL="0">
              <a:buNone/>
            </a:pPr>
            <a:r>
              <a:rPr lang="en-US" sz="1050" dirty="0">
                <a:solidFill>
                  <a:srgbClr val="ECF1F8"/>
                </a:solidFill>
                <a:latin typeface="Calibri" pitchFamily="34" charset="0"/>
                <a:ea typeface="Calibri" pitchFamily="34" charset="-122"/>
                <a:cs typeface="Calibri" pitchFamily="34" charset="-120"/>
              </a:rPr>
              <a:t>A Berlin-museum cylinder seal whose central rosette is claimed to depict our solar system — twelve bodies, including an additional planet. Mainstream Assyriologists read it as a star-symbol among deities, not a cosmological map.</a:t>
            </a:r>
            <a:endParaRPr lang="en-US" sz="1050" dirty="0"/>
          </a:p>
        </p:txBody>
      </p:sp>
      <p:sp>
        <p:nvSpPr>
          <p:cNvPr id="52" name="Text 50"/>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These re-readings are not mainstream Assyriology — but they shape a persistent modern mythos of prehistoric contact.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DOC-006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EGYPT / INDIA</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EGYPT &amp; THE VIMANAS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06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03</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Egypt  ·  South Asia  ·  Vimanas</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5486400" cy="384048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40480"/>
          </a:xfrm>
          <a:prstGeom prst="rect">
            <a:avLst/>
          </a:prstGeom>
          <a:solidFill>
            <a:srgbClr val="F5B024"/>
          </a:solidFill>
          <a:ln w="12700">
            <a:solidFill>
              <a:srgbClr val="F5B024"/>
            </a:solidFill>
            <a:prstDash val="solid"/>
          </a:ln>
        </p:spPr>
      </p:sp>
      <p:sp>
        <p:nvSpPr>
          <p:cNvPr id="26" name="Text 24"/>
          <p:cNvSpPr/>
          <p:nvPr/>
        </p:nvSpPr>
        <p:spPr>
          <a:xfrm>
            <a:off x="777240" y="2377440"/>
            <a:ext cx="5029200" cy="320040"/>
          </a:xfrm>
          <a:prstGeom prst="rect">
            <a:avLst/>
          </a:prstGeom>
          <a:noFill/>
          <a:ln/>
        </p:spPr>
        <p:txBody>
          <a:bodyPr wrap="square" lIns="0" tIns="0" rIns="0" bIns="0" rtlCol="0" anchor="ctr"/>
          <a:lstStyle/>
          <a:p>
            <a:pPr indent="0" marL="0">
              <a:buNone/>
            </a:pPr>
            <a:r>
              <a:rPr lang="en-US" sz="1100" b="1" spc="600" kern="0" dirty="0">
                <a:solidFill>
                  <a:srgbClr val="F5B024"/>
                </a:solidFill>
                <a:latin typeface="Consolas" pitchFamily="34" charset="0"/>
                <a:ea typeface="Consolas" pitchFamily="34" charset="-122"/>
                <a:cs typeface="Consolas" pitchFamily="34" charset="-120"/>
              </a:rPr>
              <a:t>EGYPT</a:t>
            </a:r>
            <a:endParaRPr lang="en-US" sz="1100" dirty="0"/>
          </a:p>
        </p:txBody>
      </p:sp>
      <p:sp>
        <p:nvSpPr>
          <p:cNvPr id="27" name="Text 25"/>
          <p:cNvSpPr/>
          <p:nvPr/>
        </p:nvSpPr>
        <p:spPr>
          <a:xfrm>
            <a:off x="777240" y="2697480"/>
            <a:ext cx="5029200" cy="502920"/>
          </a:xfrm>
          <a:prstGeom prst="rect">
            <a:avLst/>
          </a:prstGeom>
          <a:noFill/>
          <a:ln/>
        </p:spPr>
        <p:txBody>
          <a:bodyPr wrap="square" lIns="0" tIns="0" rIns="0" bIns="0" rtlCol="0" anchor="ctr"/>
          <a:lstStyle/>
          <a:p>
            <a:pPr indent="0" marL="0">
              <a:buNone/>
            </a:pPr>
            <a:r>
              <a:rPr lang="en-US" sz="2200" dirty="0">
                <a:solidFill>
                  <a:srgbClr val="ECF1F8"/>
                </a:solidFill>
                <a:latin typeface="Arial Black" pitchFamily="34" charset="0"/>
                <a:ea typeface="Arial Black" pitchFamily="34" charset="-122"/>
                <a:cs typeface="Arial Black" pitchFamily="34" charset="-120"/>
              </a:rPr>
              <a:t>Beyond Bronze-Age Capability?</a:t>
            </a:r>
            <a:endParaRPr lang="en-US" sz="2200" dirty="0"/>
          </a:p>
        </p:txBody>
      </p:sp>
      <p:sp>
        <p:nvSpPr>
          <p:cNvPr id="28" name="Shape 26"/>
          <p:cNvSpPr/>
          <p:nvPr/>
        </p:nvSpPr>
        <p:spPr>
          <a:xfrm>
            <a:off x="777240" y="3246120"/>
            <a:ext cx="5029200" cy="0"/>
          </a:xfrm>
          <a:prstGeom prst="line">
            <a:avLst/>
          </a:prstGeom>
          <a:noFill/>
          <a:ln w="9525">
            <a:solidFill>
              <a:srgbClr val="2B3A55"/>
            </a:solidFill>
            <a:prstDash val="solid"/>
          </a:ln>
        </p:spPr>
      </p:sp>
      <p:sp>
        <p:nvSpPr>
          <p:cNvPr id="29" name="Text 27"/>
          <p:cNvSpPr/>
          <p:nvPr/>
        </p:nvSpPr>
        <p:spPr>
          <a:xfrm>
            <a:off x="777240" y="3383280"/>
            <a:ext cx="123444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GIZA</a:t>
            </a:r>
            <a:endParaRPr lang="en-US" sz="1000" dirty="0"/>
          </a:p>
        </p:txBody>
      </p:sp>
      <p:sp>
        <p:nvSpPr>
          <p:cNvPr id="30" name="Text 28"/>
          <p:cNvSpPr/>
          <p:nvPr/>
        </p:nvSpPr>
        <p:spPr>
          <a:xfrm>
            <a:off x="2057400" y="3364992"/>
            <a:ext cx="393192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Precision-cut limestone, 2.3M blocks, c. 2580 BCE — attributed by proponents to alien levitation or lost technology.</a:t>
            </a:r>
            <a:endParaRPr lang="en-US" sz="1100" dirty="0"/>
          </a:p>
        </p:txBody>
      </p:sp>
      <p:sp>
        <p:nvSpPr>
          <p:cNvPr id="31" name="Text 29"/>
          <p:cNvSpPr/>
          <p:nvPr/>
        </p:nvSpPr>
        <p:spPr>
          <a:xfrm>
            <a:off x="777240" y="4069080"/>
            <a:ext cx="123444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ABYDOS</a:t>
            </a:r>
            <a:endParaRPr lang="en-US" sz="1000" dirty="0"/>
          </a:p>
        </p:txBody>
      </p:sp>
      <p:sp>
        <p:nvSpPr>
          <p:cNvPr id="32" name="Text 30"/>
          <p:cNvSpPr/>
          <p:nvPr/>
        </p:nvSpPr>
        <p:spPr>
          <a:xfrm>
            <a:off x="2057400" y="4050792"/>
            <a:ext cx="393192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Temple of Seti I — a palimpsest of overlapping hieroglyphs resembling aircraft, submarines, and tanks. Mainstream: erosion + overlaid carvings.</a:t>
            </a:r>
            <a:endParaRPr lang="en-US" sz="1100" dirty="0"/>
          </a:p>
        </p:txBody>
      </p:sp>
      <p:sp>
        <p:nvSpPr>
          <p:cNvPr id="33" name="Text 31"/>
          <p:cNvSpPr/>
          <p:nvPr/>
        </p:nvSpPr>
        <p:spPr>
          <a:xfrm>
            <a:off x="777240" y="4754880"/>
            <a:ext cx="123444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SAQQARA</a:t>
            </a:r>
            <a:endParaRPr lang="en-US" sz="1000" dirty="0"/>
          </a:p>
        </p:txBody>
      </p:sp>
      <p:sp>
        <p:nvSpPr>
          <p:cNvPr id="34" name="Text 32"/>
          <p:cNvSpPr/>
          <p:nvPr/>
        </p:nvSpPr>
        <p:spPr>
          <a:xfrm>
            <a:off x="2057400" y="4736592"/>
            <a:ext cx="393192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Wooden bird figurine (c. 200 BCE) argued to be a glider model. Egyptologists read it as a votive offering.</a:t>
            </a:r>
            <a:endParaRPr lang="en-US" sz="1100" dirty="0"/>
          </a:p>
        </p:txBody>
      </p:sp>
      <p:sp>
        <p:nvSpPr>
          <p:cNvPr id="35" name="Text 33"/>
          <p:cNvSpPr/>
          <p:nvPr/>
        </p:nvSpPr>
        <p:spPr>
          <a:xfrm>
            <a:off x="777240" y="5440680"/>
            <a:ext cx="123444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AKHENATEN</a:t>
            </a:r>
            <a:endParaRPr lang="en-US" sz="1000" dirty="0"/>
          </a:p>
        </p:txBody>
      </p:sp>
      <p:sp>
        <p:nvSpPr>
          <p:cNvPr id="36" name="Text 34"/>
          <p:cNvSpPr/>
          <p:nvPr/>
        </p:nvSpPr>
        <p:spPr>
          <a:xfrm>
            <a:off x="2057400" y="5422392"/>
            <a:ext cx="393192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Pharaoh (c. 1353 BCE) with elongated skull and androgynous depictions — cited as evidence of non-human physiology.</a:t>
            </a:r>
            <a:endParaRPr lang="en-US" sz="1100" dirty="0"/>
          </a:p>
        </p:txBody>
      </p:sp>
      <p:sp>
        <p:nvSpPr>
          <p:cNvPr id="37" name="Shape 35"/>
          <p:cNvSpPr/>
          <p:nvPr/>
        </p:nvSpPr>
        <p:spPr>
          <a:xfrm>
            <a:off x="6126480" y="2194560"/>
            <a:ext cx="5486400" cy="3840480"/>
          </a:xfrm>
          <a:prstGeom prst="rect">
            <a:avLst/>
          </a:prstGeom>
          <a:solidFill>
            <a:srgbClr val="0F1624"/>
          </a:solidFill>
          <a:ln w="9525">
            <a:solidFill>
              <a:srgbClr val="2B3A55"/>
            </a:solidFill>
            <a:prstDash val="solid"/>
          </a:ln>
        </p:spPr>
      </p:sp>
      <p:sp>
        <p:nvSpPr>
          <p:cNvPr id="38" name="Shape 36"/>
          <p:cNvSpPr/>
          <p:nvPr/>
        </p:nvSpPr>
        <p:spPr>
          <a:xfrm>
            <a:off x="6126480" y="2194560"/>
            <a:ext cx="54864" cy="3840480"/>
          </a:xfrm>
          <a:prstGeom prst="rect">
            <a:avLst/>
          </a:prstGeom>
          <a:solidFill>
            <a:srgbClr val="38D9F0"/>
          </a:solidFill>
          <a:ln w="12700">
            <a:solidFill>
              <a:srgbClr val="38D9F0"/>
            </a:solidFill>
            <a:prstDash val="solid"/>
          </a:ln>
        </p:spPr>
      </p:sp>
      <p:sp>
        <p:nvSpPr>
          <p:cNvPr id="39" name="Text 37"/>
          <p:cNvSpPr/>
          <p:nvPr/>
        </p:nvSpPr>
        <p:spPr>
          <a:xfrm>
            <a:off x="6355080" y="2377440"/>
            <a:ext cx="5029200" cy="320040"/>
          </a:xfrm>
          <a:prstGeom prst="rect">
            <a:avLst/>
          </a:prstGeom>
          <a:noFill/>
          <a:ln/>
        </p:spPr>
        <p:txBody>
          <a:bodyPr wrap="square" lIns="0" tIns="0" rIns="0" bIns="0" rtlCol="0" anchor="ctr"/>
          <a:lstStyle/>
          <a:p>
            <a:pPr indent="0" marL="0">
              <a:buNone/>
            </a:pPr>
            <a:r>
              <a:rPr lang="en-US" sz="1100" b="1" spc="600" kern="0" dirty="0">
                <a:solidFill>
                  <a:srgbClr val="38D9F0"/>
                </a:solidFill>
                <a:latin typeface="Consolas" pitchFamily="34" charset="0"/>
                <a:ea typeface="Consolas" pitchFamily="34" charset="-122"/>
                <a:cs typeface="Consolas" pitchFamily="34" charset="-120"/>
              </a:rPr>
              <a:t>SOUTH ASIA</a:t>
            </a:r>
            <a:endParaRPr lang="en-US" sz="1100" dirty="0"/>
          </a:p>
        </p:txBody>
      </p:sp>
      <p:sp>
        <p:nvSpPr>
          <p:cNvPr id="40" name="Text 38"/>
          <p:cNvSpPr/>
          <p:nvPr/>
        </p:nvSpPr>
        <p:spPr>
          <a:xfrm>
            <a:off x="6355080" y="2697480"/>
            <a:ext cx="5029200" cy="502920"/>
          </a:xfrm>
          <a:prstGeom prst="rect">
            <a:avLst/>
          </a:prstGeom>
          <a:noFill/>
          <a:ln/>
        </p:spPr>
        <p:txBody>
          <a:bodyPr wrap="square" lIns="0" tIns="0" rIns="0" bIns="0" rtlCol="0" anchor="ctr"/>
          <a:lstStyle/>
          <a:p>
            <a:pPr indent="0" marL="0">
              <a:buNone/>
            </a:pPr>
            <a:r>
              <a:rPr lang="en-US" sz="2200" dirty="0">
                <a:solidFill>
                  <a:srgbClr val="ECF1F8"/>
                </a:solidFill>
                <a:latin typeface="Arial Black" pitchFamily="34" charset="0"/>
                <a:ea typeface="Arial Black" pitchFamily="34" charset="-122"/>
                <a:cs typeface="Arial Black" pitchFamily="34" charset="-120"/>
              </a:rPr>
              <a:t>The Vimana Epics</a:t>
            </a:r>
            <a:endParaRPr lang="en-US" sz="2200" dirty="0"/>
          </a:p>
        </p:txBody>
      </p:sp>
      <p:sp>
        <p:nvSpPr>
          <p:cNvPr id="41" name="Shape 39"/>
          <p:cNvSpPr/>
          <p:nvPr/>
        </p:nvSpPr>
        <p:spPr>
          <a:xfrm>
            <a:off x="6355080" y="3246120"/>
            <a:ext cx="5029200" cy="0"/>
          </a:xfrm>
          <a:prstGeom prst="line">
            <a:avLst/>
          </a:prstGeom>
          <a:noFill/>
          <a:ln w="9525">
            <a:solidFill>
              <a:srgbClr val="2B3A55"/>
            </a:solidFill>
            <a:prstDash val="solid"/>
          </a:ln>
        </p:spPr>
      </p:sp>
      <p:sp>
        <p:nvSpPr>
          <p:cNvPr id="42" name="Text 40"/>
          <p:cNvSpPr/>
          <p:nvPr/>
        </p:nvSpPr>
        <p:spPr>
          <a:xfrm>
            <a:off x="6355080" y="3383280"/>
            <a:ext cx="5029200" cy="1280160"/>
          </a:xfrm>
          <a:prstGeom prst="rect">
            <a:avLst/>
          </a:prstGeom>
          <a:noFill/>
          <a:ln/>
        </p:spPr>
        <p:txBody>
          <a:bodyPr wrap="square" lIns="0" tIns="0" rIns="0" bIns="0" rtlCol="0" anchor="ctr"/>
          <a:lstStyle/>
          <a:p>
            <a:pPr indent="0" marL="0">
              <a:buNone/>
            </a:pPr>
            <a:r>
              <a:rPr lang="en-US" sz="1200" dirty="0">
                <a:solidFill>
                  <a:srgbClr val="ECF1F8"/>
                </a:solidFill>
                <a:latin typeface="Calibri" pitchFamily="34" charset="0"/>
                <a:ea typeface="Calibri" pitchFamily="34" charset="-122"/>
                <a:cs typeface="Calibri" pitchFamily="34" charset="-120"/>
              </a:rPr>
              <a:t>The Ramayana and Mahabharata (c. 500 BCE–300 CE) describe vimanas — flying chariots or palaces — in vivid detail, including propulsion, aerial combat, and weapons whose effects have been compared to thermonuclear blasts.</a:t>
            </a:r>
            <a:endParaRPr lang="en-US" sz="1200" dirty="0"/>
          </a:p>
        </p:txBody>
      </p:sp>
      <p:sp>
        <p:nvSpPr>
          <p:cNvPr id="43" name="Text 41"/>
          <p:cNvSpPr/>
          <p:nvPr/>
        </p:nvSpPr>
        <p:spPr>
          <a:xfrm>
            <a:off x="6355080" y="4709160"/>
            <a:ext cx="1828800" cy="274320"/>
          </a:xfrm>
          <a:prstGeom prst="rect">
            <a:avLst/>
          </a:prstGeom>
          <a:noFill/>
          <a:ln/>
        </p:spPr>
        <p:txBody>
          <a:bodyPr wrap="square" lIns="0" tIns="0" rIns="0" bIns="0" rtlCol="0" anchor="ctr"/>
          <a:lstStyle/>
          <a:p>
            <a:pPr indent="0" marL="0">
              <a:buNone/>
            </a:pPr>
            <a:r>
              <a:rPr lang="en-US" sz="950" b="1" spc="300" kern="0" dirty="0">
                <a:solidFill>
                  <a:srgbClr val="38D9F0"/>
                </a:solidFill>
                <a:latin typeface="Consolas" pitchFamily="34" charset="0"/>
                <a:ea typeface="Consolas" pitchFamily="34" charset="-122"/>
                <a:cs typeface="Consolas" pitchFamily="34" charset="-120"/>
              </a:rPr>
              <a:t>PUSHPAKA</a:t>
            </a:r>
            <a:endParaRPr lang="en-US" sz="950" dirty="0"/>
          </a:p>
        </p:txBody>
      </p:sp>
      <p:sp>
        <p:nvSpPr>
          <p:cNvPr id="44" name="Text 42"/>
          <p:cNvSpPr/>
          <p:nvPr/>
        </p:nvSpPr>
        <p:spPr>
          <a:xfrm>
            <a:off x="8183880" y="4690872"/>
            <a:ext cx="3246120" cy="68580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Kubera’s multi-tiered flying palace — “shone like the sun.”</a:t>
            </a:r>
            <a:endParaRPr lang="en-US" sz="1100" dirty="0"/>
          </a:p>
        </p:txBody>
      </p:sp>
      <p:sp>
        <p:nvSpPr>
          <p:cNvPr id="45" name="Text 43"/>
          <p:cNvSpPr/>
          <p:nvPr/>
        </p:nvSpPr>
        <p:spPr>
          <a:xfrm>
            <a:off x="6355080" y="5458968"/>
            <a:ext cx="1828800" cy="274320"/>
          </a:xfrm>
          <a:prstGeom prst="rect">
            <a:avLst/>
          </a:prstGeom>
          <a:noFill/>
          <a:ln/>
        </p:spPr>
        <p:txBody>
          <a:bodyPr wrap="square" lIns="0" tIns="0" rIns="0" bIns="0" rtlCol="0" anchor="ctr"/>
          <a:lstStyle/>
          <a:p>
            <a:pPr indent="0" marL="0">
              <a:buNone/>
            </a:pPr>
            <a:r>
              <a:rPr lang="en-US" sz="950" b="1" spc="300" kern="0" dirty="0">
                <a:solidFill>
                  <a:srgbClr val="38D9F0"/>
                </a:solidFill>
                <a:latin typeface="Consolas" pitchFamily="34" charset="0"/>
                <a:ea typeface="Consolas" pitchFamily="34" charset="-122"/>
                <a:cs typeface="Consolas" pitchFamily="34" charset="-120"/>
              </a:rPr>
              <a:t>VAIMĀNIKA ŚĀSTRA</a:t>
            </a:r>
            <a:endParaRPr lang="en-US" sz="950" dirty="0"/>
          </a:p>
        </p:txBody>
      </p:sp>
      <p:sp>
        <p:nvSpPr>
          <p:cNvPr id="46" name="Text 44"/>
          <p:cNvSpPr/>
          <p:nvPr/>
        </p:nvSpPr>
        <p:spPr>
          <a:xfrm>
            <a:off x="8183880" y="5440680"/>
            <a:ext cx="3246120" cy="68580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A 20th-C. text often falsely presented as an ancient engineering manual.</a:t>
            </a:r>
            <a:endParaRPr lang="en-US" sz="1100" dirty="0"/>
          </a:p>
        </p:txBody>
      </p:sp>
      <p:sp>
        <p:nvSpPr>
          <p:cNvPr id="47" name="Text 45"/>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Proponents read literal technology; scholars read cosmological metaphor — the texts themselves never resolve the question.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DOC-007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ORAL TRADITIONS</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GLOBAL TRADITIONS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07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04</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Global Traditions  ·  Americas, Oceania, Africa</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3566160" cy="1783080"/>
          </a:xfrm>
          <a:prstGeom prst="rect">
            <a:avLst/>
          </a:prstGeom>
          <a:solidFill>
            <a:srgbClr val="0F1624"/>
          </a:solidFill>
          <a:ln w="9525">
            <a:solidFill>
              <a:srgbClr val="2B3A55"/>
            </a:solidFill>
            <a:prstDash val="solid"/>
          </a:ln>
        </p:spPr>
      </p:sp>
      <p:sp>
        <p:nvSpPr>
          <p:cNvPr id="25" name="Shape 23"/>
          <p:cNvSpPr/>
          <p:nvPr/>
        </p:nvSpPr>
        <p:spPr>
          <a:xfrm>
            <a:off x="548640" y="2194560"/>
            <a:ext cx="54864" cy="1783080"/>
          </a:xfrm>
          <a:prstGeom prst="rect">
            <a:avLst/>
          </a:prstGeom>
          <a:solidFill>
            <a:srgbClr val="F5B024"/>
          </a:solidFill>
          <a:ln w="12700">
            <a:solidFill>
              <a:srgbClr val="F5B024"/>
            </a:solidFill>
            <a:prstDash val="solid"/>
          </a:ln>
        </p:spPr>
      </p:sp>
      <p:sp>
        <p:nvSpPr>
          <p:cNvPr id="26" name="Text 24"/>
          <p:cNvSpPr/>
          <p:nvPr/>
        </p:nvSpPr>
        <p:spPr>
          <a:xfrm>
            <a:off x="777240" y="2331720"/>
            <a:ext cx="3200400" cy="256032"/>
          </a:xfrm>
          <a:prstGeom prst="rect">
            <a:avLst/>
          </a:prstGeom>
          <a:noFill/>
          <a:ln/>
        </p:spPr>
        <p:txBody>
          <a:bodyPr wrap="square" lIns="0" tIns="0" rIns="0" bIns="0" rtlCol="0" anchor="ctr"/>
          <a:lstStyle/>
          <a:p>
            <a:pPr indent="0" marL="0">
              <a:buNone/>
            </a:pPr>
            <a:r>
              <a:rPr lang="en-US" sz="900" b="1" spc="400" kern="0" dirty="0">
                <a:solidFill>
                  <a:srgbClr val="F5B024"/>
                </a:solidFill>
                <a:latin typeface="Consolas" pitchFamily="34" charset="0"/>
                <a:ea typeface="Consolas" pitchFamily="34" charset="-122"/>
                <a:cs typeface="Consolas" pitchFamily="34" charset="-120"/>
              </a:rPr>
              <a:t>MESOAMERICA</a:t>
            </a:r>
            <a:endParaRPr lang="en-US" sz="900" dirty="0"/>
          </a:p>
        </p:txBody>
      </p:sp>
      <p:sp>
        <p:nvSpPr>
          <p:cNvPr id="27" name="Text 25"/>
          <p:cNvSpPr/>
          <p:nvPr/>
        </p:nvSpPr>
        <p:spPr>
          <a:xfrm>
            <a:off x="777240" y="2587752"/>
            <a:ext cx="32004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Pacal’s Sarcophagus</a:t>
            </a:r>
            <a:endParaRPr lang="en-US" sz="1500" dirty="0"/>
          </a:p>
        </p:txBody>
      </p:sp>
      <p:sp>
        <p:nvSpPr>
          <p:cNvPr id="28" name="Text 26"/>
          <p:cNvSpPr/>
          <p:nvPr/>
        </p:nvSpPr>
        <p:spPr>
          <a:xfrm>
            <a:off x="777240" y="2971800"/>
            <a:ext cx="3200400" cy="256032"/>
          </a:xfrm>
          <a:prstGeom prst="rect">
            <a:avLst/>
          </a:prstGeom>
          <a:noFill/>
          <a:ln/>
        </p:spPr>
        <p:txBody>
          <a:bodyPr wrap="square" lIns="0" tIns="0" rIns="0" bIns="0" rtlCol="0" anchor="ctr"/>
          <a:lstStyle/>
          <a:p>
            <a:pPr indent="0" marL="0">
              <a:buNone/>
            </a:pPr>
            <a:r>
              <a:rPr lang="en-US" sz="850" i="1" dirty="0">
                <a:solidFill>
                  <a:srgbClr val="8A97AD"/>
                </a:solidFill>
                <a:latin typeface="Consolas" pitchFamily="34" charset="0"/>
                <a:ea typeface="Consolas" pitchFamily="34" charset="-122"/>
                <a:cs typeface="Consolas" pitchFamily="34" charset="-120"/>
              </a:rPr>
              <a:t>Palenque, c. 683 CE</a:t>
            </a:r>
            <a:endParaRPr lang="en-US" sz="850" dirty="0"/>
          </a:p>
        </p:txBody>
      </p:sp>
      <p:sp>
        <p:nvSpPr>
          <p:cNvPr id="29" name="Shape 27"/>
          <p:cNvSpPr/>
          <p:nvPr/>
        </p:nvSpPr>
        <p:spPr>
          <a:xfrm>
            <a:off x="777240" y="3273552"/>
            <a:ext cx="3108960" cy="0"/>
          </a:xfrm>
          <a:prstGeom prst="line">
            <a:avLst/>
          </a:prstGeom>
          <a:noFill/>
          <a:ln w="9525">
            <a:solidFill>
              <a:srgbClr val="2B3A55"/>
            </a:solidFill>
            <a:prstDash val="solid"/>
          </a:ln>
        </p:spPr>
      </p:sp>
      <p:sp>
        <p:nvSpPr>
          <p:cNvPr id="30" name="Text 28"/>
          <p:cNvSpPr/>
          <p:nvPr/>
        </p:nvSpPr>
        <p:spPr>
          <a:xfrm>
            <a:off x="777240" y="3337560"/>
            <a:ext cx="3200400" cy="548640"/>
          </a:xfrm>
          <a:prstGeom prst="rect">
            <a:avLst/>
          </a:prstGeom>
          <a:noFill/>
          <a:ln/>
        </p:spPr>
        <p:txBody>
          <a:bodyPr wrap="square" lIns="0" tIns="0" rIns="0" bIns="0" rtlCol="0" anchor="ctr"/>
          <a:lstStyle/>
          <a:p>
            <a:pPr indent="0" marL="0">
              <a:buNone/>
            </a:pPr>
            <a:r>
              <a:rPr lang="en-US" sz="1050" dirty="0">
                <a:solidFill>
                  <a:srgbClr val="8A97AD"/>
                </a:solidFill>
                <a:latin typeface="Calibri" pitchFamily="34" charset="0"/>
                <a:ea typeface="Calibri" pitchFamily="34" charset="-122"/>
                <a:cs typeface="Calibri" pitchFamily="34" charset="-120"/>
              </a:rPr>
              <a:t>Von Däniken read the carved lid as an astronaut at rocket controls. Mayanists read Pacal entering the underworld along the World Tree.</a:t>
            </a:r>
            <a:endParaRPr lang="en-US" sz="1050" dirty="0"/>
          </a:p>
        </p:txBody>
      </p:sp>
      <p:sp>
        <p:nvSpPr>
          <p:cNvPr id="31" name="Shape 29"/>
          <p:cNvSpPr/>
          <p:nvPr/>
        </p:nvSpPr>
        <p:spPr>
          <a:xfrm>
            <a:off x="4297680" y="2194560"/>
            <a:ext cx="3566160" cy="1783080"/>
          </a:xfrm>
          <a:prstGeom prst="rect">
            <a:avLst/>
          </a:prstGeom>
          <a:solidFill>
            <a:srgbClr val="0F1624"/>
          </a:solidFill>
          <a:ln w="9525">
            <a:solidFill>
              <a:srgbClr val="2B3A55"/>
            </a:solidFill>
            <a:prstDash val="solid"/>
          </a:ln>
        </p:spPr>
      </p:sp>
      <p:sp>
        <p:nvSpPr>
          <p:cNvPr id="32" name="Shape 30"/>
          <p:cNvSpPr/>
          <p:nvPr/>
        </p:nvSpPr>
        <p:spPr>
          <a:xfrm>
            <a:off x="4297680" y="2194560"/>
            <a:ext cx="54864" cy="1783080"/>
          </a:xfrm>
          <a:prstGeom prst="rect">
            <a:avLst/>
          </a:prstGeom>
          <a:solidFill>
            <a:srgbClr val="F5B024"/>
          </a:solidFill>
          <a:ln w="12700">
            <a:solidFill>
              <a:srgbClr val="F5B024"/>
            </a:solidFill>
            <a:prstDash val="solid"/>
          </a:ln>
        </p:spPr>
      </p:sp>
      <p:sp>
        <p:nvSpPr>
          <p:cNvPr id="33" name="Text 31"/>
          <p:cNvSpPr/>
          <p:nvPr/>
        </p:nvSpPr>
        <p:spPr>
          <a:xfrm>
            <a:off x="4526280" y="2331720"/>
            <a:ext cx="3200400" cy="256032"/>
          </a:xfrm>
          <a:prstGeom prst="rect">
            <a:avLst/>
          </a:prstGeom>
          <a:noFill/>
          <a:ln/>
        </p:spPr>
        <p:txBody>
          <a:bodyPr wrap="square" lIns="0" tIns="0" rIns="0" bIns="0" rtlCol="0" anchor="ctr"/>
          <a:lstStyle/>
          <a:p>
            <a:pPr indent="0" marL="0">
              <a:buNone/>
            </a:pPr>
            <a:r>
              <a:rPr lang="en-US" sz="900" b="1" spc="400" kern="0" dirty="0">
                <a:solidFill>
                  <a:srgbClr val="F5B024"/>
                </a:solidFill>
                <a:latin typeface="Consolas" pitchFamily="34" charset="0"/>
                <a:ea typeface="Consolas" pitchFamily="34" charset="-122"/>
                <a:cs typeface="Consolas" pitchFamily="34" charset="-120"/>
              </a:rPr>
              <a:t>SOUTH AMERICA</a:t>
            </a:r>
            <a:endParaRPr lang="en-US" sz="900" dirty="0"/>
          </a:p>
        </p:txBody>
      </p:sp>
      <p:sp>
        <p:nvSpPr>
          <p:cNvPr id="34" name="Text 32"/>
          <p:cNvSpPr/>
          <p:nvPr/>
        </p:nvSpPr>
        <p:spPr>
          <a:xfrm>
            <a:off x="4526280" y="2587752"/>
            <a:ext cx="32004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Nazca Lines</a:t>
            </a:r>
            <a:endParaRPr lang="en-US" sz="1500" dirty="0"/>
          </a:p>
        </p:txBody>
      </p:sp>
      <p:sp>
        <p:nvSpPr>
          <p:cNvPr id="35" name="Text 33"/>
          <p:cNvSpPr/>
          <p:nvPr/>
        </p:nvSpPr>
        <p:spPr>
          <a:xfrm>
            <a:off x="4526280" y="2971800"/>
            <a:ext cx="3200400" cy="256032"/>
          </a:xfrm>
          <a:prstGeom prst="rect">
            <a:avLst/>
          </a:prstGeom>
          <a:noFill/>
          <a:ln/>
        </p:spPr>
        <p:txBody>
          <a:bodyPr wrap="square" lIns="0" tIns="0" rIns="0" bIns="0" rtlCol="0" anchor="ctr"/>
          <a:lstStyle/>
          <a:p>
            <a:pPr indent="0" marL="0">
              <a:buNone/>
            </a:pPr>
            <a:r>
              <a:rPr lang="en-US" sz="850" i="1" dirty="0">
                <a:solidFill>
                  <a:srgbClr val="8A97AD"/>
                </a:solidFill>
                <a:latin typeface="Consolas" pitchFamily="34" charset="0"/>
                <a:ea typeface="Consolas" pitchFamily="34" charset="-122"/>
                <a:cs typeface="Consolas" pitchFamily="34" charset="-120"/>
              </a:rPr>
              <a:t>Peru, c. 500 BCE – 500 CE</a:t>
            </a:r>
            <a:endParaRPr lang="en-US" sz="850" dirty="0"/>
          </a:p>
        </p:txBody>
      </p:sp>
      <p:sp>
        <p:nvSpPr>
          <p:cNvPr id="36" name="Shape 34"/>
          <p:cNvSpPr/>
          <p:nvPr/>
        </p:nvSpPr>
        <p:spPr>
          <a:xfrm>
            <a:off x="4526280" y="3273552"/>
            <a:ext cx="3108960" cy="0"/>
          </a:xfrm>
          <a:prstGeom prst="line">
            <a:avLst/>
          </a:prstGeom>
          <a:noFill/>
          <a:ln w="9525">
            <a:solidFill>
              <a:srgbClr val="2B3A55"/>
            </a:solidFill>
            <a:prstDash val="solid"/>
          </a:ln>
        </p:spPr>
      </p:sp>
      <p:sp>
        <p:nvSpPr>
          <p:cNvPr id="37" name="Text 35"/>
          <p:cNvSpPr/>
          <p:nvPr/>
        </p:nvSpPr>
        <p:spPr>
          <a:xfrm>
            <a:off x="4526280" y="3337560"/>
            <a:ext cx="3200400" cy="548640"/>
          </a:xfrm>
          <a:prstGeom prst="rect">
            <a:avLst/>
          </a:prstGeom>
          <a:noFill/>
          <a:ln/>
        </p:spPr>
        <p:txBody>
          <a:bodyPr wrap="square" lIns="0" tIns="0" rIns="0" bIns="0" rtlCol="0" anchor="ctr"/>
          <a:lstStyle/>
          <a:p>
            <a:pPr indent="0" marL="0">
              <a:buNone/>
            </a:pPr>
            <a:r>
              <a:rPr lang="en-US" sz="1050" dirty="0">
                <a:solidFill>
                  <a:srgbClr val="8A97AD"/>
                </a:solidFill>
                <a:latin typeface="Calibri" pitchFamily="34" charset="0"/>
                <a:ea typeface="Calibri" pitchFamily="34" charset="-122"/>
                <a:cs typeface="Calibri" pitchFamily="34" charset="-120"/>
              </a:rPr>
              <a:t>Geoglyphs visible chiefly from altitude. Proponents call them alien runways; archaeologists read them as ritual processional paths.</a:t>
            </a:r>
            <a:endParaRPr lang="en-US" sz="1050" dirty="0"/>
          </a:p>
        </p:txBody>
      </p:sp>
      <p:sp>
        <p:nvSpPr>
          <p:cNvPr id="38" name="Shape 36"/>
          <p:cNvSpPr/>
          <p:nvPr/>
        </p:nvSpPr>
        <p:spPr>
          <a:xfrm>
            <a:off x="8046720" y="2194560"/>
            <a:ext cx="3566160" cy="1783080"/>
          </a:xfrm>
          <a:prstGeom prst="rect">
            <a:avLst/>
          </a:prstGeom>
          <a:solidFill>
            <a:srgbClr val="0F1624"/>
          </a:solidFill>
          <a:ln w="9525">
            <a:solidFill>
              <a:srgbClr val="2B3A55"/>
            </a:solidFill>
            <a:prstDash val="solid"/>
          </a:ln>
        </p:spPr>
      </p:sp>
      <p:sp>
        <p:nvSpPr>
          <p:cNvPr id="39" name="Shape 37"/>
          <p:cNvSpPr/>
          <p:nvPr/>
        </p:nvSpPr>
        <p:spPr>
          <a:xfrm>
            <a:off x="8046720" y="2194560"/>
            <a:ext cx="54864" cy="1783080"/>
          </a:xfrm>
          <a:prstGeom prst="rect">
            <a:avLst/>
          </a:prstGeom>
          <a:solidFill>
            <a:srgbClr val="F5B024"/>
          </a:solidFill>
          <a:ln w="12700">
            <a:solidFill>
              <a:srgbClr val="F5B024"/>
            </a:solidFill>
            <a:prstDash val="solid"/>
          </a:ln>
        </p:spPr>
      </p:sp>
      <p:sp>
        <p:nvSpPr>
          <p:cNvPr id="40" name="Text 38"/>
          <p:cNvSpPr/>
          <p:nvPr/>
        </p:nvSpPr>
        <p:spPr>
          <a:xfrm>
            <a:off x="8275320" y="2331720"/>
            <a:ext cx="3200400" cy="256032"/>
          </a:xfrm>
          <a:prstGeom prst="rect">
            <a:avLst/>
          </a:prstGeom>
          <a:noFill/>
          <a:ln/>
        </p:spPr>
        <p:txBody>
          <a:bodyPr wrap="square" lIns="0" tIns="0" rIns="0" bIns="0" rtlCol="0" anchor="ctr"/>
          <a:lstStyle/>
          <a:p>
            <a:pPr indent="0" marL="0">
              <a:buNone/>
            </a:pPr>
            <a:r>
              <a:rPr lang="en-US" sz="900" b="1" spc="400" kern="0" dirty="0">
                <a:solidFill>
                  <a:srgbClr val="F5B024"/>
                </a:solidFill>
                <a:latin typeface="Consolas" pitchFamily="34" charset="0"/>
                <a:ea typeface="Consolas" pitchFamily="34" charset="-122"/>
                <a:cs typeface="Consolas" pitchFamily="34" charset="-120"/>
              </a:rPr>
              <a:t>NORTH AMERICA</a:t>
            </a:r>
            <a:endParaRPr lang="en-US" sz="900" dirty="0"/>
          </a:p>
        </p:txBody>
      </p:sp>
      <p:sp>
        <p:nvSpPr>
          <p:cNvPr id="41" name="Text 39"/>
          <p:cNvSpPr/>
          <p:nvPr/>
        </p:nvSpPr>
        <p:spPr>
          <a:xfrm>
            <a:off x="8275320" y="2587752"/>
            <a:ext cx="32004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Star People &amp; Kachinas</a:t>
            </a:r>
            <a:endParaRPr lang="en-US" sz="1500" dirty="0"/>
          </a:p>
        </p:txBody>
      </p:sp>
      <p:sp>
        <p:nvSpPr>
          <p:cNvPr id="42" name="Text 40"/>
          <p:cNvSpPr/>
          <p:nvPr/>
        </p:nvSpPr>
        <p:spPr>
          <a:xfrm>
            <a:off x="8275320" y="2971800"/>
            <a:ext cx="3200400" cy="256032"/>
          </a:xfrm>
          <a:prstGeom prst="rect">
            <a:avLst/>
          </a:prstGeom>
          <a:noFill/>
          <a:ln/>
        </p:spPr>
        <p:txBody>
          <a:bodyPr wrap="square" lIns="0" tIns="0" rIns="0" bIns="0" rtlCol="0" anchor="ctr"/>
          <a:lstStyle/>
          <a:p>
            <a:pPr indent="0" marL="0">
              <a:buNone/>
            </a:pPr>
            <a:r>
              <a:rPr lang="en-US" sz="850" i="1" dirty="0">
                <a:solidFill>
                  <a:srgbClr val="8A97AD"/>
                </a:solidFill>
                <a:latin typeface="Consolas" pitchFamily="34" charset="0"/>
                <a:ea typeface="Consolas" pitchFamily="34" charset="-122"/>
                <a:cs typeface="Consolas" pitchFamily="34" charset="-120"/>
              </a:rPr>
              <a:t>Hopi / Zuni oral tradition</a:t>
            </a:r>
            <a:endParaRPr lang="en-US" sz="850" dirty="0"/>
          </a:p>
        </p:txBody>
      </p:sp>
      <p:sp>
        <p:nvSpPr>
          <p:cNvPr id="43" name="Shape 41"/>
          <p:cNvSpPr/>
          <p:nvPr/>
        </p:nvSpPr>
        <p:spPr>
          <a:xfrm>
            <a:off x="8275320" y="3273552"/>
            <a:ext cx="3108960" cy="0"/>
          </a:xfrm>
          <a:prstGeom prst="line">
            <a:avLst/>
          </a:prstGeom>
          <a:noFill/>
          <a:ln w="9525">
            <a:solidFill>
              <a:srgbClr val="2B3A55"/>
            </a:solidFill>
            <a:prstDash val="solid"/>
          </a:ln>
        </p:spPr>
      </p:sp>
      <p:sp>
        <p:nvSpPr>
          <p:cNvPr id="44" name="Text 42"/>
          <p:cNvSpPr/>
          <p:nvPr/>
        </p:nvSpPr>
        <p:spPr>
          <a:xfrm>
            <a:off x="8275320" y="3337560"/>
            <a:ext cx="3200400" cy="548640"/>
          </a:xfrm>
          <a:prstGeom prst="rect">
            <a:avLst/>
          </a:prstGeom>
          <a:noFill/>
          <a:ln/>
        </p:spPr>
        <p:txBody>
          <a:bodyPr wrap="square" lIns="0" tIns="0" rIns="0" bIns="0" rtlCol="0" anchor="ctr"/>
          <a:lstStyle/>
          <a:p>
            <a:pPr indent="0" marL="0">
              <a:buNone/>
            </a:pPr>
            <a:r>
              <a:rPr lang="en-US" sz="1050" dirty="0">
                <a:solidFill>
                  <a:srgbClr val="8A97AD"/>
                </a:solidFill>
                <a:latin typeface="Calibri" pitchFamily="34" charset="0"/>
                <a:ea typeface="Calibri" pitchFamily="34" charset="-122"/>
                <a:cs typeface="Calibri" pitchFamily="34" charset="-120"/>
              </a:rPr>
              <a:t>Petroglyphs of Kachina figures and myths of Quetzalcoatl / Viracocha — bearded sky beings bringing civilization, maize, and writing.</a:t>
            </a:r>
            <a:endParaRPr lang="en-US" sz="1050" dirty="0"/>
          </a:p>
        </p:txBody>
      </p:sp>
      <p:sp>
        <p:nvSpPr>
          <p:cNvPr id="45" name="Shape 43"/>
          <p:cNvSpPr/>
          <p:nvPr/>
        </p:nvSpPr>
        <p:spPr>
          <a:xfrm>
            <a:off x="548640" y="4160520"/>
            <a:ext cx="3566160" cy="1783080"/>
          </a:xfrm>
          <a:prstGeom prst="rect">
            <a:avLst/>
          </a:prstGeom>
          <a:solidFill>
            <a:srgbClr val="0F1624"/>
          </a:solidFill>
          <a:ln w="9525">
            <a:solidFill>
              <a:srgbClr val="2B3A55"/>
            </a:solidFill>
            <a:prstDash val="solid"/>
          </a:ln>
        </p:spPr>
      </p:sp>
      <p:sp>
        <p:nvSpPr>
          <p:cNvPr id="46" name="Shape 44"/>
          <p:cNvSpPr/>
          <p:nvPr/>
        </p:nvSpPr>
        <p:spPr>
          <a:xfrm>
            <a:off x="548640" y="4160520"/>
            <a:ext cx="54864" cy="1783080"/>
          </a:xfrm>
          <a:prstGeom prst="rect">
            <a:avLst/>
          </a:prstGeom>
          <a:solidFill>
            <a:srgbClr val="F5B024"/>
          </a:solidFill>
          <a:ln w="12700">
            <a:solidFill>
              <a:srgbClr val="F5B024"/>
            </a:solidFill>
            <a:prstDash val="solid"/>
          </a:ln>
        </p:spPr>
      </p:sp>
      <p:sp>
        <p:nvSpPr>
          <p:cNvPr id="47" name="Text 45"/>
          <p:cNvSpPr/>
          <p:nvPr/>
        </p:nvSpPr>
        <p:spPr>
          <a:xfrm>
            <a:off x="777240" y="4297680"/>
            <a:ext cx="3200400" cy="256032"/>
          </a:xfrm>
          <a:prstGeom prst="rect">
            <a:avLst/>
          </a:prstGeom>
          <a:noFill/>
          <a:ln/>
        </p:spPr>
        <p:txBody>
          <a:bodyPr wrap="square" lIns="0" tIns="0" rIns="0" bIns="0" rtlCol="0" anchor="ctr"/>
          <a:lstStyle/>
          <a:p>
            <a:pPr indent="0" marL="0">
              <a:buNone/>
            </a:pPr>
            <a:r>
              <a:rPr lang="en-US" sz="900" b="1" spc="400" kern="0" dirty="0">
                <a:solidFill>
                  <a:srgbClr val="F5B024"/>
                </a:solidFill>
                <a:latin typeface="Consolas" pitchFamily="34" charset="0"/>
                <a:ea typeface="Consolas" pitchFamily="34" charset="-122"/>
                <a:cs typeface="Consolas" pitchFamily="34" charset="-120"/>
              </a:rPr>
              <a:t>OCEANIA</a:t>
            </a:r>
            <a:endParaRPr lang="en-US" sz="900" dirty="0"/>
          </a:p>
        </p:txBody>
      </p:sp>
      <p:sp>
        <p:nvSpPr>
          <p:cNvPr id="48" name="Text 46"/>
          <p:cNvSpPr/>
          <p:nvPr/>
        </p:nvSpPr>
        <p:spPr>
          <a:xfrm>
            <a:off x="777240" y="4553712"/>
            <a:ext cx="32004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Wandjina Rock Art</a:t>
            </a:r>
            <a:endParaRPr lang="en-US" sz="1500" dirty="0"/>
          </a:p>
        </p:txBody>
      </p:sp>
      <p:sp>
        <p:nvSpPr>
          <p:cNvPr id="49" name="Text 47"/>
          <p:cNvSpPr/>
          <p:nvPr/>
        </p:nvSpPr>
        <p:spPr>
          <a:xfrm>
            <a:off x="777240" y="4937760"/>
            <a:ext cx="3200400" cy="256032"/>
          </a:xfrm>
          <a:prstGeom prst="rect">
            <a:avLst/>
          </a:prstGeom>
          <a:noFill/>
          <a:ln/>
        </p:spPr>
        <p:txBody>
          <a:bodyPr wrap="square" lIns="0" tIns="0" rIns="0" bIns="0" rtlCol="0" anchor="ctr"/>
          <a:lstStyle/>
          <a:p>
            <a:pPr indent="0" marL="0">
              <a:buNone/>
            </a:pPr>
            <a:r>
              <a:rPr lang="en-US" sz="850" i="1" dirty="0">
                <a:solidFill>
                  <a:srgbClr val="8A97AD"/>
                </a:solidFill>
                <a:latin typeface="Consolas" pitchFamily="34" charset="0"/>
                <a:ea typeface="Consolas" pitchFamily="34" charset="-122"/>
                <a:cs typeface="Consolas" pitchFamily="34" charset="-120"/>
              </a:rPr>
              <a:t>Kimberley, Australia</a:t>
            </a:r>
            <a:endParaRPr lang="en-US" sz="850" dirty="0"/>
          </a:p>
        </p:txBody>
      </p:sp>
      <p:sp>
        <p:nvSpPr>
          <p:cNvPr id="50" name="Shape 48"/>
          <p:cNvSpPr/>
          <p:nvPr/>
        </p:nvSpPr>
        <p:spPr>
          <a:xfrm>
            <a:off x="777240" y="5239512"/>
            <a:ext cx="3108960" cy="0"/>
          </a:xfrm>
          <a:prstGeom prst="line">
            <a:avLst/>
          </a:prstGeom>
          <a:noFill/>
          <a:ln w="9525">
            <a:solidFill>
              <a:srgbClr val="2B3A55"/>
            </a:solidFill>
            <a:prstDash val="solid"/>
          </a:ln>
        </p:spPr>
      </p:sp>
      <p:sp>
        <p:nvSpPr>
          <p:cNvPr id="51" name="Text 49"/>
          <p:cNvSpPr/>
          <p:nvPr/>
        </p:nvSpPr>
        <p:spPr>
          <a:xfrm>
            <a:off x="777240" y="5303520"/>
            <a:ext cx="3200400" cy="548640"/>
          </a:xfrm>
          <a:prstGeom prst="rect">
            <a:avLst/>
          </a:prstGeom>
          <a:noFill/>
          <a:ln/>
        </p:spPr>
        <p:txBody>
          <a:bodyPr wrap="square" lIns="0" tIns="0" rIns="0" bIns="0" rtlCol="0" anchor="ctr"/>
          <a:lstStyle/>
          <a:p>
            <a:pPr indent="0" marL="0">
              <a:buNone/>
            </a:pPr>
            <a:r>
              <a:rPr lang="en-US" sz="1050" dirty="0">
                <a:solidFill>
                  <a:srgbClr val="8A97AD"/>
                </a:solidFill>
                <a:latin typeface="Calibri" pitchFamily="34" charset="0"/>
                <a:ea typeface="Calibri" pitchFamily="34" charset="-122"/>
                <a:cs typeface="Calibri" pitchFamily="34" charset="-120"/>
              </a:rPr>
              <a:t>Large-eyed haloed figures painted across sandstone shelters for thousands of years — reinterpreted in modern UFO literature as space-suited beings.</a:t>
            </a:r>
            <a:endParaRPr lang="en-US" sz="1050" dirty="0"/>
          </a:p>
        </p:txBody>
      </p:sp>
      <p:sp>
        <p:nvSpPr>
          <p:cNvPr id="52" name="Shape 50"/>
          <p:cNvSpPr/>
          <p:nvPr/>
        </p:nvSpPr>
        <p:spPr>
          <a:xfrm>
            <a:off x="4297680" y="4160520"/>
            <a:ext cx="3566160" cy="1783080"/>
          </a:xfrm>
          <a:prstGeom prst="rect">
            <a:avLst/>
          </a:prstGeom>
          <a:solidFill>
            <a:srgbClr val="0F1624"/>
          </a:solidFill>
          <a:ln w="9525">
            <a:solidFill>
              <a:srgbClr val="2B3A55"/>
            </a:solidFill>
            <a:prstDash val="solid"/>
          </a:ln>
        </p:spPr>
      </p:sp>
      <p:sp>
        <p:nvSpPr>
          <p:cNvPr id="53" name="Shape 51"/>
          <p:cNvSpPr/>
          <p:nvPr/>
        </p:nvSpPr>
        <p:spPr>
          <a:xfrm>
            <a:off x="4297680" y="4160520"/>
            <a:ext cx="54864" cy="1783080"/>
          </a:xfrm>
          <a:prstGeom prst="rect">
            <a:avLst/>
          </a:prstGeom>
          <a:solidFill>
            <a:srgbClr val="F5B024"/>
          </a:solidFill>
          <a:ln w="12700">
            <a:solidFill>
              <a:srgbClr val="F5B024"/>
            </a:solidFill>
            <a:prstDash val="solid"/>
          </a:ln>
        </p:spPr>
      </p:sp>
      <p:sp>
        <p:nvSpPr>
          <p:cNvPr id="54" name="Text 52"/>
          <p:cNvSpPr/>
          <p:nvPr/>
        </p:nvSpPr>
        <p:spPr>
          <a:xfrm>
            <a:off x="4526280" y="4297680"/>
            <a:ext cx="3200400" cy="256032"/>
          </a:xfrm>
          <a:prstGeom prst="rect">
            <a:avLst/>
          </a:prstGeom>
          <a:noFill/>
          <a:ln/>
        </p:spPr>
        <p:txBody>
          <a:bodyPr wrap="square" lIns="0" tIns="0" rIns="0" bIns="0" rtlCol="0" anchor="ctr"/>
          <a:lstStyle/>
          <a:p>
            <a:pPr indent="0" marL="0">
              <a:buNone/>
            </a:pPr>
            <a:r>
              <a:rPr lang="en-US" sz="900" b="1" spc="400" kern="0" dirty="0">
                <a:solidFill>
                  <a:srgbClr val="F5B024"/>
                </a:solidFill>
                <a:latin typeface="Consolas" pitchFamily="34" charset="0"/>
                <a:ea typeface="Consolas" pitchFamily="34" charset="-122"/>
                <a:cs typeface="Consolas" pitchFamily="34" charset="-120"/>
              </a:rPr>
              <a:t>EAST ASIA</a:t>
            </a:r>
            <a:endParaRPr lang="en-US" sz="900" dirty="0"/>
          </a:p>
        </p:txBody>
      </p:sp>
      <p:sp>
        <p:nvSpPr>
          <p:cNvPr id="55" name="Text 53"/>
          <p:cNvSpPr/>
          <p:nvPr/>
        </p:nvSpPr>
        <p:spPr>
          <a:xfrm>
            <a:off x="4526280" y="4553712"/>
            <a:ext cx="32004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Dogū &amp; the Yellow Emperor</a:t>
            </a:r>
            <a:endParaRPr lang="en-US" sz="1500" dirty="0"/>
          </a:p>
        </p:txBody>
      </p:sp>
      <p:sp>
        <p:nvSpPr>
          <p:cNvPr id="56" name="Text 54"/>
          <p:cNvSpPr/>
          <p:nvPr/>
        </p:nvSpPr>
        <p:spPr>
          <a:xfrm>
            <a:off x="4526280" y="4937760"/>
            <a:ext cx="3200400" cy="256032"/>
          </a:xfrm>
          <a:prstGeom prst="rect">
            <a:avLst/>
          </a:prstGeom>
          <a:noFill/>
          <a:ln/>
        </p:spPr>
        <p:txBody>
          <a:bodyPr wrap="square" lIns="0" tIns="0" rIns="0" bIns="0" rtlCol="0" anchor="ctr"/>
          <a:lstStyle/>
          <a:p>
            <a:pPr indent="0" marL="0">
              <a:buNone/>
            </a:pPr>
            <a:r>
              <a:rPr lang="en-US" sz="850" i="1" dirty="0">
                <a:solidFill>
                  <a:srgbClr val="8A97AD"/>
                </a:solidFill>
                <a:latin typeface="Consolas" pitchFamily="34" charset="0"/>
                <a:ea typeface="Consolas" pitchFamily="34" charset="-122"/>
                <a:cs typeface="Consolas" pitchFamily="34" charset="-120"/>
              </a:rPr>
              <a:t>Jōmon / Han China</a:t>
            </a:r>
            <a:endParaRPr lang="en-US" sz="850" dirty="0"/>
          </a:p>
        </p:txBody>
      </p:sp>
      <p:sp>
        <p:nvSpPr>
          <p:cNvPr id="57" name="Shape 55"/>
          <p:cNvSpPr/>
          <p:nvPr/>
        </p:nvSpPr>
        <p:spPr>
          <a:xfrm>
            <a:off x="4526280" y="5239512"/>
            <a:ext cx="3108960" cy="0"/>
          </a:xfrm>
          <a:prstGeom prst="line">
            <a:avLst/>
          </a:prstGeom>
          <a:noFill/>
          <a:ln w="9525">
            <a:solidFill>
              <a:srgbClr val="2B3A55"/>
            </a:solidFill>
            <a:prstDash val="solid"/>
          </a:ln>
        </p:spPr>
      </p:sp>
      <p:sp>
        <p:nvSpPr>
          <p:cNvPr id="58" name="Text 56"/>
          <p:cNvSpPr/>
          <p:nvPr/>
        </p:nvSpPr>
        <p:spPr>
          <a:xfrm>
            <a:off x="4526280" y="5303520"/>
            <a:ext cx="3200400" cy="548640"/>
          </a:xfrm>
          <a:prstGeom prst="rect">
            <a:avLst/>
          </a:prstGeom>
          <a:noFill/>
          <a:ln/>
        </p:spPr>
        <p:txBody>
          <a:bodyPr wrap="square" lIns="0" tIns="0" rIns="0" bIns="0" rtlCol="0" anchor="ctr"/>
          <a:lstStyle/>
          <a:p>
            <a:pPr indent="0" marL="0">
              <a:buNone/>
            </a:pPr>
            <a:r>
              <a:rPr lang="en-US" sz="1050" dirty="0">
                <a:solidFill>
                  <a:srgbClr val="8A97AD"/>
                </a:solidFill>
                <a:latin typeface="Calibri" pitchFamily="34" charset="0"/>
                <a:ea typeface="Calibri" pitchFamily="34" charset="-122"/>
                <a:cs typeface="Calibri" pitchFamily="34" charset="-120"/>
              </a:rPr>
              <a:t>Jōmon dogū figurines (c. 14,000–400 BCE) with goggle-eyed helmets. Chinese legend has Huangdi descending from heaven with magical tripods.</a:t>
            </a:r>
            <a:endParaRPr lang="en-US" sz="1050" dirty="0"/>
          </a:p>
        </p:txBody>
      </p:sp>
      <p:sp>
        <p:nvSpPr>
          <p:cNvPr id="59" name="Shape 57"/>
          <p:cNvSpPr/>
          <p:nvPr/>
        </p:nvSpPr>
        <p:spPr>
          <a:xfrm>
            <a:off x="8046720" y="4160520"/>
            <a:ext cx="3566160" cy="1783080"/>
          </a:xfrm>
          <a:prstGeom prst="rect">
            <a:avLst/>
          </a:prstGeom>
          <a:solidFill>
            <a:srgbClr val="0F1624"/>
          </a:solidFill>
          <a:ln w="9525">
            <a:solidFill>
              <a:srgbClr val="2B3A55"/>
            </a:solidFill>
            <a:prstDash val="solid"/>
          </a:ln>
        </p:spPr>
      </p:sp>
      <p:sp>
        <p:nvSpPr>
          <p:cNvPr id="60" name="Shape 58"/>
          <p:cNvSpPr/>
          <p:nvPr/>
        </p:nvSpPr>
        <p:spPr>
          <a:xfrm>
            <a:off x="8046720" y="4160520"/>
            <a:ext cx="54864" cy="1783080"/>
          </a:xfrm>
          <a:prstGeom prst="rect">
            <a:avLst/>
          </a:prstGeom>
          <a:solidFill>
            <a:srgbClr val="F5B024"/>
          </a:solidFill>
          <a:ln w="12700">
            <a:solidFill>
              <a:srgbClr val="F5B024"/>
            </a:solidFill>
            <a:prstDash val="solid"/>
          </a:ln>
        </p:spPr>
      </p:sp>
      <p:sp>
        <p:nvSpPr>
          <p:cNvPr id="61" name="Text 59"/>
          <p:cNvSpPr/>
          <p:nvPr/>
        </p:nvSpPr>
        <p:spPr>
          <a:xfrm>
            <a:off x="8275320" y="4297680"/>
            <a:ext cx="3200400" cy="256032"/>
          </a:xfrm>
          <a:prstGeom prst="rect">
            <a:avLst/>
          </a:prstGeom>
          <a:noFill/>
          <a:ln/>
        </p:spPr>
        <p:txBody>
          <a:bodyPr wrap="square" lIns="0" tIns="0" rIns="0" bIns="0" rtlCol="0" anchor="ctr"/>
          <a:lstStyle/>
          <a:p>
            <a:pPr indent="0" marL="0">
              <a:buNone/>
            </a:pPr>
            <a:r>
              <a:rPr lang="en-US" sz="900" b="1" spc="400" kern="0" dirty="0">
                <a:solidFill>
                  <a:srgbClr val="F5B024"/>
                </a:solidFill>
                <a:latin typeface="Consolas" pitchFamily="34" charset="0"/>
                <a:ea typeface="Consolas" pitchFamily="34" charset="-122"/>
                <a:cs typeface="Consolas" pitchFamily="34" charset="-120"/>
              </a:rPr>
              <a:t>AFRICA</a:t>
            </a:r>
            <a:endParaRPr lang="en-US" sz="900" dirty="0"/>
          </a:p>
        </p:txBody>
      </p:sp>
      <p:sp>
        <p:nvSpPr>
          <p:cNvPr id="62" name="Text 60"/>
          <p:cNvSpPr/>
          <p:nvPr/>
        </p:nvSpPr>
        <p:spPr>
          <a:xfrm>
            <a:off x="8275320" y="4553712"/>
            <a:ext cx="32004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The Nommo of the Dogon</a:t>
            </a:r>
            <a:endParaRPr lang="en-US" sz="1500" dirty="0"/>
          </a:p>
        </p:txBody>
      </p:sp>
      <p:sp>
        <p:nvSpPr>
          <p:cNvPr id="63" name="Text 61"/>
          <p:cNvSpPr/>
          <p:nvPr/>
        </p:nvSpPr>
        <p:spPr>
          <a:xfrm>
            <a:off x="8275320" y="4937760"/>
            <a:ext cx="3200400" cy="256032"/>
          </a:xfrm>
          <a:prstGeom prst="rect">
            <a:avLst/>
          </a:prstGeom>
          <a:noFill/>
          <a:ln/>
        </p:spPr>
        <p:txBody>
          <a:bodyPr wrap="square" lIns="0" tIns="0" rIns="0" bIns="0" rtlCol="0" anchor="ctr"/>
          <a:lstStyle/>
          <a:p>
            <a:pPr indent="0" marL="0">
              <a:buNone/>
            </a:pPr>
            <a:r>
              <a:rPr lang="en-US" sz="850" i="1" dirty="0">
                <a:solidFill>
                  <a:srgbClr val="8A97AD"/>
                </a:solidFill>
                <a:latin typeface="Consolas" pitchFamily="34" charset="0"/>
                <a:ea typeface="Consolas" pitchFamily="34" charset="-122"/>
                <a:cs typeface="Consolas" pitchFamily="34" charset="-120"/>
              </a:rPr>
              <a:t>Mali</a:t>
            </a:r>
            <a:endParaRPr lang="en-US" sz="850" dirty="0"/>
          </a:p>
        </p:txBody>
      </p:sp>
      <p:sp>
        <p:nvSpPr>
          <p:cNvPr id="64" name="Shape 62"/>
          <p:cNvSpPr/>
          <p:nvPr/>
        </p:nvSpPr>
        <p:spPr>
          <a:xfrm>
            <a:off x="8275320" y="5239512"/>
            <a:ext cx="3108960" cy="0"/>
          </a:xfrm>
          <a:prstGeom prst="line">
            <a:avLst/>
          </a:prstGeom>
          <a:noFill/>
          <a:ln w="9525">
            <a:solidFill>
              <a:srgbClr val="2B3A55"/>
            </a:solidFill>
            <a:prstDash val="solid"/>
          </a:ln>
        </p:spPr>
      </p:sp>
      <p:sp>
        <p:nvSpPr>
          <p:cNvPr id="65" name="Text 63"/>
          <p:cNvSpPr/>
          <p:nvPr/>
        </p:nvSpPr>
        <p:spPr>
          <a:xfrm>
            <a:off x="8275320" y="5303520"/>
            <a:ext cx="3200400" cy="548640"/>
          </a:xfrm>
          <a:prstGeom prst="rect">
            <a:avLst/>
          </a:prstGeom>
          <a:noFill/>
          <a:ln/>
        </p:spPr>
        <p:txBody>
          <a:bodyPr wrap="square" lIns="0" tIns="0" rIns="0" bIns="0" rtlCol="0" anchor="ctr"/>
          <a:lstStyle/>
          <a:p>
            <a:pPr indent="0" marL="0">
              <a:buNone/>
            </a:pPr>
            <a:r>
              <a:rPr lang="en-US" sz="1050" dirty="0">
                <a:solidFill>
                  <a:srgbClr val="8A97AD"/>
                </a:solidFill>
                <a:latin typeface="Calibri" pitchFamily="34" charset="0"/>
                <a:ea typeface="Calibri" pitchFamily="34" charset="-122"/>
                <a:cs typeface="Calibri" pitchFamily="34" charset="-120"/>
              </a:rPr>
              <a:t>Dogon oral tradition of amphibious beings from Sirius — with knowledge of Sirius B, invisible to the naked eye. Temple’s 1976 book launched a decades-long debate.</a:t>
            </a:r>
            <a:endParaRPr lang="en-US" sz="1050" dirty="0"/>
          </a:p>
        </p:txBody>
      </p:sp>
      <p:sp>
        <p:nvSpPr>
          <p:cNvPr id="66" name="Text 64"/>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Every major pre-industrial culture preserves accounts of bright beings descending from the sky — the signal is universal, the interpretation is not.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DOC-008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DISPUTED ARTIFACTS</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MEGALITHS &amp; ARTIFACTS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08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05</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Megaliths &amp; Artifacts  ·  Stones and Evidence</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5486400" cy="384048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40480"/>
          </a:xfrm>
          <a:prstGeom prst="rect">
            <a:avLst/>
          </a:prstGeom>
          <a:solidFill>
            <a:srgbClr val="F5B024"/>
          </a:solidFill>
          <a:ln w="12700">
            <a:solidFill>
              <a:srgbClr val="F5B024"/>
            </a:solidFill>
            <a:prstDash val="solid"/>
          </a:ln>
        </p:spPr>
      </p:sp>
      <p:sp>
        <p:nvSpPr>
          <p:cNvPr id="26" name="Text 24"/>
          <p:cNvSpPr/>
          <p:nvPr/>
        </p:nvSpPr>
        <p:spPr>
          <a:xfrm>
            <a:off x="777240" y="2377440"/>
            <a:ext cx="5029200" cy="320040"/>
          </a:xfrm>
          <a:prstGeom prst="rect">
            <a:avLst/>
          </a:prstGeom>
          <a:noFill/>
          <a:ln/>
        </p:spPr>
        <p:txBody>
          <a:bodyPr wrap="square" lIns="0" tIns="0" rIns="0" bIns="0" rtlCol="0" anchor="ctr"/>
          <a:lstStyle/>
          <a:p>
            <a:pPr indent="0" marL="0">
              <a:buNone/>
            </a:pPr>
            <a:r>
              <a:rPr lang="en-US" sz="1100" b="1" spc="600" kern="0" dirty="0">
                <a:solidFill>
                  <a:srgbClr val="F5B024"/>
                </a:solidFill>
                <a:latin typeface="Consolas" pitchFamily="34" charset="0"/>
                <a:ea typeface="Consolas" pitchFamily="34" charset="-122"/>
                <a:cs typeface="Consolas" pitchFamily="34" charset="-120"/>
              </a:rPr>
              <a:t>MEGALITHIC SITES</a:t>
            </a:r>
            <a:endParaRPr lang="en-US" sz="1100" dirty="0"/>
          </a:p>
        </p:txBody>
      </p:sp>
      <p:sp>
        <p:nvSpPr>
          <p:cNvPr id="27" name="Text 25"/>
          <p:cNvSpPr/>
          <p:nvPr/>
        </p:nvSpPr>
        <p:spPr>
          <a:xfrm>
            <a:off x="777240" y="2697480"/>
            <a:ext cx="5029200" cy="502920"/>
          </a:xfrm>
          <a:prstGeom prst="rect">
            <a:avLst/>
          </a:prstGeom>
          <a:noFill/>
          <a:ln/>
        </p:spPr>
        <p:txBody>
          <a:bodyPr wrap="square" lIns="0" tIns="0" rIns="0" bIns="0" rtlCol="0" anchor="ctr"/>
          <a:lstStyle/>
          <a:p>
            <a:pPr indent="0" marL="0">
              <a:buNone/>
            </a:pPr>
            <a:r>
              <a:rPr lang="en-US" sz="2200" dirty="0">
                <a:solidFill>
                  <a:srgbClr val="ECF1F8"/>
                </a:solidFill>
                <a:latin typeface="Arial Black" pitchFamily="34" charset="0"/>
                <a:ea typeface="Arial Black" pitchFamily="34" charset="-122"/>
                <a:cs typeface="Arial Black" pitchFamily="34" charset="-120"/>
              </a:rPr>
              <a:t>Out-of-era Engineering?</a:t>
            </a:r>
            <a:endParaRPr lang="en-US" sz="2200" dirty="0"/>
          </a:p>
        </p:txBody>
      </p:sp>
      <p:sp>
        <p:nvSpPr>
          <p:cNvPr id="28" name="Shape 26"/>
          <p:cNvSpPr/>
          <p:nvPr/>
        </p:nvSpPr>
        <p:spPr>
          <a:xfrm>
            <a:off x="777240" y="3246120"/>
            <a:ext cx="5029200" cy="0"/>
          </a:xfrm>
          <a:prstGeom prst="line">
            <a:avLst/>
          </a:prstGeom>
          <a:noFill/>
          <a:ln w="9525">
            <a:solidFill>
              <a:srgbClr val="2B3A55"/>
            </a:solidFill>
            <a:prstDash val="solid"/>
          </a:ln>
        </p:spPr>
      </p:sp>
      <p:sp>
        <p:nvSpPr>
          <p:cNvPr id="29" name="Text 27"/>
          <p:cNvSpPr/>
          <p:nvPr/>
        </p:nvSpPr>
        <p:spPr>
          <a:xfrm>
            <a:off x="777240" y="3383280"/>
            <a:ext cx="146304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GöBEKLI TEPE</a:t>
            </a:r>
            <a:endParaRPr lang="en-US" sz="1000" dirty="0"/>
          </a:p>
        </p:txBody>
      </p:sp>
      <p:sp>
        <p:nvSpPr>
          <p:cNvPr id="30" name="Text 28"/>
          <p:cNvSpPr/>
          <p:nvPr/>
        </p:nvSpPr>
        <p:spPr>
          <a:xfrm>
            <a:off x="2286000" y="3364992"/>
            <a:ext cx="374904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Turkey, c. 9,500 BCE — T-shaped stones predating agriculture itself.</a:t>
            </a:r>
            <a:endParaRPr lang="en-US" sz="1100" dirty="0"/>
          </a:p>
        </p:txBody>
      </p:sp>
      <p:sp>
        <p:nvSpPr>
          <p:cNvPr id="31" name="Text 29"/>
          <p:cNvSpPr/>
          <p:nvPr/>
        </p:nvSpPr>
        <p:spPr>
          <a:xfrm>
            <a:off x="777240" y="4069080"/>
            <a:ext cx="146304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STONEHENGE</a:t>
            </a:r>
            <a:endParaRPr lang="en-US" sz="1000" dirty="0"/>
          </a:p>
        </p:txBody>
      </p:sp>
      <p:sp>
        <p:nvSpPr>
          <p:cNvPr id="32" name="Text 30"/>
          <p:cNvSpPr/>
          <p:nvPr/>
        </p:nvSpPr>
        <p:spPr>
          <a:xfrm>
            <a:off x="2286000" y="4050792"/>
            <a:ext cx="374904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England, c. 3,000 BCE — bluestones transported 150 miles.</a:t>
            </a:r>
            <a:endParaRPr lang="en-US" sz="1100" dirty="0"/>
          </a:p>
        </p:txBody>
      </p:sp>
      <p:sp>
        <p:nvSpPr>
          <p:cNvPr id="33" name="Text 31"/>
          <p:cNvSpPr/>
          <p:nvPr/>
        </p:nvSpPr>
        <p:spPr>
          <a:xfrm>
            <a:off x="777240" y="4754880"/>
            <a:ext cx="146304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BAALBEK</a:t>
            </a:r>
            <a:endParaRPr lang="en-US" sz="1000" dirty="0"/>
          </a:p>
        </p:txBody>
      </p:sp>
      <p:sp>
        <p:nvSpPr>
          <p:cNvPr id="34" name="Text 32"/>
          <p:cNvSpPr/>
          <p:nvPr/>
        </p:nvSpPr>
        <p:spPr>
          <a:xfrm>
            <a:off x="2286000" y="4736592"/>
            <a:ext cx="374904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Lebanon — the “Stone of the Pregnant Woman,” ~1,000-ton foundation block.</a:t>
            </a:r>
            <a:endParaRPr lang="en-US" sz="1100" dirty="0"/>
          </a:p>
        </p:txBody>
      </p:sp>
      <p:sp>
        <p:nvSpPr>
          <p:cNvPr id="35" name="Text 33"/>
          <p:cNvSpPr/>
          <p:nvPr/>
        </p:nvSpPr>
        <p:spPr>
          <a:xfrm>
            <a:off x="777240" y="5440680"/>
            <a:ext cx="146304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EASTER ISLAND</a:t>
            </a:r>
            <a:endParaRPr lang="en-US" sz="1000" dirty="0"/>
          </a:p>
        </p:txBody>
      </p:sp>
      <p:sp>
        <p:nvSpPr>
          <p:cNvPr id="36" name="Text 34"/>
          <p:cNvSpPr/>
          <p:nvPr/>
        </p:nvSpPr>
        <p:spPr>
          <a:xfrm>
            <a:off x="2286000" y="5422392"/>
            <a:ext cx="374904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Polynesia — 887 moai carved and moved across the island.</a:t>
            </a:r>
            <a:endParaRPr lang="en-US" sz="1100" dirty="0"/>
          </a:p>
        </p:txBody>
      </p:sp>
      <p:sp>
        <p:nvSpPr>
          <p:cNvPr id="37" name="Shape 35"/>
          <p:cNvSpPr/>
          <p:nvPr/>
        </p:nvSpPr>
        <p:spPr>
          <a:xfrm>
            <a:off x="6126480" y="2194560"/>
            <a:ext cx="5486400" cy="3840480"/>
          </a:xfrm>
          <a:prstGeom prst="rect">
            <a:avLst/>
          </a:prstGeom>
          <a:solidFill>
            <a:srgbClr val="0F1624"/>
          </a:solidFill>
          <a:ln w="9525">
            <a:solidFill>
              <a:srgbClr val="2B3A55"/>
            </a:solidFill>
            <a:prstDash val="solid"/>
          </a:ln>
        </p:spPr>
      </p:sp>
      <p:sp>
        <p:nvSpPr>
          <p:cNvPr id="38" name="Shape 36"/>
          <p:cNvSpPr/>
          <p:nvPr/>
        </p:nvSpPr>
        <p:spPr>
          <a:xfrm>
            <a:off x="6126480" y="2194560"/>
            <a:ext cx="54864" cy="3840480"/>
          </a:xfrm>
          <a:prstGeom prst="rect">
            <a:avLst/>
          </a:prstGeom>
          <a:solidFill>
            <a:srgbClr val="38D9F0"/>
          </a:solidFill>
          <a:ln w="12700">
            <a:solidFill>
              <a:srgbClr val="38D9F0"/>
            </a:solidFill>
            <a:prstDash val="solid"/>
          </a:ln>
        </p:spPr>
      </p:sp>
      <p:sp>
        <p:nvSpPr>
          <p:cNvPr id="39" name="Text 37"/>
          <p:cNvSpPr/>
          <p:nvPr/>
        </p:nvSpPr>
        <p:spPr>
          <a:xfrm>
            <a:off x="6355080" y="2377440"/>
            <a:ext cx="5029200" cy="320040"/>
          </a:xfrm>
          <a:prstGeom prst="rect">
            <a:avLst/>
          </a:prstGeom>
          <a:noFill/>
          <a:ln/>
        </p:spPr>
        <p:txBody>
          <a:bodyPr wrap="square" lIns="0" tIns="0" rIns="0" bIns="0" rtlCol="0" anchor="ctr"/>
          <a:lstStyle/>
          <a:p>
            <a:pPr indent="0" marL="0">
              <a:buNone/>
            </a:pPr>
            <a:r>
              <a:rPr lang="en-US" sz="1100" b="1" spc="600" kern="0" dirty="0">
                <a:solidFill>
                  <a:srgbClr val="38D9F0"/>
                </a:solidFill>
                <a:latin typeface="Consolas" pitchFamily="34" charset="0"/>
                <a:ea typeface="Consolas" pitchFamily="34" charset="-122"/>
                <a:cs typeface="Consolas" pitchFamily="34" charset="-120"/>
              </a:rPr>
              <a:t>DISPUTED ARTIFACTS</a:t>
            </a:r>
            <a:endParaRPr lang="en-US" sz="1100" dirty="0"/>
          </a:p>
        </p:txBody>
      </p:sp>
      <p:sp>
        <p:nvSpPr>
          <p:cNvPr id="40" name="Text 38"/>
          <p:cNvSpPr/>
          <p:nvPr/>
        </p:nvSpPr>
        <p:spPr>
          <a:xfrm>
            <a:off x="6355080" y="2697480"/>
            <a:ext cx="5029200" cy="502920"/>
          </a:xfrm>
          <a:prstGeom prst="rect">
            <a:avLst/>
          </a:prstGeom>
          <a:noFill/>
          <a:ln/>
        </p:spPr>
        <p:txBody>
          <a:bodyPr wrap="square" lIns="0" tIns="0" rIns="0" bIns="0" rtlCol="0" anchor="ctr"/>
          <a:lstStyle/>
          <a:p>
            <a:pPr indent="0" marL="0">
              <a:buNone/>
            </a:pPr>
            <a:r>
              <a:rPr lang="en-US" sz="2200" dirty="0">
                <a:solidFill>
                  <a:srgbClr val="ECF1F8"/>
                </a:solidFill>
                <a:latin typeface="Arial Black" pitchFamily="34" charset="0"/>
                <a:ea typeface="Arial Black" pitchFamily="34" charset="-122"/>
                <a:cs typeface="Arial Black" pitchFamily="34" charset="-120"/>
              </a:rPr>
              <a:t>Anachronisms or Coincidences?</a:t>
            </a:r>
            <a:endParaRPr lang="en-US" sz="2200" dirty="0"/>
          </a:p>
        </p:txBody>
      </p:sp>
      <p:sp>
        <p:nvSpPr>
          <p:cNvPr id="41" name="Shape 39"/>
          <p:cNvSpPr/>
          <p:nvPr/>
        </p:nvSpPr>
        <p:spPr>
          <a:xfrm>
            <a:off x="6355080" y="3246120"/>
            <a:ext cx="5029200" cy="0"/>
          </a:xfrm>
          <a:prstGeom prst="line">
            <a:avLst/>
          </a:prstGeom>
          <a:noFill/>
          <a:ln w="9525">
            <a:solidFill>
              <a:srgbClr val="2B3A55"/>
            </a:solidFill>
            <a:prstDash val="solid"/>
          </a:ln>
        </p:spPr>
      </p:sp>
      <p:sp>
        <p:nvSpPr>
          <p:cNvPr id="42" name="Text 40"/>
          <p:cNvSpPr/>
          <p:nvPr/>
        </p:nvSpPr>
        <p:spPr>
          <a:xfrm>
            <a:off x="6355080" y="3383280"/>
            <a:ext cx="1737360" cy="274320"/>
          </a:xfrm>
          <a:prstGeom prst="rect">
            <a:avLst/>
          </a:prstGeom>
          <a:noFill/>
          <a:ln/>
        </p:spPr>
        <p:txBody>
          <a:bodyPr wrap="square" lIns="0" tIns="0" rIns="0" bIns="0" rtlCol="0" anchor="ctr"/>
          <a:lstStyle/>
          <a:p>
            <a:pPr indent="0" marL="0">
              <a:buNone/>
            </a:pPr>
            <a:r>
              <a:rPr lang="en-US" sz="1000" b="1" spc="300" kern="0" dirty="0">
                <a:solidFill>
                  <a:srgbClr val="38D9F0"/>
                </a:solidFill>
                <a:latin typeface="Consolas" pitchFamily="34" charset="0"/>
                <a:ea typeface="Consolas" pitchFamily="34" charset="-122"/>
                <a:cs typeface="Consolas" pitchFamily="34" charset="-120"/>
              </a:rPr>
              <a:t>BAGHDAD BATTERY</a:t>
            </a:r>
            <a:endParaRPr lang="en-US" sz="1000" dirty="0"/>
          </a:p>
        </p:txBody>
      </p:sp>
      <p:sp>
        <p:nvSpPr>
          <p:cNvPr id="43" name="Text 41"/>
          <p:cNvSpPr/>
          <p:nvPr/>
        </p:nvSpPr>
        <p:spPr>
          <a:xfrm>
            <a:off x="8138160" y="3364992"/>
            <a:ext cx="342900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Parthian, c. 250 BCE – 250 CE — ceramic jar holding iron rod inside copper cylinder; proposed early galvanic cell.</a:t>
            </a:r>
            <a:endParaRPr lang="en-US" sz="1100" dirty="0"/>
          </a:p>
        </p:txBody>
      </p:sp>
      <p:sp>
        <p:nvSpPr>
          <p:cNvPr id="44" name="Text 42"/>
          <p:cNvSpPr/>
          <p:nvPr/>
        </p:nvSpPr>
        <p:spPr>
          <a:xfrm>
            <a:off x="6355080" y="4069080"/>
            <a:ext cx="1737360" cy="274320"/>
          </a:xfrm>
          <a:prstGeom prst="rect">
            <a:avLst/>
          </a:prstGeom>
          <a:noFill/>
          <a:ln/>
        </p:spPr>
        <p:txBody>
          <a:bodyPr wrap="square" lIns="0" tIns="0" rIns="0" bIns="0" rtlCol="0" anchor="ctr"/>
          <a:lstStyle/>
          <a:p>
            <a:pPr indent="0" marL="0">
              <a:buNone/>
            </a:pPr>
            <a:r>
              <a:rPr lang="en-US" sz="1000" b="1" spc="300" kern="0" dirty="0">
                <a:solidFill>
                  <a:srgbClr val="38D9F0"/>
                </a:solidFill>
                <a:latin typeface="Consolas" pitchFamily="34" charset="0"/>
                <a:ea typeface="Consolas" pitchFamily="34" charset="-122"/>
                <a:cs typeface="Consolas" pitchFamily="34" charset="-120"/>
              </a:rPr>
              <a:t>QUIMBAYA FIGURES</a:t>
            </a:r>
            <a:endParaRPr lang="en-US" sz="1000" dirty="0"/>
          </a:p>
        </p:txBody>
      </p:sp>
      <p:sp>
        <p:nvSpPr>
          <p:cNvPr id="45" name="Text 43"/>
          <p:cNvSpPr/>
          <p:nvPr/>
        </p:nvSpPr>
        <p:spPr>
          <a:xfrm>
            <a:off x="8138160" y="4050792"/>
            <a:ext cx="342900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Colombia, c. 1,000 CE — gold pendants with delta-wing profiles; ufologists call them “jets,” archaeologists call them stylized fauna.</a:t>
            </a:r>
            <a:endParaRPr lang="en-US" sz="1100" dirty="0"/>
          </a:p>
        </p:txBody>
      </p:sp>
      <p:sp>
        <p:nvSpPr>
          <p:cNvPr id="46" name="Text 44"/>
          <p:cNvSpPr/>
          <p:nvPr/>
        </p:nvSpPr>
        <p:spPr>
          <a:xfrm>
            <a:off x="6355080" y="4754880"/>
            <a:ext cx="1737360" cy="274320"/>
          </a:xfrm>
          <a:prstGeom prst="rect">
            <a:avLst/>
          </a:prstGeom>
          <a:noFill/>
          <a:ln/>
        </p:spPr>
        <p:txBody>
          <a:bodyPr wrap="square" lIns="0" tIns="0" rIns="0" bIns="0" rtlCol="0" anchor="ctr"/>
          <a:lstStyle/>
          <a:p>
            <a:pPr indent="0" marL="0">
              <a:buNone/>
            </a:pPr>
            <a:r>
              <a:rPr lang="en-US" sz="1000" b="1" spc="300" kern="0" dirty="0">
                <a:solidFill>
                  <a:srgbClr val="38D9F0"/>
                </a:solidFill>
                <a:latin typeface="Consolas" pitchFamily="34" charset="0"/>
                <a:ea typeface="Consolas" pitchFamily="34" charset="-122"/>
                <a:cs typeface="Consolas" pitchFamily="34" charset="-120"/>
              </a:rPr>
              <a:t>PARACAS SKULLS</a:t>
            </a:r>
            <a:endParaRPr lang="en-US" sz="1000" dirty="0"/>
          </a:p>
        </p:txBody>
      </p:sp>
      <p:sp>
        <p:nvSpPr>
          <p:cNvPr id="47" name="Text 45"/>
          <p:cNvSpPr/>
          <p:nvPr/>
        </p:nvSpPr>
        <p:spPr>
          <a:xfrm>
            <a:off x="8138160" y="4736592"/>
            <a:ext cx="342900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Peru — elongated crania produced by cranial binding; proponents claim hybridization, DNA studies remain contested.</a:t>
            </a:r>
            <a:endParaRPr lang="en-US" sz="1100" dirty="0"/>
          </a:p>
        </p:txBody>
      </p:sp>
      <p:sp>
        <p:nvSpPr>
          <p:cNvPr id="48" name="Text 46"/>
          <p:cNvSpPr/>
          <p:nvPr/>
        </p:nvSpPr>
        <p:spPr>
          <a:xfrm>
            <a:off x="6355080" y="5440680"/>
            <a:ext cx="1737360" cy="274320"/>
          </a:xfrm>
          <a:prstGeom prst="rect">
            <a:avLst/>
          </a:prstGeom>
          <a:noFill/>
          <a:ln/>
        </p:spPr>
        <p:txBody>
          <a:bodyPr wrap="square" lIns="0" tIns="0" rIns="0" bIns="0" rtlCol="0" anchor="ctr"/>
          <a:lstStyle/>
          <a:p>
            <a:pPr indent="0" marL="0">
              <a:buNone/>
            </a:pPr>
            <a:r>
              <a:rPr lang="en-US" sz="1000" b="1" spc="300" kern="0" dirty="0">
                <a:solidFill>
                  <a:srgbClr val="38D9F0"/>
                </a:solidFill>
                <a:latin typeface="Consolas" pitchFamily="34" charset="0"/>
                <a:ea typeface="Consolas" pitchFamily="34" charset="-122"/>
                <a:cs typeface="Consolas" pitchFamily="34" charset="-120"/>
              </a:rPr>
              <a:t>VAL CAMONICA</a:t>
            </a:r>
            <a:endParaRPr lang="en-US" sz="1000" dirty="0"/>
          </a:p>
        </p:txBody>
      </p:sp>
      <p:sp>
        <p:nvSpPr>
          <p:cNvPr id="49" name="Text 47"/>
          <p:cNvSpPr/>
          <p:nvPr/>
        </p:nvSpPr>
        <p:spPr>
          <a:xfrm>
            <a:off x="8138160" y="5422392"/>
            <a:ext cx="3429000" cy="640080"/>
          </a:xfrm>
          <a:prstGeom prst="rect">
            <a:avLst/>
          </a:prstGeom>
          <a:noFill/>
          <a:ln/>
        </p:spPr>
        <p:txBody>
          <a:bodyPr wrap="square" lIns="0" tIns="0" rIns="0" bIns="0" rtlCol="0" anchor="ctr"/>
          <a:lstStyle/>
          <a:p>
            <a:pPr indent="0" marL="0">
              <a:buNone/>
            </a:pPr>
            <a:r>
              <a:rPr lang="en-US" sz="1100" dirty="0">
                <a:solidFill>
                  <a:srgbClr val="ECF1F8"/>
                </a:solidFill>
                <a:latin typeface="Calibri" pitchFamily="34" charset="0"/>
                <a:ea typeface="Calibri" pitchFamily="34" charset="-122"/>
                <a:cs typeface="Calibri" pitchFamily="34" charset="-120"/>
              </a:rPr>
              <a:t>Italy, c. 10,000–3,000 BCE — petroglyphs of humanoid figures with halos often described as “antennas.”</a:t>
            </a:r>
            <a:endParaRPr lang="en-US" sz="1100" dirty="0"/>
          </a:p>
        </p:txBody>
      </p:sp>
      <p:sp>
        <p:nvSpPr>
          <p:cNvPr id="50" name="Text 48"/>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These claims persist because orthodox archaeology and popular imagination answer the same question differently: how did we become what we are?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DOC-009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ICONOGRAPHY</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RENAISSANCE ART</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09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02</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Renaissance Iconography  ·  Ambiguous Skies</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438912" y="2240280"/>
            <a:ext cx="2697480" cy="3931920"/>
          </a:xfrm>
          <a:prstGeom prst="rect">
            <a:avLst/>
          </a:prstGeom>
          <a:solidFill>
            <a:srgbClr val="0F1624"/>
          </a:solidFill>
          <a:ln w="9525">
            <a:solidFill>
              <a:srgbClr val="2B3A55"/>
            </a:solidFill>
            <a:prstDash val="solid"/>
          </a:ln>
        </p:spPr>
      </p:sp>
      <p:sp>
        <p:nvSpPr>
          <p:cNvPr id="25" name="Shape 23"/>
          <p:cNvSpPr/>
          <p:nvPr/>
        </p:nvSpPr>
        <p:spPr>
          <a:xfrm>
            <a:off x="438912" y="2240280"/>
            <a:ext cx="54864" cy="3931920"/>
          </a:xfrm>
          <a:prstGeom prst="rect">
            <a:avLst/>
          </a:prstGeom>
          <a:solidFill>
            <a:srgbClr val="F5B024"/>
          </a:solidFill>
          <a:ln w="12700">
            <a:solidFill>
              <a:srgbClr val="F5B024"/>
            </a:solidFill>
            <a:prstDash val="solid"/>
          </a:ln>
        </p:spPr>
      </p:sp>
      <p:sp>
        <p:nvSpPr>
          <p:cNvPr id="26" name="Shape 24"/>
          <p:cNvSpPr/>
          <p:nvPr/>
        </p:nvSpPr>
        <p:spPr>
          <a:xfrm>
            <a:off x="667512" y="2514600"/>
            <a:ext cx="2240280" cy="1188720"/>
          </a:xfrm>
          <a:prstGeom prst="rect">
            <a:avLst/>
          </a:prstGeom>
          <a:solidFill>
            <a:srgbClr val="121B2E"/>
          </a:solidFill>
          <a:ln w="9525">
            <a:solidFill>
              <a:srgbClr val="2B3A55"/>
            </a:solidFill>
            <a:prstDash val="solid"/>
          </a:ln>
        </p:spPr>
      </p:sp>
      <p:sp>
        <p:nvSpPr>
          <p:cNvPr id="27" name="Text 25"/>
          <p:cNvSpPr/>
          <p:nvPr/>
        </p:nvSpPr>
        <p:spPr>
          <a:xfrm>
            <a:off x="667512" y="2926080"/>
            <a:ext cx="2240280" cy="365760"/>
          </a:xfrm>
          <a:prstGeom prst="rect">
            <a:avLst/>
          </a:prstGeom>
          <a:noFill/>
          <a:ln/>
        </p:spPr>
        <p:txBody>
          <a:bodyPr wrap="square" lIns="0" tIns="0" rIns="0" bIns="0" rtlCol="0" anchor="ctr"/>
          <a:lstStyle/>
          <a:p>
            <a:pPr algn="ctr" indent="0" marL="0">
              <a:buNone/>
            </a:pPr>
            <a:r>
              <a:rPr lang="en-US" sz="1200" b="1" spc="600" kern="0" dirty="0">
                <a:solidFill>
                  <a:srgbClr val="F5B024"/>
                </a:solidFill>
                <a:latin typeface="Consolas" pitchFamily="34" charset="0"/>
                <a:ea typeface="Consolas" pitchFamily="34" charset="-122"/>
                <a:cs typeface="Consolas" pitchFamily="34" charset="-120"/>
              </a:rPr>
              <a:t>EXHIBIT  01</a:t>
            </a:r>
            <a:endParaRPr lang="en-US" sz="1200" dirty="0"/>
          </a:p>
        </p:txBody>
      </p:sp>
      <p:sp>
        <p:nvSpPr>
          <p:cNvPr id="28" name="Text 26"/>
          <p:cNvSpPr/>
          <p:nvPr/>
        </p:nvSpPr>
        <p:spPr>
          <a:xfrm>
            <a:off x="667512" y="3840480"/>
            <a:ext cx="2331720" cy="731520"/>
          </a:xfrm>
          <a:prstGeom prst="rect">
            <a:avLst/>
          </a:prstGeom>
          <a:noFill/>
          <a:ln/>
        </p:spPr>
        <p:txBody>
          <a:bodyPr wrap="square" lIns="0" tIns="0" rIns="0" bIns="0" rtlCol="0" anchor="ctr"/>
          <a:lstStyle/>
          <a:p>
            <a:pPr indent="0" marL="0">
              <a:buNone/>
            </a:pPr>
            <a:r>
              <a:rPr lang="en-US" sz="1400" dirty="0">
                <a:solidFill>
                  <a:srgbClr val="ECF1F8"/>
                </a:solidFill>
                <a:latin typeface="Arial Black" pitchFamily="34" charset="0"/>
                <a:ea typeface="Arial Black" pitchFamily="34" charset="-122"/>
                <a:cs typeface="Arial Black" pitchFamily="34" charset="-120"/>
              </a:rPr>
              <a:t>The Madonna with Saint Giovannino</a:t>
            </a:r>
            <a:endParaRPr lang="en-US" sz="1400" dirty="0"/>
          </a:p>
        </p:txBody>
      </p:sp>
      <p:sp>
        <p:nvSpPr>
          <p:cNvPr id="29" name="Text 27"/>
          <p:cNvSpPr/>
          <p:nvPr/>
        </p:nvSpPr>
        <p:spPr>
          <a:xfrm>
            <a:off x="667512" y="4572000"/>
            <a:ext cx="2331720" cy="320040"/>
          </a:xfrm>
          <a:prstGeom prst="rect">
            <a:avLst/>
          </a:prstGeom>
          <a:noFill/>
          <a:ln/>
        </p:spPr>
        <p:txBody>
          <a:bodyPr wrap="square" lIns="0" tIns="0" rIns="0" bIns="0" rtlCol="0" anchor="ctr"/>
          <a:lstStyle/>
          <a:p>
            <a:pPr indent="0" marL="0">
              <a:buNone/>
            </a:pPr>
            <a:r>
              <a:rPr lang="en-US" sz="900" i="1" spc="200" kern="0" dirty="0">
                <a:solidFill>
                  <a:srgbClr val="F5B024"/>
                </a:solidFill>
                <a:latin typeface="Consolas" pitchFamily="34" charset="0"/>
                <a:ea typeface="Consolas" pitchFamily="34" charset="-122"/>
                <a:cs typeface="Consolas" pitchFamily="34" charset="-120"/>
              </a:rPr>
              <a:t>Attributed to workshop of Ghirlandaio — 15th c.</a:t>
            </a:r>
            <a:endParaRPr lang="en-US" sz="900" dirty="0"/>
          </a:p>
        </p:txBody>
      </p:sp>
      <p:sp>
        <p:nvSpPr>
          <p:cNvPr id="30" name="Text 28"/>
          <p:cNvSpPr/>
          <p:nvPr/>
        </p:nvSpPr>
        <p:spPr>
          <a:xfrm>
            <a:off x="667512" y="4892040"/>
            <a:ext cx="2331720" cy="114300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A disc-shaped object hovers in the sky behind the Madonna. In the distance, a man shields his eyes as his dog looks upward toward the craft.</a:t>
            </a:r>
            <a:endParaRPr lang="en-US" sz="1150" dirty="0"/>
          </a:p>
        </p:txBody>
      </p:sp>
      <p:sp>
        <p:nvSpPr>
          <p:cNvPr id="31" name="Shape 29"/>
          <p:cNvSpPr/>
          <p:nvPr/>
        </p:nvSpPr>
        <p:spPr>
          <a:xfrm>
            <a:off x="3300984" y="2240280"/>
            <a:ext cx="2697480" cy="3931920"/>
          </a:xfrm>
          <a:prstGeom prst="rect">
            <a:avLst/>
          </a:prstGeom>
          <a:solidFill>
            <a:srgbClr val="0F1624"/>
          </a:solidFill>
          <a:ln w="9525">
            <a:solidFill>
              <a:srgbClr val="2B3A55"/>
            </a:solidFill>
            <a:prstDash val="solid"/>
          </a:ln>
        </p:spPr>
      </p:sp>
      <p:sp>
        <p:nvSpPr>
          <p:cNvPr id="32" name="Shape 30"/>
          <p:cNvSpPr/>
          <p:nvPr/>
        </p:nvSpPr>
        <p:spPr>
          <a:xfrm>
            <a:off x="3300984" y="2240280"/>
            <a:ext cx="54864" cy="3931920"/>
          </a:xfrm>
          <a:prstGeom prst="rect">
            <a:avLst/>
          </a:prstGeom>
          <a:solidFill>
            <a:srgbClr val="F5B024"/>
          </a:solidFill>
          <a:ln w="12700">
            <a:solidFill>
              <a:srgbClr val="F5B024"/>
            </a:solidFill>
            <a:prstDash val="solid"/>
          </a:ln>
        </p:spPr>
      </p:sp>
      <p:sp>
        <p:nvSpPr>
          <p:cNvPr id="33" name="Shape 31"/>
          <p:cNvSpPr/>
          <p:nvPr/>
        </p:nvSpPr>
        <p:spPr>
          <a:xfrm>
            <a:off x="3529584" y="2514600"/>
            <a:ext cx="2240280" cy="1188720"/>
          </a:xfrm>
          <a:prstGeom prst="rect">
            <a:avLst/>
          </a:prstGeom>
          <a:solidFill>
            <a:srgbClr val="121B2E"/>
          </a:solidFill>
          <a:ln w="9525">
            <a:solidFill>
              <a:srgbClr val="2B3A55"/>
            </a:solidFill>
            <a:prstDash val="solid"/>
          </a:ln>
        </p:spPr>
      </p:sp>
      <p:sp>
        <p:nvSpPr>
          <p:cNvPr id="34" name="Text 32"/>
          <p:cNvSpPr/>
          <p:nvPr/>
        </p:nvSpPr>
        <p:spPr>
          <a:xfrm>
            <a:off x="3529584" y="2926080"/>
            <a:ext cx="2240280" cy="365760"/>
          </a:xfrm>
          <a:prstGeom prst="rect">
            <a:avLst/>
          </a:prstGeom>
          <a:noFill/>
          <a:ln/>
        </p:spPr>
        <p:txBody>
          <a:bodyPr wrap="square" lIns="0" tIns="0" rIns="0" bIns="0" rtlCol="0" anchor="ctr"/>
          <a:lstStyle/>
          <a:p>
            <a:pPr algn="ctr" indent="0" marL="0">
              <a:buNone/>
            </a:pPr>
            <a:r>
              <a:rPr lang="en-US" sz="1200" b="1" spc="600" kern="0" dirty="0">
                <a:solidFill>
                  <a:srgbClr val="F5B024"/>
                </a:solidFill>
                <a:latin typeface="Consolas" pitchFamily="34" charset="0"/>
                <a:ea typeface="Consolas" pitchFamily="34" charset="-122"/>
                <a:cs typeface="Consolas" pitchFamily="34" charset="-120"/>
              </a:rPr>
              <a:t>EXHIBIT  02</a:t>
            </a:r>
            <a:endParaRPr lang="en-US" sz="1200" dirty="0"/>
          </a:p>
        </p:txBody>
      </p:sp>
      <p:sp>
        <p:nvSpPr>
          <p:cNvPr id="35" name="Text 33"/>
          <p:cNvSpPr/>
          <p:nvPr/>
        </p:nvSpPr>
        <p:spPr>
          <a:xfrm>
            <a:off x="3529584" y="3840480"/>
            <a:ext cx="2331720" cy="731520"/>
          </a:xfrm>
          <a:prstGeom prst="rect">
            <a:avLst/>
          </a:prstGeom>
          <a:noFill/>
          <a:ln/>
        </p:spPr>
        <p:txBody>
          <a:bodyPr wrap="square" lIns="0" tIns="0" rIns="0" bIns="0" rtlCol="0" anchor="ctr"/>
          <a:lstStyle/>
          <a:p>
            <a:pPr indent="0" marL="0">
              <a:buNone/>
            </a:pPr>
            <a:r>
              <a:rPr lang="en-US" sz="1400" dirty="0">
                <a:solidFill>
                  <a:srgbClr val="ECF1F8"/>
                </a:solidFill>
                <a:latin typeface="Arial Black" pitchFamily="34" charset="0"/>
                <a:ea typeface="Arial Black" pitchFamily="34" charset="-122"/>
                <a:cs typeface="Arial Black" pitchFamily="34" charset="-120"/>
              </a:rPr>
              <a:t>The Baptism of Christ</a:t>
            </a:r>
            <a:endParaRPr lang="en-US" sz="1400" dirty="0"/>
          </a:p>
        </p:txBody>
      </p:sp>
      <p:sp>
        <p:nvSpPr>
          <p:cNvPr id="36" name="Text 34"/>
          <p:cNvSpPr/>
          <p:nvPr/>
        </p:nvSpPr>
        <p:spPr>
          <a:xfrm>
            <a:off x="3529584" y="4572000"/>
            <a:ext cx="2331720" cy="320040"/>
          </a:xfrm>
          <a:prstGeom prst="rect">
            <a:avLst/>
          </a:prstGeom>
          <a:noFill/>
          <a:ln/>
        </p:spPr>
        <p:txBody>
          <a:bodyPr wrap="square" lIns="0" tIns="0" rIns="0" bIns="0" rtlCol="0" anchor="ctr"/>
          <a:lstStyle/>
          <a:p>
            <a:pPr indent="0" marL="0">
              <a:buNone/>
            </a:pPr>
            <a:r>
              <a:rPr lang="en-US" sz="900" i="1" spc="200" kern="0" dirty="0">
                <a:solidFill>
                  <a:srgbClr val="F5B024"/>
                </a:solidFill>
                <a:latin typeface="Consolas" pitchFamily="34" charset="0"/>
                <a:ea typeface="Consolas" pitchFamily="34" charset="-122"/>
                <a:cs typeface="Consolas" pitchFamily="34" charset="-120"/>
              </a:rPr>
              <a:t>Aert De Gelder — 1710</a:t>
            </a:r>
            <a:endParaRPr lang="en-US" sz="900" dirty="0"/>
          </a:p>
        </p:txBody>
      </p:sp>
      <p:sp>
        <p:nvSpPr>
          <p:cNvPr id="37" name="Text 35"/>
          <p:cNvSpPr/>
          <p:nvPr/>
        </p:nvSpPr>
        <p:spPr>
          <a:xfrm>
            <a:off x="3529584" y="4892040"/>
            <a:ext cx="2331720" cy="114300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A disc-shaped object emits four distinct beams of light over the baptism scene. The artist's depiction diverges sharply from earlier iconography of the same event.</a:t>
            </a:r>
            <a:endParaRPr lang="en-US" sz="1150" dirty="0"/>
          </a:p>
        </p:txBody>
      </p:sp>
      <p:sp>
        <p:nvSpPr>
          <p:cNvPr id="38" name="Shape 36"/>
          <p:cNvSpPr/>
          <p:nvPr/>
        </p:nvSpPr>
        <p:spPr>
          <a:xfrm>
            <a:off x="6163056" y="2240280"/>
            <a:ext cx="2697480" cy="3931920"/>
          </a:xfrm>
          <a:prstGeom prst="rect">
            <a:avLst/>
          </a:prstGeom>
          <a:solidFill>
            <a:srgbClr val="0F1624"/>
          </a:solidFill>
          <a:ln w="9525">
            <a:solidFill>
              <a:srgbClr val="2B3A55"/>
            </a:solidFill>
            <a:prstDash val="solid"/>
          </a:ln>
        </p:spPr>
      </p:sp>
      <p:sp>
        <p:nvSpPr>
          <p:cNvPr id="39" name="Shape 37"/>
          <p:cNvSpPr/>
          <p:nvPr/>
        </p:nvSpPr>
        <p:spPr>
          <a:xfrm>
            <a:off x="6163056" y="2240280"/>
            <a:ext cx="54864" cy="3931920"/>
          </a:xfrm>
          <a:prstGeom prst="rect">
            <a:avLst/>
          </a:prstGeom>
          <a:solidFill>
            <a:srgbClr val="F5B024"/>
          </a:solidFill>
          <a:ln w="12700">
            <a:solidFill>
              <a:srgbClr val="F5B024"/>
            </a:solidFill>
            <a:prstDash val="solid"/>
          </a:ln>
        </p:spPr>
      </p:sp>
      <p:sp>
        <p:nvSpPr>
          <p:cNvPr id="40" name="Shape 38"/>
          <p:cNvSpPr/>
          <p:nvPr/>
        </p:nvSpPr>
        <p:spPr>
          <a:xfrm>
            <a:off x="6391656" y="2514600"/>
            <a:ext cx="2240280" cy="1188720"/>
          </a:xfrm>
          <a:prstGeom prst="rect">
            <a:avLst/>
          </a:prstGeom>
          <a:solidFill>
            <a:srgbClr val="121B2E"/>
          </a:solidFill>
          <a:ln w="9525">
            <a:solidFill>
              <a:srgbClr val="2B3A55"/>
            </a:solidFill>
            <a:prstDash val="solid"/>
          </a:ln>
        </p:spPr>
      </p:sp>
      <p:sp>
        <p:nvSpPr>
          <p:cNvPr id="41" name="Text 39"/>
          <p:cNvSpPr/>
          <p:nvPr/>
        </p:nvSpPr>
        <p:spPr>
          <a:xfrm>
            <a:off x="6391656" y="2926080"/>
            <a:ext cx="2240280" cy="365760"/>
          </a:xfrm>
          <a:prstGeom prst="rect">
            <a:avLst/>
          </a:prstGeom>
          <a:noFill/>
          <a:ln/>
        </p:spPr>
        <p:txBody>
          <a:bodyPr wrap="square" lIns="0" tIns="0" rIns="0" bIns="0" rtlCol="0" anchor="ctr"/>
          <a:lstStyle/>
          <a:p>
            <a:pPr algn="ctr" indent="0" marL="0">
              <a:buNone/>
            </a:pPr>
            <a:r>
              <a:rPr lang="en-US" sz="1200" b="1" spc="600" kern="0" dirty="0">
                <a:solidFill>
                  <a:srgbClr val="F5B024"/>
                </a:solidFill>
                <a:latin typeface="Consolas" pitchFamily="34" charset="0"/>
                <a:ea typeface="Consolas" pitchFamily="34" charset="-122"/>
                <a:cs typeface="Consolas" pitchFamily="34" charset="-120"/>
              </a:rPr>
              <a:t>EXHIBIT  03</a:t>
            </a:r>
            <a:endParaRPr lang="en-US" sz="1200" dirty="0"/>
          </a:p>
        </p:txBody>
      </p:sp>
      <p:sp>
        <p:nvSpPr>
          <p:cNvPr id="42" name="Text 40"/>
          <p:cNvSpPr/>
          <p:nvPr/>
        </p:nvSpPr>
        <p:spPr>
          <a:xfrm>
            <a:off x="6391656" y="3840480"/>
            <a:ext cx="2331720" cy="731520"/>
          </a:xfrm>
          <a:prstGeom prst="rect">
            <a:avLst/>
          </a:prstGeom>
          <a:noFill/>
          <a:ln/>
        </p:spPr>
        <p:txBody>
          <a:bodyPr wrap="square" lIns="0" tIns="0" rIns="0" bIns="0" rtlCol="0" anchor="ctr"/>
          <a:lstStyle/>
          <a:p>
            <a:pPr indent="0" marL="0">
              <a:buNone/>
            </a:pPr>
            <a:r>
              <a:rPr lang="en-US" sz="1400" dirty="0">
                <a:solidFill>
                  <a:srgbClr val="ECF1F8"/>
                </a:solidFill>
                <a:latin typeface="Arial Black" pitchFamily="34" charset="0"/>
                <a:ea typeface="Arial Black" pitchFamily="34" charset="-122"/>
                <a:cs typeface="Arial Black" pitchFamily="34" charset="-120"/>
              </a:rPr>
              <a:t>The Annunciation with Saint Emidius</a:t>
            </a:r>
            <a:endParaRPr lang="en-US" sz="1400" dirty="0"/>
          </a:p>
        </p:txBody>
      </p:sp>
      <p:sp>
        <p:nvSpPr>
          <p:cNvPr id="43" name="Text 41"/>
          <p:cNvSpPr/>
          <p:nvPr/>
        </p:nvSpPr>
        <p:spPr>
          <a:xfrm>
            <a:off x="6391656" y="4572000"/>
            <a:ext cx="2331720" cy="320040"/>
          </a:xfrm>
          <a:prstGeom prst="rect">
            <a:avLst/>
          </a:prstGeom>
          <a:noFill/>
          <a:ln/>
        </p:spPr>
        <p:txBody>
          <a:bodyPr wrap="square" lIns="0" tIns="0" rIns="0" bIns="0" rtlCol="0" anchor="ctr"/>
          <a:lstStyle/>
          <a:p>
            <a:pPr indent="0" marL="0">
              <a:buNone/>
            </a:pPr>
            <a:r>
              <a:rPr lang="en-US" sz="900" i="1" spc="200" kern="0" dirty="0">
                <a:solidFill>
                  <a:srgbClr val="F5B024"/>
                </a:solidFill>
                <a:latin typeface="Consolas" pitchFamily="34" charset="0"/>
                <a:ea typeface="Consolas" pitchFamily="34" charset="-122"/>
                <a:cs typeface="Consolas" pitchFamily="34" charset="-120"/>
              </a:rPr>
              <a:t>Carlo Crivelli — 1486</a:t>
            </a:r>
            <a:endParaRPr lang="en-US" sz="900" dirty="0"/>
          </a:p>
        </p:txBody>
      </p:sp>
      <p:sp>
        <p:nvSpPr>
          <p:cNvPr id="44" name="Text 42"/>
          <p:cNvSpPr/>
          <p:nvPr/>
        </p:nvSpPr>
        <p:spPr>
          <a:xfrm>
            <a:off x="6391656" y="4892040"/>
            <a:ext cx="2331720" cy="114300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A beam descends from a round object in the sky, passing through a window to reach the Virgin Mary — an unusually direct mechanical vector for a divine encounter.</a:t>
            </a:r>
            <a:endParaRPr lang="en-US" sz="1150" dirty="0"/>
          </a:p>
        </p:txBody>
      </p:sp>
      <p:sp>
        <p:nvSpPr>
          <p:cNvPr id="45" name="Shape 43"/>
          <p:cNvSpPr/>
          <p:nvPr/>
        </p:nvSpPr>
        <p:spPr>
          <a:xfrm>
            <a:off x="9025128" y="2240280"/>
            <a:ext cx="2697480" cy="3931920"/>
          </a:xfrm>
          <a:prstGeom prst="rect">
            <a:avLst/>
          </a:prstGeom>
          <a:solidFill>
            <a:srgbClr val="0F1624"/>
          </a:solidFill>
          <a:ln w="9525">
            <a:solidFill>
              <a:srgbClr val="2B3A55"/>
            </a:solidFill>
            <a:prstDash val="solid"/>
          </a:ln>
        </p:spPr>
      </p:sp>
      <p:sp>
        <p:nvSpPr>
          <p:cNvPr id="46" name="Shape 44"/>
          <p:cNvSpPr/>
          <p:nvPr/>
        </p:nvSpPr>
        <p:spPr>
          <a:xfrm>
            <a:off x="9025128" y="2240280"/>
            <a:ext cx="54864" cy="3931920"/>
          </a:xfrm>
          <a:prstGeom prst="rect">
            <a:avLst/>
          </a:prstGeom>
          <a:solidFill>
            <a:srgbClr val="F5B024"/>
          </a:solidFill>
          <a:ln w="12700">
            <a:solidFill>
              <a:srgbClr val="F5B024"/>
            </a:solidFill>
            <a:prstDash val="solid"/>
          </a:ln>
        </p:spPr>
      </p:sp>
      <p:sp>
        <p:nvSpPr>
          <p:cNvPr id="47" name="Shape 45"/>
          <p:cNvSpPr/>
          <p:nvPr/>
        </p:nvSpPr>
        <p:spPr>
          <a:xfrm>
            <a:off x="9253728" y="2514600"/>
            <a:ext cx="2240280" cy="1188720"/>
          </a:xfrm>
          <a:prstGeom prst="rect">
            <a:avLst/>
          </a:prstGeom>
          <a:solidFill>
            <a:srgbClr val="121B2E"/>
          </a:solidFill>
          <a:ln w="9525">
            <a:solidFill>
              <a:srgbClr val="2B3A55"/>
            </a:solidFill>
            <a:prstDash val="solid"/>
          </a:ln>
        </p:spPr>
      </p:sp>
      <p:sp>
        <p:nvSpPr>
          <p:cNvPr id="48" name="Text 46"/>
          <p:cNvSpPr/>
          <p:nvPr/>
        </p:nvSpPr>
        <p:spPr>
          <a:xfrm>
            <a:off x="9253728" y="2926080"/>
            <a:ext cx="2240280" cy="365760"/>
          </a:xfrm>
          <a:prstGeom prst="rect">
            <a:avLst/>
          </a:prstGeom>
          <a:noFill/>
          <a:ln/>
        </p:spPr>
        <p:txBody>
          <a:bodyPr wrap="square" lIns="0" tIns="0" rIns="0" bIns="0" rtlCol="0" anchor="ctr"/>
          <a:lstStyle/>
          <a:p>
            <a:pPr algn="ctr" indent="0" marL="0">
              <a:buNone/>
            </a:pPr>
            <a:r>
              <a:rPr lang="en-US" sz="1200" b="1" spc="600" kern="0" dirty="0">
                <a:solidFill>
                  <a:srgbClr val="F5B024"/>
                </a:solidFill>
                <a:latin typeface="Consolas" pitchFamily="34" charset="0"/>
                <a:ea typeface="Consolas" pitchFamily="34" charset="-122"/>
                <a:cs typeface="Consolas" pitchFamily="34" charset="-120"/>
              </a:rPr>
              <a:t>EXHIBIT  04</a:t>
            </a:r>
            <a:endParaRPr lang="en-US" sz="1200" dirty="0"/>
          </a:p>
        </p:txBody>
      </p:sp>
      <p:sp>
        <p:nvSpPr>
          <p:cNvPr id="49" name="Text 47"/>
          <p:cNvSpPr/>
          <p:nvPr/>
        </p:nvSpPr>
        <p:spPr>
          <a:xfrm>
            <a:off x="9253728" y="3840480"/>
            <a:ext cx="2331720" cy="731520"/>
          </a:xfrm>
          <a:prstGeom prst="rect">
            <a:avLst/>
          </a:prstGeom>
          <a:noFill/>
          <a:ln/>
        </p:spPr>
        <p:txBody>
          <a:bodyPr wrap="square" lIns="0" tIns="0" rIns="0" bIns="0" rtlCol="0" anchor="ctr"/>
          <a:lstStyle/>
          <a:p>
            <a:pPr indent="0" marL="0">
              <a:buNone/>
            </a:pPr>
            <a:r>
              <a:rPr lang="en-US" sz="1400" dirty="0">
                <a:solidFill>
                  <a:srgbClr val="ECF1F8"/>
                </a:solidFill>
                <a:latin typeface="Arial Black" pitchFamily="34" charset="0"/>
                <a:ea typeface="Arial Black" pitchFamily="34" charset="-122"/>
                <a:cs typeface="Arial Black" pitchFamily="34" charset="-120"/>
              </a:rPr>
              <a:t>The Miracle of the Snow</a:t>
            </a:r>
            <a:endParaRPr lang="en-US" sz="1400" dirty="0"/>
          </a:p>
        </p:txBody>
      </p:sp>
      <p:sp>
        <p:nvSpPr>
          <p:cNvPr id="50" name="Text 48"/>
          <p:cNvSpPr/>
          <p:nvPr/>
        </p:nvSpPr>
        <p:spPr>
          <a:xfrm>
            <a:off x="9253728" y="4572000"/>
            <a:ext cx="2331720" cy="320040"/>
          </a:xfrm>
          <a:prstGeom prst="rect">
            <a:avLst/>
          </a:prstGeom>
          <a:noFill/>
          <a:ln/>
        </p:spPr>
        <p:txBody>
          <a:bodyPr wrap="square" lIns="0" tIns="0" rIns="0" bIns="0" rtlCol="0" anchor="ctr"/>
          <a:lstStyle/>
          <a:p>
            <a:pPr indent="0" marL="0">
              <a:buNone/>
            </a:pPr>
            <a:r>
              <a:rPr lang="en-US" sz="900" i="1" spc="200" kern="0" dirty="0">
                <a:solidFill>
                  <a:srgbClr val="F5B024"/>
                </a:solidFill>
                <a:latin typeface="Consolas" pitchFamily="34" charset="0"/>
                <a:ea typeface="Consolas" pitchFamily="34" charset="-122"/>
                <a:cs typeface="Consolas" pitchFamily="34" charset="-120"/>
              </a:rPr>
              <a:t>Masolino da Panicale — 15th c.</a:t>
            </a:r>
            <a:endParaRPr lang="en-US" sz="900" dirty="0"/>
          </a:p>
        </p:txBody>
      </p:sp>
      <p:sp>
        <p:nvSpPr>
          <p:cNvPr id="51" name="Text 49"/>
          <p:cNvSpPr/>
          <p:nvPr/>
        </p:nvSpPr>
        <p:spPr>
          <a:xfrm>
            <a:off x="9253728" y="4892040"/>
            <a:ext cx="2331720" cy="114300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A fresco showing a row of lenticular, disc-like cloud forms arrayed above Jesus and Mary, inviting centuries of debate over meteorology versus manifestation.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DOC-010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ORAL TRADITION</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INDIGENOUS ACCOUNTS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10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03</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Indigenous &amp; Native Traditions</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205740" y="2240280"/>
            <a:ext cx="3794760" cy="1783080"/>
          </a:xfrm>
          <a:prstGeom prst="rect">
            <a:avLst/>
          </a:prstGeom>
          <a:solidFill>
            <a:srgbClr val="0F1624"/>
          </a:solidFill>
          <a:ln w="9525">
            <a:solidFill>
              <a:srgbClr val="2B3A55"/>
            </a:solidFill>
            <a:prstDash val="solid"/>
          </a:ln>
        </p:spPr>
      </p:sp>
      <p:sp>
        <p:nvSpPr>
          <p:cNvPr id="25" name="Shape 23"/>
          <p:cNvSpPr/>
          <p:nvPr/>
        </p:nvSpPr>
        <p:spPr>
          <a:xfrm>
            <a:off x="205740" y="2240280"/>
            <a:ext cx="54864" cy="1783080"/>
          </a:xfrm>
          <a:prstGeom prst="rect">
            <a:avLst/>
          </a:prstGeom>
          <a:solidFill>
            <a:srgbClr val="F5B024"/>
          </a:solidFill>
          <a:ln w="12700">
            <a:solidFill>
              <a:srgbClr val="F5B024"/>
            </a:solidFill>
            <a:prstDash val="solid"/>
          </a:ln>
        </p:spPr>
      </p:sp>
      <p:sp>
        <p:nvSpPr>
          <p:cNvPr id="26" name="Text 24"/>
          <p:cNvSpPr/>
          <p:nvPr/>
        </p:nvSpPr>
        <p:spPr>
          <a:xfrm>
            <a:off x="434340" y="2423160"/>
            <a:ext cx="3429000" cy="274320"/>
          </a:xfrm>
          <a:prstGeom prst="rect">
            <a:avLst/>
          </a:prstGeom>
          <a:noFill/>
          <a:ln/>
        </p:spPr>
        <p:txBody>
          <a:bodyPr wrap="square" lIns="0" tIns="0" rIns="0" bIns="0" rtlCol="0" anchor="ctr"/>
          <a:lstStyle/>
          <a:p>
            <a:pPr indent="0" marL="0">
              <a:buNone/>
            </a:pPr>
            <a:r>
              <a:rPr lang="en-US" sz="900" b="1" spc="500" kern="0" dirty="0">
                <a:solidFill>
                  <a:srgbClr val="F5B024"/>
                </a:solidFill>
                <a:latin typeface="Consolas" pitchFamily="34" charset="0"/>
                <a:ea typeface="Consolas" pitchFamily="34" charset="-122"/>
                <a:cs typeface="Consolas" pitchFamily="34" charset="-120"/>
              </a:rPr>
              <a:t>NORTH AMERICA</a:t>
            </a:r>
            <a:endParaRPr lang="en-US" sz="900" dirty="0"/>
          </a:p>
        </p:txBody>
      </p:sp>
      <p:sp>
        <p:nvSpPr>
          <p:cNvPr id="27" name="Text 25"/>
          <p:cNvSpPr/>
          <p:nvPr/>
        </p:nvSpPr>
        <p:spPr>
          <a:xfrm>
            <a:off x="434340" y="2697480"/>
            <a:ext cx="342900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Hopi Tribe</a:t>
            </a:r>
            <a:endParaRPr lang="en-US" sz="1600" dirty="0"/>
          </a:p>
        </p:txBody>
      </p:sp>
      <p:sp>
        <p:nvSpPr>
          <p:cNvPr id="28" name="Text 26"/>
          <p:cNvSpPr/>
          <p:nvPr/>
        </p:nvSpPr>
        <p:spPr>
          <a:xfrm>
            <a:off x="434340" y="3154680"/>
            <a:ext cx="3429000" cy="77724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Legends of the Kachina — spirit beings from the stars — who taught the Hopi agriculture, medicine, and ceremony.</a:t>
            </a:r>
            <a:endParaRPr lang="en-US" sz="1150" dirty="0"/>
          </a:p>
        </p:txBody>
      </p:sp>
      <p:sp>
        <p:nvSpPr>
          <p:cNvPr id="29" name="Shape 27"/>
          <p:cNvSpPr/>
          <p:nvPr/>
        </p:nvSpPr>
        <p:spPr>
          <a:xfrm>
            <a:off x="4183380" y="2240280"/>
            <a:ext cx="3794760" cy="1783080"/>
          </a:xfrm>
          <a:prstGeom prst="rect">
            <a:avLst/>
          </a:prstGeom>
          <a:solidFill>
            <a:srgbClr val="0F1624"/>
          </a:solidFill>
          <a:ln w="9525">
            <a:solidFill>
              <a:srgbClr val="2B3A55"/>
            </a:solidFill>
            <a:prstDash val="solid"/>
          </a:ln>
        </p:spPr>
      </p:sp>
      <p:sp>
        <p:nvSpPr>
          <p:cNvPr id="30" name="Shape 28"/>
          <p:cNvSpPr/>
          <p:nvPr/>
        </p:nvSpPr>
        <p:spPr>
          <a:xfrm>
            <a:off x="4183380" y="2240280"/>
            <a:ext cx="54864" cy="1783080"/>
          </a:xfrm>
          <a:prstGeom prst="rect">
            <a:avLst/>
          </a:prstGeom>
          <a:solidFill>
            <a:srgbClr val="F5B024"/>
          </a:solidFill>
          <a:ln w="12700">
            <a:solidFill>
              <a:srgbClr val="F5B024"/>
            </a:solidFill>
            <a:prstDash val="solid"/>
          </a:ln>
        </p:spPr>
      </p:sp>
      <p:sp>
        <p:nvSpPr>
          <p:cNvPr id="31" name="Text 29"/>
          <p:cNvSpPr/>
          <p:nvPr/>
        </p:nvSpPr>
        <p:spPr>
          <a:xfrm>
            <a:off x="4411980" y="2423160"/>
            <a:ext cx="3429000" cy="274320"/>
          </a:xfrm>
          <a:prstGeom prst="rect">
            <a:avLst/>
          </a:prstGeom>
          <a:noFill/>
          <a:ln/>
        </p:spPr>
        <p:txBody>
          <a:bodyPr wrap="square" lIns="0" tIns="0" rIns="0" bIns="0" rtlCol="0" anchor="ctr"/>
          <a:lstStyle/>
          <a:p>
            <a:pPr indent="0" marL="0">
              <a:buNone/>
            </a:pPr>
            <a:r>
              <a:rPr lang="en-US" sz="900" b="1" spc="500" kern="0" dirty="0">
                <a:solidFill>
                  <a:srgbClr val="F5B024"/>
                </a:solidFill>
                <a:latin typeface="Consolas" pitchFamily="34" charset="0"/>
                <a:ea typeface="Consolas" pitchFamily="34" charset="-122"/>
                <a:cs typeface="Consolas" pitchFamily="34" charset="-120"/>
              </a:rPr>
              <a:t>WEST AFRICA</a:t>
            </a:r>
            <a:endParaRPr lang="en-US" sz="900" dirty="0"/>
          </a:p>
        </p:txBody>
      </p:sp>
      <p:sp>
        <p:nvSpPr>
          <p:cNvPr id="32" name="Text 30"/>
          <p:cNvSpPr/>
          <p:nvPr/>
        </p:nvSpPr>
        <p:spPr>
          <a:xfrm>
            <a:off x="4411980" y="2697480"/>
            <a:ext cx="342900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Dogon of Mali</a:t>
            </a:r>
            <a:endParaRPr lang="en-US" sz="1600" dirty="0"/>
          </a:p>
        </p:txBody>
      </p:sp>
      <p:sp>
        <p:nvSpPr>
          <p:cNvPr id="33" name="Text 31"/>
          <p:cNvSpPr/>
          <p:nvPr/>
        </p:nvSpPr>
        <p:spPr>
          <a:xfrm>
            <a:off x="4411980" y="3154680"/>
            <a:ext cx="3429000" cy="77724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Detailed knowledge of Sirius B attributed to the Nommos, amphibious visitors from the Sirius system. The star was not confirmed by modern astronomy until 1862.</a:t>
            </a:r>
            <a:endParaRPr lang="en-US" sz="1150" dirty="0"/>
          </a:p>
        </p:txBody>
      </p:sp>
      <p:sp>
        <p:nvSpPr>
          <p:cNvPr id="34" name="Shape 32"/>
          <p:cNvSpPr/>
          <p:nvPr/>
        </p:nvSpPr>
        <p:spPr>
          <a:xfrm>
            <a:off x="8161020" y="2240280"/>
            <a:ext cx="3794760" cy="1783080"/>
          </a:xfrm>
          <a:prstGeom prst="rect">
            <a:avLst/>
          </a:prstGeom>
          <a:solidFill>
            <a:srgbClr val="0F1624"/>
          </a:solidFill>
          <a:ln w="9525">
            <a:solidFill>
              <a:srgbClr val="2B3A55"/>
            </a:solidFill>
            <a:prstDash val="solid"/>
          </a:ln>
        </p:spPr>
      </p:sp>
      <p:sp>
        <p:nvSpPr>
          <p:cNvPr id="35" name="Shape 33"/>
          <p:cNvSpPr/>
          <p:nvPr/>
        </p:nvSpPr>
        <p:spPr>
          <a:xfrm>
            <a:off x="8161020" y="2240280"/>
            <a:ext cx="54864" cy="1783080"/>
          </a:xfrm>
          <a:prstGeom prst="rect">
            <a:avLst/>
          </a:prstGeom>
          <a:solidFill>
            <a:srgbClr val="F5B024"/>
          </a:solidFill>
          <a:ln w="12700">
            <a:solidFill>
              <a:srgbClr val="F5B024"/>
            </a:solidFill>
            <a:prstDash val="solid"/>
          </a:ln>
        </p:spPr>
      </p:sp>
      <p:sp>
        <p:nvSpPr>
          <p:cNvPr id="36" name="Text 34"/>
          <p:cNvSpPr/>
          <p:nvPr/>
        </p:nvSpPr>
        <p:spPr>
          <a:xfrm>
            <a:off x="8389620" y="2423160"/>
            <a:ext cx="3429000" cy="274320"/>
          </a:xfrm>
          <a:prstGeom prst="rect">
            <a:avLst/>
          </a:prstGeom>
          <a:noFill/>
          <a:ln/>
        </p:spPr>
        <p:txBody>
          <a:bodyPr wrap="square" lIns="0" tIns="0" rIns="0" bIns="0" rtlCol="0" anchor="ctr"/>
          <a:lstStyle/>
          <a:p>
            <a:pPr indent="0" marL="0">
              <a:buNone/>
            </a:pPr>
            <a:r>
              <a:rPr lang="en-US" sz="900" b="1" spc="500" kern="0" dirty="0">
                <a:solidFill>
                  <a:srgbClr val="F5B024"/>
                </a:solidFill>
                <a:latin typeface="Consolas" pitchFamily="34" charset="0"/>
                <a:ea typeface="Consolas" pitchFamily="34" charset="-122"/>
                <a:cs typeface="Consolas" pitchFamily="34" charset="-120"/>
              </a:rPr>
              <a:t>OCEANIA</a:t>
            </a:r>
            <a:endParaRPr lang="en-US" sz="900" dirty="0"/>
          </a:p>
        </p:txBody>
      </p:sp>
      <p:sp>
        <p:nvSpPr>
          <p:cNvPr id="37" name="Text 35"/>
          <p:cNvSpPr/>
          <p:nvPr/>
        </p:nvSpPr>
        <p:spPr>
          <a:xfrm>
            <a:off x="8389620" y="2697480"/>
            <a:ext cx="342900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Aboriginal Australians</a:t>
            </a:r>
            <a:endParaRPr lang="en-US" sz="1600" dirty="0"/>
          </a:p>
        </p:txBody>
      </p:sp>
      <p:sp>
        <p:nvSpPr>
          <p:cNvPr id="38" name="Text 36"/>
          <p:cNvSpPr/>
          <p:nvPr/>
        </p:nvSpPr>
        <p:spPr>
          <a:xfrm>
            <a:off x="8389620" y="3154680"/>
            <a:ext cx="3429000" cy="77724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Many tribes preserve stories of 'sky beings' woven into creation myths — origin figures descending from the stars to impart language, law, and culture.</a:t>
            </a:r>
            <a:endParaRPr lang="en-US" sz="1150" dirty="0"/>
          </a:p>
        </p:txBody>
      </p:sp>
      <p:sp>
        <p:nvSpPr>
          <p:cNvPr id="39" name="Shape 37"/>
          <p:cNvSpPr/>
          <p:nvPr/>
        </p:nvSpPr>
        <p:spPr>
          <a:xfrm>
            <a:off x="205740" y="4206240"/>
            <a:ext cx="3794760" cy="1783080"/>
          </a:xfrm>
          <a:prstGeom prst="rect">
            <a:avLst/>
          </a:prstGeom>
          <a:solidFill>
            <a:srgbClr val="0F1624"/>
          </a:solidFill>
          <a:ln w="9525">
            <a:solidFill>
              <a:srgbClr val="2B3A55"/>
            </a:solidFill>
            <a:prstDash val="solid"/>
          </a:ln>
        </p:spPr>
      </p:sp>
      <p:sp>
        <p:nvSpPr>
          <p:cNvPr id="40" name="Shape 38"/>
          <p:cNvSpPr/>
          <p:nvPr/>
        </p:nvSpPr>
        <p:spPr>
          <a:xfrm>
            <a:off x="205740" y="4206240"/>
            <a:ext cx="54864" cy="1783080"/>
          </a:xfrm>
          <a:prstGeom prst="rect">
            <a:avLst/>
          </a:prstGeom>
          <a:solidFill>
            <a:srgbClr val="F5B024"/>
          </a:solidFill>
          <a:ln w="12700">
            <a:solidFill>
              <a:srgbClr val="F5B024"/>
            </a:solidFill>
            <a:prstDash val="solid"/>
          </a:ln>
        </p:spPr>
      </p:sp>
      <p:sp>
        <p:nvSpPr>
          <p:cNvPr id="41" name="Text 39"/>
          <p:cNvSpPr/>
          <p:nvPr/>
        </p:nvSpPr>
        <p:spPr>
          <a:xfrm>
            <a:off x="434340" y="4389120"/>
            <a:ext cx="3429000" cy="274320"/>
          </a:xfrm>
          <a:prstGeom prst="rect">
            <a:avLst/>
          </a:prstGeom>
          <a:noFill/>
          <a:ln/>
        </p:spPr>
        <p:txBody>
          <a:bodyPr wrap="square" lIns="0" tIns="0" rIns="0" bIns="0" rtlCol="0" anchor="ctr"/>
          <a:lstStyle/>
          <a:p>
            <a:pPr indent="0" marL="0">
              <a:buNone/>
            </a:pPr>
            <a:r>
              <a:rPr lang="en-US" sz="900" b="1" spc="500" kern="0" dirty="0">
                <a:solidFill>
                  <a:srgbClr val="F5B024"/>
                </a:solidFill>
                <a:latin typeface="Consolas" pitchFamily="34" charset="0"/>
                <a:ea typeface="Consolas" pitchFamily="34" charset="-122"/>
                <a:cs typeface="Consolas" pitchFamily="34" charset="-120"/>
              </a:rPr>
              <a:t>NORTH AMERICA</a:t>
            </a:r>
            <a:endParaRPr lang="en-US" sz="900" dirty="0"/>
          </a:p>
        </p:txBody>
      </p:sp>
      <p:sp>
        <p:nvSpPr>
          <p:cNvPr id="42" name="Text 40"/>
          <p:cNvSpPr/>
          <p:nvPr/>
        </p:nvSpPr>
        <p:spPr>
          <a:xfrm>
            <a:off x="434340" y="4663440"/>
            <a:ext cx="342900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Zuni Tribe</a:t>
            </a:r>
            <a:endParaRPr lang="en-US" sz="1600" dirty="0"/>
          </a:p>
        </p:txBody>
      </p:sp>
      <p:sp>
        <p:nvSpPr>
          <p:cNvPr id="43" name="Text 41"/>
          <p:cNvSpPr/>
          <p:nvPr/>
        </p:nvSpPr>
        <p:spPr>
          <a:xfrm>
            <a:off x="434340" y="5120640"/>
            <a:ext cx="3429000" cy="77724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Oral traditions of the 'Star People,' heavenly visitors who guided the Zuni in their spiritual and ceremonial practices.</a:t>
            </a:r>
            <a:endParaRPr lang="en-US" sz="1150" dirty="0"/>
          </a:p>
        </p:txBody>
      </p:sp>
      <p:sp>
        <p:nvSpPr>
          <p:cNvPr id="44" name="Shape 42"/>
          <p:cNvSpPr/>
          <p:nvPr/>
        </p:nvSpPr>
        <p:spPr>
          <a:xfrm>
            <a:off x="4183380" y="4206240"/>
            <a:ext cx="3794760" cy="1783080"/>
          </a:xfrm>
          <a:prstGeom prst="rect">
            <a:avLst/>
          </a:prstGeom>
          <a:solidFill>
            <a:srgbClr val="0F1624"/>
          </a:solidFill>
          <a:ln w="9525">
            <a:solidFill>
              <a:srgbClr val="2B3A55"/>
            </a:solidFill>
            <a:prstDash val="solid"/>
          </a:ln>
        </p:spPr>
      </p:sp>
      <p:sp>
        <p:nvSpPr>
          <p:cNvPr id="45" name="Shape 43"/>
          <p:cNvSpPr/>
          <p:nvPr/>
        </p:nvSpPr>
        <p:spPr>
          <a:xfrm>
            <a:off x="4183380" y="4206240"/>
            <a:ext cx="54864" cy="1783080"/>
          </a:xfrm>
          <a:prstGeom prst="rect">
            <a:avLst/>
          </a:prstGeom>
          <a:solidFill>
            <a:srgbClr val="F5B024"/>
          </a:solidFill>
          <a:ln w="12700">
            <a:solidFill>
              <a:srgbClr val="F5B024"/>
            </a:solidFill>
            <a:prstDash val="solid"/>
          </a:ln>
        </p:spPr>
      </p:sp>
      <p:sp>
        <p:nvSpPr>
          <p:cNvPr id="46" name="Text 44"/>
          <p:cNvSpPr/>
          <p:nvPr/>
        </p:nvSpPr>
        <p:spPr>
          <a:xfrm>
            <a:off x="4411980" y="4389120"/>
            <a:ext cx="3429000" cy="274320"/>
          </a:xfrm>
          <a:prstGeom prst="rect">
            <a:avLst/>
          </a:prstGeom>
          <a:noFill/>
          <a:ln/>
        </p:spPr>
        <p:txBody>
          <a:bodyPr wrap="square" lIns="0" tIns="0" rIns="0" bIns="0" rtlCol="0" anchor="ctr"/>
          <a:lstStyle/>
          <a:p>
            <a:pPr indent="0" marL="0">
              <a:buNone/>
            </a:pPr>
            <a:r>
              <a:rPr lang="en-US" sz="900" b="1" spc="500" kern="0" dirty="0">
                <a:solidFill>
                  <a:srgbClr val="F5B024"/>
                </a:solidFill>
                <a:latin typeface="Consolas" pitchFamily="34" charset="0"/>
                <a:ea typeface="Consolas" pitchFamily="34" charset="-122"/>
                <a:cs typeface="Consolas" pitchFamily="34" charset="-120"/>
              </a:rPr>
              <a:t>RESEARCH</a:t>
            </a:r>
            <a:endParaRPr lang="en-US" sz="900" dirty="0"/>
          </a:p>
        </p:txBody>
      </p:sp>
      <p:sp>
        <p:nvSpPr>
          <p:cNvPr id="47" name="Text 45"/>
          <p:cNvSpPr/>
          <p:nvPr/>
        </p:nvSpPr>
        <p:spPr>
          <a:xfrm>
            <a:off x="4411980" y="4663440"/>
            <a:ext cx="342900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The Sirius Mystery</a:t>
            </a:r>
            <a:endParaRPr lang="en-US" sz="1600" dirty="0"/>
          </a:p>
        </p:txBody>
      </p:sp>
      <p:sp>
        <p:nvSpPr>
          <p:cNvPr id="48" name="Text 46"/>
          <p:cNvSpPr/>
          <p:nvPr/>
        </p:nvSpPr>
        <p:spPr>
          <a:xfrm>
            <a:off x="4411980" y="5120640"/>
            <a:ext cx="3429000" cy="77724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Robert K. G. Temple's 1976 study of the Dogon–Sirius correspondence, drawing on fieldwork by ethnographers Marcel Griaule and Germaine Dieterlen.</a:t>
            </a:r>
            <a:endParaRPr lang="en-US" sz="1150" dirty="0"/>
          </a:p>
        </p:txBody>
      </p:sp>
      <p:sp>
        <p:nvSpPr>
          <p:cNvPr id="49" name="Shape 47"/>
          <p:cNvSpPr/>
          <p:nvPr/>
        </p:nvSpPr>
        <p:spPr>
          <a:xfrm>
            <a:off x="8161020" y="4206240"/>
            <a:ext cx="3794760" cy="1783080"/>
          </a:xfrm>
          <a:prstGeom prst="rect">
            <a:avLst/>
          </a:prstGeom>
          <a:solidFill>
            <a:srgbClr val="0F1624"/>
          </a:solidFill>
          <a:ln w="9525">
            <a:solidFill>
              <a:srgbClr val="2B3A55"/>
            </a:solidFill>
            <a:prstDash val="solid"/>
          </a:ln>
        </p:spPr>
      </p:sp>
      <p:sp>
        <p:nvSpPr>
          <p:cNvPr id="50" name="Shape 48"/>
          <p:cNvSpPr/>
          <p:nvPr/>
        </p:nvSpPr>
        <p:spPr>
          <a:xfrm>
            <a:off x="8161020" y="4206240"/>
            <a:ext cx="54864" cy="1783080"/>
          </a:xfrm>
          <a:prstGeom prst="rect">
            <a:avLst/>
          </a:prstGeom>
          <a:solidFill>
            <a:srgbClr val="F5B024"/>
          </a:solidFill>
          <a:ln w="12700">
            <a:solidFill>
              <a:srgbClr val="F5B024"/>
            </a:solidFill>
            <a:prstDash val="solid"/>
          </a:ln>
        </p:spPr>
      </p:sp>
      <p:sp>
        <p:nvSpPr>
          <p:cNvPr id="51" name="Text 49"/>
          <p:cNvSpPr/>
          <p:nvPr/>
        </p:nvSpPr>
        <p:spPr>
          <a:xfrm>
            <a:off x="8389620" y="4389120"/>
            <a:ext cx="3429000" cy="274320"/>
          </a:xfrm>
          <a:prstGeom prst="rect">
            <a:avLst/>
          </a:prstGeom>
          <a:noFill/>
          <a:ln/>
        </p:spPr>
        <p:txBody>
          <a:bodyPr wrap="square" lIns="0" tIns="0" rIns="0" bIns="0" rtlCol="0" anchor="ctr"/>
          <a:lstStyle/>
          <a:p>
            <a:pPr indent="0" marL="0">
              <a:buNone/>
            </a:pPr>
            <a:r>
              <a:rPr lang="en-US" sz="900" b="1" spc="500" kern="0" dirty="0">
                <a:solidFill>
                  <a:srgbClr val="F5B024"/>
                </a:solidFill>
                <a:latin typeface="Consolas" pitchFamily="34" charset="0"/>
                <a:ea typeface="Consolas" pitchFamily="34" charset="-122"/>
                <a:cs typeface="Consolas" pitchFamily="34" charset="-120"/>
              </a:rPr>
              <a:t>CHRONOLOGY</a:t>
            </a:r>
            <a:endParaRPr lang="en-US" sz="900" dirty="0"/>
          </a:p>
        </p:txBody>
      </p:sp>
      <p:sp>
        <p:nvSpPr>
          <p:cNvPr id="52" name="Text 50"/>
          <p:cNvSpPr/>
          <p:nvPr/>
        </p:nvSpPr>
        <p:spPr>
          <a:xfrm>
            <a:off x="8389620" y="4663440"/>
            <a:ext cx="342900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Sirius Knowledge</a:t>
            </a:r>
            <a:endParaRPr lang="en-US" sz="1600" dirty="0"/>
          </a:p>
        </p:txBody>
      </p:sp>
      <p:sp>
        <p:nvSpPr>
          <p:cNvPr id="53" name="Text 51"/>
          <p:cNvSpPr/>
          <p:nvPr/>
        </p:nvSpPr>
        <p:spPr>
          <a:xfrm>
            <a:off x="8389620" y="5120640"/>
            <a:ext cx="3429000" cy="77724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Dogon astronomical understanding of the Sirius system reportedly dates to at least 3200 BC — millennia before the telescopic confirmation of Sirius B.</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DOC-011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MYTHOLOGY</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KNOWLEDGE FROM THE HEAVENS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11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04</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Knowledge from the Heavens  ·  Part I</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297180" y="2240280"/>
            <a:ext cx="2788920" cy="1783080"/>
          </a:xfrm>
          <a:prstGeom prst="rect">
            <a:avLst/>
          </a:prstGeom>
          <a:solidFill>
            <a:srgbClr val="0F1624"/>
          </a:solidFill>
          <a:ln w="9525">
            <a:solidFill>
              <a:srgbClr val="2B3A55"/>
            </a:solidFill>
            <a:prstDash val="solid"/>
          </a:ln>
        </p:spPr>
      </p:sp>
      <p:sp>
        <p:nvSpPr>
          <p:cNvPr id="25" name="Shape 23"/>
          <p:cNvSpPr/>
          <p:nvPr/>
        </p:nvSpPr>
        <p:spPr>
          <a:xfrm>
            <a:off x="297180" y="2240280"/>
            <a:ext cx="54864" cy="1783080"/>
          </a:xfrm>
          <a:prstGeom prst="rect">
            <a:avLst/>
          </a:prstGeom>
          <a:solidFill>
            <a:srgbClr val="F5B024"/>
          </a:solidFill>
          <a:ln w="12700">
            <a:solidFill>
              <a:srgbClr val="F5B024"/>
            </a:solidFill>
            <a:prstDash val="solid"/>
          </a:ln>
        </p:spPr>
      </p:sp>
      <p:sp>
        <p:nvSpPr>
          <p:cNvPr id="26" name="Text 24"/>
          <p:cNvSpPr/>
          <p:nvPr/>
        </p:nvSpPr>
        <p:spPr>
          <a:xfrm>
            <a:off x="498348" y="2423160"/>
            <a:ext cx="2423160" cy="365760"/>
          </a:xfrm>
          <a:prstGeom prst="rect">
            <a:avLst/>
          </a:prstGeom>
          <a:noFill/>
          <a:ln/>
        </p:spPr>
        <p:txBody>
          <a:bodyPr wrap="square" lIns="0" tIns="0" rIns="0" bIns="0" rtlCol="0" anchor="ctr"/>
          <a:lstStyle/>
          <a:p>
            <a:pPr indent="0" marL="0">
              <a:buNone/>
            </a:pPr>
            <a:r>
              <a:rPr lang="en-US" sz="1400" spc="300" kern="0" dirty="0">
                <a:solidFill>
                  <a:srgbClr val="F5B024"/>
                </a:solidFill>
                <a:latin typeface="Arial Black" pitchFamily="34" charset="0"/>
                <a:ea typeface="Arial Black" pitchFamily="34" charset="-122"/>
                <a:cs typeface="Arial Black" pitchFamily="34" charset="-120"/>
              </a:rPr>
              <a:t>SUMERIANS</a:t>
            </a:r>
            <a:endParaRPr lang="en-US" sz="1400" dirty="0"/>
          </a:p>
        </p:txBody>
      </p:sp>
      <p:sp>
        <p:nvSpPr>
          <p:cNvPr id="27" name="Shape 25"/>
          <p:cNvSpPr/>
          <p:nvPr/>
        </p:nvSpPr>
        <p:spPr>
          <a:xfrm>
            <a:off x="498348" y="2807208"/>
            <a:ext cx="457200" cy="0"/>
          </a:xfrm>
          <a:prstGeom prst="line">
            <a:avLst/>
          </a:prstGeom>
          <a:noFill/>
          <a:ln w="12700">
            <a:solidFill>
              <a:srgbClr val="2B3A55"/>
            </a:solidFill>
            <a:prstDash val="solid"/>
          </a:ln>
        </p:spPr>
      </p:sp>
      <p:sp>
        <p:nvSpPr>
          <p:cNvPr id="28" name="Text 26"/>
          <p:cNvSpPr/>
          <p:nvPr/>
        </p:nvSpPr>
        <p:spPr>
          <a:xfrm>
            <a:off x="498348" y="2898648"/>
            <a:ext cx="2423160" cy="1033272"/>
          </a:xfrm>
          <a:prstGeom prst="rect">
            <a:avLst/>
          </a:prstGeom>
          <a:noFill/>
          <a:ln/>
        </p:spPr>
        <p:txBody>
          <a:bodyPr wrap="square" lIns="0" tIns="0" rIns="0" bIns="0" rtlCol="0" anchor="t"/>
          <a:lstStyle/>
          <a:p>
            <a:pPr indent="0" marL="0">
              <a:buNone/>
            </a:pPr>
            <a:r>
              <a:rPr lang="en-US" sz="1100" dirty="0">
                <a:solidFill>
                  <a:srgbClr val="ECF1F8"/>
                </a:solidFill>
                <a:latin typeface="Calibri" pitchFamily="34" charset="0"/>
                <a:ea typeface="Calibri" pitchFamily="34" charset="-122"/>
                <a:cs typeface="Calibri" pitchFamily="34" charset="-120"/>
              </a:rPr>
              <a:t>The Anunnaki descended from the sky to teach writing, agriculture, and statecraft — foundational skills of the earliest known civilization.</a:t>
            </a:r>
            <a:endParaRPr lang="en-US" sz="1100" dirty="0"/>
          </a:p>
        </p:txBody>
      </p:sp>
      <p:sp>
        <p:nvSpPr>
          <p:cNvPr id="29" name="Shape 27"/>
          <p:cNvSpPr/>
          <p:nvPr/>
        </p:nvSpPr>
        <p:spPr>
          <a:xfrm>
            <a:off x="3223260" y="2240280"/>
            <a:ext cx="2788920" cy="1783080"/>
          </a:xfrm>
          <a:prstGeom prst="rect">
            <a:avLst/>
          </a:prstGeom>
          <a:solidFill>
            <a:srgbClr val="0F1624"/>
          </a:solidFill>
          <a:ln w="9525">
            <a:solidFill>
              <a:srgbClr val="2B3A55"/>
            </a:solidFill>
            <a:prstDash val="solid"/>
          </a:ln>
        </p:spPr>
      </p:sp>
      <p:sp>
        <p:nvSpPr>
          <p:cNvPr id="30" name="Shape 28"/>
          <p:cNvSpPr/>
          <p:nvPr/>
        </p:nvSpPr>
        <p:spPr>
          <a:xfrm>
            <a:off x="3223260" y="2240280"/>
            <a:ext cx="54864" cy="1783080"/>
          </a:xfrm>
          <a:prstGeom prst="rect">
            <a:avLst/>
          </a:prstGeom>
          <a:solidFill>
            <a:srgbClr val="F5B024"/>
          </a:solidFill>
          <a:ln w="12700">
            <a:solidFill>
              <a:srgbClr val="F5B024"/>
            </a:solidFill>
            <a:prstDash val="solid"/>
          </a:ln>
        </p:spPr>
      </p:sp>
      <p:sp>
        <p:nvSpPr>
          <p:cNvPr id="31" name="Text 29"/>
          <p:cNvSpPr/>
          <p:nvPr/>
        </p:nvSpPr>
        <p:spPr>
          <a:xfrm>
            <a:off x="3424428" y="2423160"/>
            <a:ext cx="2423160" cy="365760"/>
          </a:xfrm>
          <a:prstGeom prst="rect">
            <a:avLst/>
          </a:prstGeom>
          <a:noFill/>
          <a:ln/>
        </p:spPr>
        <p:txBody>
          <a:bodyPr wrap="square" lIns="0" tIns="0" rIns="0" bIns="0" rtlCol="0" anchor="ctr"/>
          <a:lstStyle/>
          <a:p>
            <a:pPr indent="0" marL="0">
              <a:buNone/>
            </a:pPr>
            <a:r>
              <a:rPr lang="en-US" sz="1400" spc="300" kern="0" dirty="0">
                <a:solidFill>
                  <a:srgbClr val="F5B024"/>
                </a:solidFill>
                <a:latin typeface="Arial Black" pitchFamily="34" charset="0"/>
                <a:ea typeface="Arial Black" pitchFamily="34" charset="-122"/>
                <a:cs typeface="Arial Black" pitchFamily="34" charset="-120"/>
              </a:rPr>
              <a:t>BABYLONIANS</a:t>
            </a:r>
            <a:endParaRPr lang="en-US" sz="1400" dirty="0"/>
          </a:p>
        </p:txBody>
      </p:sp>
      <p:sp>
        <p:nvSpPr>
          <p:cNvPr id="32" name="Shape 30"/>
          <p:cNvSpPr/>
          <p:nvPr/>
        </p:nvSpPr>
        <p:spPr>
          <a:xfrm>
            <a:off x="3424428" y="2807208"/>
            <a:ext cx="457200" cy="0"/>
          </a:xfrm>
          <a:prstGeom prst="line">
            <a:avLst/>
          </a:prstGeom>
          <a:noFill/>
          <a:ln w="12700">
            <a:solidFill>
              <a:srgbClr val="2B3A55"/>
            </a:solidFill>
            <a:prstDash val="solid"/>
          </a:ln>
        </p:spPr>
      </p:sp>
      <p:sp>
        <p:nvSpPr>
          <p:cNvPr id="33" name="Text 31"/>
          <p:cNvSpPr/>
          <p:nvPr/>
        </p:nvSpPr>
        <p:spPr>
          <a:xfrm>
            <a:off x="3424428" y="2898648"/>
            <a:ext cx="2423160" cy="1033272"/>
          </a:xfrm>
          <a:prstGeom prst="rect">
            <a:avLst/>
          </a:prstGeom>
          <a:noFill/>
          <a:ln/>
        </p:spPr>
        <p:txBody>
          <a:bodyPr wrap="square" lIns="0" tIns="0" rIns="0" bIns="0" rtlCol="0" anchor="t"/>
          <a:lstStyle/>
          <a:p>
            <a:pPr indent="0" marL="0">
              <a:buNone/>
            </a:pPr>
            <a:r>
              <a:rPr lang="en-US" sz="1100" dirty="0">
                <a:solidFill>
                  <a:srgbClr val="ECF1F8"/>
                </a:solidFill>
                <a:latin typeface="Calibri" pitchFamily="34" charset="0"/>
                <a:ea typeface="Calibri" pitchFamily="34" charset="-122"/>
                <a:cs typeface="Calibri" pitchFamily="34" charset="-120"/>
              </a:rPr>
              <a:t>Extraordinarily detailed star catalogs, attributed in some traditions to celestial visitors sharing their knowledge of the night sky in remote antiquity.</a:t>
            </a:r>
            <a:endParaRPr lang="en-US" sz="1100" dirty="0"/>
          </a:p>
        </p:txBody>
      </p:sp>
      <p:sp>
        <p:nvSpPr>
          <p:cNvPr id="34" name="Shape 32"/>
          <p:cNvSpPr/>
          <p:nvPr/>
        </p:nvSpPr>
        <p:spPr>
          <a:xfrm>
            <a:off x="6149340" y="2240280"/>
            <a:ext cx="2788920" cy="1783080"/>
          </a:xfrm>
          <a:prstGeom prst="rect">
            <a:avLst/>
          </a:prstGeom>
          <a:solidFill>
            <a:srgbClr val="0F1624"/>
          </a:solidFill>
          <a:ln w="9525">
            <a:solidFill>
              <a:srgbClr val="2B3A55"/>
            </a:solidFill>
            <a:prstDash val="solid"/>
          </a:ln>
        </p:spPr>
      </p:sp>
      <p:sp>
        <p:nvSpPr>
          <p:cNvPr id="35" name="Shape 33"/>
          <p:cNvSpPr/>
          <p:nvPr/>
        </p:nvSpPr>
        <p:spPr>
          <a:xfrm>
            <a:off x="6149340" y="2240280"/>
            <a:ext cx="54864" cy="1783080"/>
          </a:xfrm>
          <a:prstGeom prst="rect">
            <a:avLst/>
          </a:prstGeom>
          <a:solidFill>
            <a:srgbClr val="F5B024"/>
          </a:solidFill>
          <a:ln w="12700">
            <a:solidFill>
              <a:srgbClr val="F5B024"/>
            </a:solidFill>
            <a:prstDash val="solid"/>
          </a:ln>
        </p:spPr>
      </p:sp>
      <p:sp>
        <p:nvSpPr>
          <p:cNvPr id="36" name="Text 34"/>
          <p:cNvSpPr/>
          <p:nvPr/>
        </p:nvSpPr>
        <p:spPr>
          <a:xfrm>
            <a:off x="6350508" y="2423160"/>
            <a:ext cx="2423160" cy="365760"/>
          </a:xfrm>
          <a:prstGeom prst="rect">
            <a:avLst/>
          </a:prstGeom>
          <a:noFill/>
          <a:ln/>
        </p:spPr>
        <p:txBody>
          <a:bodyPr wrap="square" lIns="0" tIns="0" rIns="0" bIns="0" rtlCol="0" anchor="ctr"/>
          <a:lstStyle/>
          <a:p>
            <a:pPr indent="0" marL="0">
              <a:buNone/>
            </a:pPr>
            <a:r>
              <a:rPr lang="en-US" sz="1400" spc="300" kern="0" dirty="0">
                <a:solidFill>
                  <a:srgbClr val="F5B024"/>
                </a:solidFill>
                <a:latin typeface="Arial Black" pitchFamily="34" charset="0"/>
                <a:ea typeface="Arial Black" pitchFamily="34" charset="-122"/>
                <a:cs typeface="Arial Black" pitchFamily="34" charset="-120"/>
              </a:rPr>
              <a:t>EGYPTIANS</a:t>
            </a:r>
            <a:endParaRPr lang="en-US" sz="1400" dirty="0"/>
          </a:p>
        </p:txBody>
      </p:sp>
      <p:sp>
        <p:nvSpPr>
          <p:cNvPr id="37" name="Shape 35"/>
          <p:cNvSpPr/>
          <p:nvPr/>
        </p:nvSpPr>
        <p:spPr>
          <a:xfrm>
            <a:off x="6350508" y="2807208"/>
            <a:ext cx="457200" cy="0"/>
          </a:xfrm>
          <a:prstGeom prst="line">
            <a:avLst/>
          </a:prstGeom>
          <a:noFill/>
          <a:ln w="12700">
            <a:solidFill>
              <a:srgbClr val="2B3A55"/>
            </a:solidFill>
            <a:prstDash val="solid"/>
          </a:ln>
        </p:spPr>
      </p:sp>
      <p:sp>
        <p:nvSpPr>
          <p:cNvPr id="38" name="Text 36"/>
          <p:cNvSpPr/>
          <p:nvPr/>
        </p:nvSpPr>
        <p:spPr>
          <a:xfrm>
            <a:off x="6350508" y="2898648"/>
            <a:ext cx="2423160" cy="1033272"/>
          </a:xfrm>
          <a:prstGeom prst="rect">
            <a:avLst/>
          </a:prstGeom>
          <a:noFill/>
          <a:ln/>
        </p:spPr>
        <p:txBody>
          <a:bodyPr wrap="square" lIns="0" tIns="0" rIns="0" bIns="0" rtlCol="0" anchor="t"/>
          <a:lstStyle/>
          <a:p>
            <a:pPr indent="0" marL="0">
              <a:buNone/>
            </a:pPr>
            <a:r>
              <a:rPr lang="en-US" sz="1100" dirty="0">
                <a:solidFill>
                  <a:srgbClr val="ECF1F8"/>
                </a:solidFill>
                <a:latin typeface="Calibri" pitchFamily="34" charset="0"/>
                <a:ea typeface="Calibri" pitchFamily="34" charset="-122"/>
                <a:cs typeface="Calibri" pitchFamily="34" charset="-120"/>
              </a:rPr>
              <a:t>Gods such as Ra and Osiris were said to have come from the stars. Pyramids and temples were understood as manifestations of divine knowledge.</a:t>
            </a:r>
            <a:endParaRPr lang="en-US" sz="1100" dirty="0"/>
          </a:p>
        </p:txBody>
      </p:sp>
      <p:sp>
        <p:nvSpPr>
          <p:cNvPr id="39" name="Shape 37"/>
          <p:cNvSpPr/>
          <p:nvPr/>
        </p:nvSpPr>
        <p:spPr>
          <a:xfrm>
            <a:off x="9075420" y="2240280"/>
            <a:ext cx="2788920" cy="1783080"/>
          </a:xfrm>
          <a:prstGeom prst="rect">
            <a:avLst/>
          </a:prstGeom>
          <a:solidFill>
            <a:srgbClr val="0F1624"/>
          </a:solidFill>
          <a:ln w="9525">
            <a:solidFill>
              <a:srgbClr val="2B3A55"/>
            </a:solidFill>
            <a:prstDash val="solid"/>
          </a:ln>
        </p:spPr>
      </p:sp>
      <p:sp>
        <p:nvSpPr>
          <p:cNvPr id="40" name="Shape 38"/>
          <p:cNvSpPr/>
          <p:nvPr/>
        </p:nvSpPr>
        <p:spPr>
          <a:xfrm>
            <a:off x="9075420" y="2240280"/>
            <a:ext cx="54864" cy="1783080"/>
          </a:xfrm>
          <a:prstGeom prst="rect">
            <a:avLst/>
          </a:prstGeom>
          <a:solidFill>
            <a:srgbClr val="F5B024"/>
          </a:solidFill>
          <a:ln w="12700">
            <a:solidFill>
              <a:srgbClr val="F5B024"/>
            </a:solidFill>
            <a:prstDash val="solid"/>
          </a:ln>
        </p:spPr>
      </p:sp>
      <p:sp>
        <p:nvSpPr>
          <p:cNvPr id="41" name="Text 39"/>
          <p:cNvSpPr/>
          <p:nvPr/>
        </p:nvSpPr>
        <p:spPr>
          <a:xfrm>
            <a:off x="9276588" y="2423160"/>
            <a:ext cx="2423160" cy="365760"/>
          </a:xfrm>
          <a:prstGeom prst="rect">
            <a:avLst/>
          </a:prstGeom>
          <a:noFill/>
          <a:ln/>
        </p:spPr>
        <p:txBody>
          <a:bodyPr wrap="square" lIns="0" tIns="0" rIns="0" bIns="0" rtlCol="0" anchor="ctr"/>
          <a:lstStyle/>
          <a:p>
            <a:pPr indent="0" marL="0">
              <a:buNone/>
            </a:pPr>
            <a:r>
              <a:rPr lang="en-US" sz="1400" spc="300" kern="0" dirty="0">
                <a:solidFill>
                  <a:srgbClr val="F5B024"/>
                </a:solidFill>
                <a:latin typeface="Arial Black" pitchFamily="34" charset="0"/>
                <a:ea typeface="Arial Black" pitchFamily="34" charset="-122"/>
                <a:cs typeface="Arial Black" pitchFamily="34" charset="-120"/>
              </a:rPr>
              <a:t>MAYA</a:t>
            </a:r>
            <a:endParaRPr lang="en-US" sz="1400" dirty="0"/>
          </a:p>
        </p:txBody>
      </p:sp>
      <p:sp>
        <p:nvSpPr>
          <p:cNvPr id="42" name="Shape 40"/>
          <p:cNvSpPr/>
          <p:nvPr/>
        </p:nvSpPr>
        <p:spPr>
          <a:xfrm>
            <a:off x="9276588" y="2807208"/>
            <a:ext cx="457200" cy="0"/>
          </a:xfrm>
          <a:prstGeom prst="line">
            <a:avLst/>
          </a:prstGeom>
          <a:noFill/>
          <a:ln w="12700">
            <a:solidFill>
              <a:srgbClr val="2B3A55"/>
            </a:solidFill>
            <a:prstDash val="solid"/>
          </a:ln>
        </p:spPr>
      </p:sp>
      <p:sp>
        <p:nvSpPr>
          <p:cNvPr id="43" name="Text 41"/>
          <p:cNvSpPr/>
          <p:nvPr/>
        </p:nvSpPr>
        <p:spPr>
          <a:xfrm>
            <a:off x="9276588" y="2898648"/>
            <a:ext cx="2423160" cy="1033272"/>
          </a:xfrm>
          <a:prstGeom prst="rect">
            <a:avLst/>
          </a:prstGeom>
          <a:noFill/>
          <a:ln/>
        </p:spPr>
        <p:txBody>
          <a:bodyPr wrap="square" lIns="0" tIns="0" rIns="0" bIns="0" rtlCol="0" anchor="t"/>
          <a:lstStyle/>
          <a:p>
            <a:pPr indent="0" marL="0">
              <a:buNone/>
            </a:pPr>
            <a:r>
              <a:rPr lang="en-US" sz="1100" dirty="0">
                <a:solidFill>
                  <a:srgbClr val="ECF1F8"/>
                </a:solidFill>
                <a:latin typeface="Calibri" pitchFamily="34" charset="0"/>
                <a:ea typeface="Calibri" pitchFamily="34" charset="-122"/>
                <a:cs typeface="Calibri" pitchFamily="34" charset="-120"/>
              </a:rPr>
              <a:t>Advanced astronomy and calendrical math framed in the Popol Vuh as gifts of the gods who descended from the sky to shape human life.</a:t>
            </a:r>
            <a:endParaRPr lang="en-US" sz="1100" dirty="0"/>
          </a:p>
        </p:txBody>
      </p:sp>
      <p:sp>
        <p:nvSpPr>
          <p:cNvPr id="44" name="Shape 42"/>
          <p:cNvSpPr/>
          <p:nvPr/>
        </p:nvSpPr>
        <p:spPr>
          <a:xfrm>
            <a:off x="297180" y="4160520"/>
            <a:ext cx="2788920" cy="1783080"/>
          </a:xfrm>
          <a:prstGeom prst="rect">
            <a:avLst/>
          </a:prstGeom>
          <a:solidFill>
            <a:srgbClr val="0F1624"/>
          </a:solidFill>
          <a:ln w="9525">
            <a:solidFill>
              <a:srgbClr val="2B3A55"/>
            </a:solidFill>
            <a:prstDash val="solid"/>
          </a:ln>
        </p:spPr>
      </p:sp>
      <p:sp>
        <p:nvSpPr>
          <p:cNvPr id="45" name="Shape 43"/>
          <p:cNvSpPr/>
          <p:nvPr/>
        </p:nvSpPr>
        <p:spPr>
          <a:xfrm>
            <a:off x="297180" y="4160520"/>
            <a:ext cx="54864" cy="1783080"/>
          </a:xfrm>
          <a:prstGeom prst="rect">
            <a:avLst/>
          </a:prstGeom>
          <a:solidFill>
            <a:srgbClr val="F5B024"/>
          </a:solidFill>
          <a:ln w="12700">
            <a:solidFill>
              <a:srgbClr val="F5B024"/>
            </a:solidFill>
            <a:prstDash val="solid"/>
          </a:ln>
        </p:spPr>
      </p:sp>
      <p:sp>
        <p:nvSpPr>
          <p:cNvPr id="46" name="Text 44"/>
          <p:cNvSpPr/>
          <p:nvPr/>
        </p:nvSpPr>
        <p:spPr>
          <a:xfrm>
            <a:off x="498348" y="4343400"/>
            <a:ext cx="2423160" cy="365760"/>
          </a:xfrm>
          <a:prstGeom prst="rect">
            <a:avLst/>
          </a:prstGeom>
          <a:noFill/>
          <a:ln/>
        </p:spPr>
        <p:txBody>
          <a:bodyPr wrap="square" lIns="0" tIns="0" rIns="0" bIns="0" rtlCol="0" anchor="ctr"/>
          <a:lstStyle/>
          <a:p>
            <a:pPr indent="0" marL="0">
              <a:buNone/>
            </a:pPr>
            <a:r>
              <a:rPr lang="en-US" sz="1400" spc="300" kern="0" dirty="0">
                <a:solidFill>
                  <a:srgbClr val="F5B024"/>
                </a:solidFill>
                <a:latin typeface="Arial Black" pitchFamily="34" charset="0"/>
                <a:ea typeface="Arial Black" pitchFamily="34" charset="-122"/>
                <a:cs typeface="Arial Black" pitchFamily="34" charset="-120"/>
              </a:rPr>
              <a:t>INCA</a:t>
            </a:r>
            <a:endParaRPr lang="en-US" sz="1400" dirty="0"/>
          </a:p>
        </p:txBody>
      </p:sp>
      <p:sp>
        <p:nvSpPr>
          <p:cNvPr id="47" name="Shape 45"/>
          <p:cNvSpPr/>
          <p:nvPr/>
        </p:nvSpPr>
        <p:spPr>
          <a:xfrm>
            <a:off x="498348" y="4727448"/>
            <a:ext cx="457200" cy="0"/>
          </a:xfrm>
          <a:prstGeom prst="line">
            <a:avLst/>
          </a:prstGeom>
          <a:noFill/>
          <a:ln w="12700">
            <a:solidFill>
              <a:srgbClr val="2B3A55"/>
            </a:solidFill>
            <a:prstDash val="solid"/>
          </a:ln>
        </p:spPr>
      </p:sp>
      <p:sp>
        <p:nvSpPr>
          <p:cNvPr id="48" name="Text 46"/>
          <p:cNvSpPr/>
          <p:nvPr/>
        </p:nvSpPr>
        <p:spPr>
          <a:xfrm>
            <a:off x="498348" y="4818888"/>
            <a:ext cx="2423160" cy="1033272"/>
          </a:xfrm>
          <a:prstGeom prst="rect">
            <a:avLst/>
          </a:prstGeom>
          <a:noFill/>
          <a:ln/>
        </p:spPr>
        <p:txBody>
          <a:bodyPr wrap="square" lIns="0" tIns="0" rIns="0" bIns="0" rtlCol="0" anchor="t"/>
          <a:lstStyle/>
          <a:p>
            <a:pPr indent="0" marL="0">
              <a:buNone/>
            </a:pPr>
            <a:r>
              <a:rPr lang="en-US" sz="1100" dirty="0">
                <a:solidFill>
                  <a:srgbClr val="ECF1F8"/>
                </a:solidFill>
                <a:latin typeface="Calibri" pitchFamily="34" charset="0"/>
                <a:ea typeface="Calibri" pitchFamily="34" charset="-122"/>
                <a:cs typeface="Calibri" pitchFamily="34" charset="-120"/>
              </a:rPr>
              <a:t>First emperor Manco Cápac was believed to be a child of the sun god Inti, sent from the heavens to bring civilization to the people.</a:t>
            </a:r>
            <a:endParaRPr lang="en-US" sz="1100" dirty="0"/>
          </a:p>
        </p:txBody>
      </p:sp>
      <p:sp>
        <p:nvSpPr>
          <p:cNvPr id="49" name="Shape 47"/>
          <p:cNvSpPr/>
          <p:nvPr/>
        </p:nvSpPr>
        <p:spPr>
          <a:xfrm>
            <a:off x="3223260" y="4160520"/>
            <a:ext cx="2788920" cy="1783080"/>
          </a:xfrm>
          <a:prstGeom prst="rect">
            <a:avLst/>
          </a:prstGeom>
          <a:solidFill>
            <a:srgbClr val="0F1624"/>
          </a:solidFill>
          <a:ln w="9525">
            <a:solidFill>
              <a:srgbClr val="2B3A55"/>
            </a:solidFill>
            <a:prstDash val="solid"/>
          </a:ln>
        </p:spPr>
      </p:sp>
      <p:sp>
        <p:nvSpPr>
          <p:cNvPr id="50" name="Shape 48"/>
          <p:cNvSpPr/>
          <p:nvPr/>
        </p:nvSpPr>
        <p:spPr>
          <a:xfrm>
            <a:off x="3223260" y="4160520"/>
            <a:ext cx="54864" cy="1783080"/>
          </a:xfrm>
          <a:prstGeom prst="rect">
            <a:avLst/>
          </a:prstGeom>
          <a:solidFill>
            <a:srgbClr val="F5B024"/>
          </a:solidFill>
          <a:ln w="12700">
            <a:solidFill>
              <a:srgbClr val="F5B024"/>
            </a:solidFill>
            <a:prstDash val="solid"/>
          </a:ln>
        </p:spPr>
      </p:sp>
      <p:sp>
        <p:nvSpPr>
          <p:cNvPr id="51" name="Text 49"/>
          <p:cNvSpPr/>
          <p:nvPr/>
        </p:nvSpPr>
        <p:spPr>
          <a:xfrm>
            <a:off x="3424428" y="4343400"/>
            <a:ext cx="2423160" cy="365760"/>
          </a:xfrm>
          <a:prstGeom prst="rect">
            <a:avLst/>
          </a:prstGeom>
          <a:noFill/>
          <a:ln/>
        </p:spPr>
        <p:txBody>
          <a:bodyPr wrap="square" lIns="0" tIns="0" rIns="0" bIns="0" rtlCol="0" anchor="ctr"/>
          <a:lstStyle/>
          <a:p>
            <a:pPr indent="0" marL="0">
              <a:buNone/>
            </a:pPr>
            <a:r>
              <a:rPr lang="en-US" sz="1400" spc="300" kern="0" dirty="0">
                <a:solidFill>
                  <a:srgbClr val="F5B024"/>
                </a:solidFill>
                <a:latin typeface="Arial Black" pitchFamily="34" charset="0"/>
                <a:ea typeface="Arial Black" pitchFamily="34" charset="-122"/>
                <a:cs typeface="Arial Black" pitchFamily="34" charset="-120"/>
              </a:rPr>
              <a:t>AZTECS</a:t>
            </a:r>
            <a:endParaRPr lang="en-US" sz="1400" dirty="0"/>
          </a:p>
        </p:txBody>
      </p:sp>
      <p:sp>
        <p:nvSpPr>
          <p:cNvPr id="52" name="Shape 50"/>
          <p:cNvSpPr/>
          <p:nvPr/>
        </p:nvSpPr>
        <p:spPr>
          <a:xfrm>
            <a:off x="3424428" y="4727448"/>
            <a:ext cx="457200" cy="0"/>
          </a:xfrm>
          <a:prstGeom prst="line">
            <a:avLst/>
          </a:prstGeom>
          <a:noFill/>
          <a:ln w="12700">
            <a:solidFill>
              <a:srgbClr val="2B3A55"/>
            </a:solidFill>
            <a:prstDash val="solid"/>
          </a:ln>
        </p:spPr>
      </p:sp>
      <p:sp>
        <p:nvSpPr>
          <p:cNvPr id="53" name="Text 51"/>
          <p:cNvSpPr/>
          <p:nvPr/>
        </p:nvSpPr>
        <p:spPr>
          <a:xfrm>
            <a:off x="3424428" y="4818888"/>
            <a:ext cx="2423160" cy="1033272"/>
          </a:xfrm>
          <a:prstGeom prst="rect">
            <a:avLst/>
          </a:prstGeom>
          <a:noFill/>
          <a:ln/>
        </p:spPr>
        <p:txBody>
          <a:bodyPr wrap="square" lIns="0" tIns="0" rIns="0" bIns="0" rtlCol="0" anchor="t"/>
          <a:lstStyle/>
          <a:p>
            <a:pPr indent="0" marL="0">
              <a:buNone/>
            </a:pPr>
            <a:r>
              <a:rPr lang="en-US" sz="1100" dirty="0">
                <a:solidFill>
                  <a:srgbClr val="ECF1F8"/>
                </a:solidFill>
                <a:latin typeface="Calibri" pitchFamily="34" charset="0"/>
                <a:ea typeface="Calibri" pitchFamily="34" charset="-122"/>
                <a:cs typeface="Calibri" pitchFamily="34" charset="-120"/>
              </a:rPr>
              <a:t>Quetzalcoatl, the feathered serpent, arrived from the heavens bearing agriculture, astronomy, and the sacred calendar.</a:t>
            </a:r>
            <a:endParaRPr lang="en-US" sz="1100" dirty="0"/>
          </a:p>
        </p:txBody>
      </p:sp>
      <p:sp>
        <p:nvSpPr>
          <p:cNvPr id="54" name="Shape 52"/>
          <p:cNvSpPr/>
          <p:nvPr/>
        </p:nvSpPr>
        <p:spPr>
          <a:xfrm>
            <a:off x="6149340" y="4160520"/>
            <a:ext cx="2788920" cy="1783080"/>
          </a:xfrm>
          <a:prstGeom prst="rect">
            <a:avLst/>
          </a:prstGeom>
          <a:solidFill>
            <a:srgbClr val="0F1624"/>
          </a:solidFill>
          <a:ln w="9525">
            <a:solidFill>
              <a:srgbClr val="2B3A55"/>
            </a:solidFill>
            <a:prstDash val="solid"/>
          </a:ln>
        </p:spPr>
      </p:sp>
      <p:sp>
        <p:nvSpPr>
          <p:cNvPr id="55" name="Shape 53"/>
          <p:cNvSpPr/>
          <p:nvPr/>
        </p:nvSpPr>
        <p:spPr>
          <a:xfrm>
            <a:off x="6149340" y="4160520"/>
            <a:ext cx="54864" cy="1783080"/>
          </a:xfrm>
          <a:prstGeom prst="rect">
            <a:avLst/>
          </a:prstGeom>
          <a:solidFill>
            <a:srgbClr val="F5B024"/>
          </a:solidFill>
          <a:ln w="12700">
            <a:solidFill>
              <a:srgbClr val="F5B024"/>
            </a:solidFill>
            <a:prstDash val="solid"/>
          </a:ln>
        </p:spPr>
      </p:sp>
      <p:sp>
        <p:nvSpPr>
          <p:cNvPr id="56" name="Text 54"/>
          <p:cNvSpPr/>
          <p:nvPr/>
        </p:nvSpPr>
        <p:spPr>
          <a:xfrm>
            <a:off x="6350508" y="4343400"/>
            <a:ext cx="2423160" cy="365760"/>
          </a:xfrm>
          <a:prstGeom prst="rect">
            <a:avLst/>
          </a:prstGeom>
          <a:noFill/>
          <a:ln/>
        </p:spPr>
        <p:txBody>
          <a:bodyPr wrap="square" lIns="0" tIns="0" rIns="0" bIns="0" rtlCol="0" anchor="ctr"/>
          <a:lstStyle/>
          <a:p>
            <a:pPr indent="0" marL="0">
              <a:buNone/>
            </a:pPr>
            <a:r>
              <a:rPr lang="en-US" sz="1400" spc="300" kern="0" dirty="0">
                <a:solidFill>
                  <a:srgbClr val="F5B024"/>
                </a:solidFill>
                <a:latin typeface="Arial Black" pitchFamily="34" charset="0"/>
                <a:ea typeface="Arial Black" pitchFamily="34" charset="-122"/>
                <a:cs typeface="Arial Black" pitchFamily="34" charset="-120"/>
              </a:rPr>
              <a:t>CHINESE</a:t>
            </a:r>
            <a:endParaRPr lang="en-US" sz="1400" dirty="0"/>
          </a:p>
        </p:txBody>
      </p:sp>
      <p:sp>
        <p:nvSpPr>
          <p:cNvPr id="57" name="Shape 55"/>
          <p:cNvSpPr/>
          <p:nvPr/>
        </p:nvSpPr>
        <p:spPr>
          <a:xfrm>
            <a:off x="6350508" y="4727448"/>
            <a:ext cx="457200" cy="0"/>
          </a:xfrm>
          <a:prstGeom prst="line">
            <a:avLst/>
          </a:prstGeom>
          <a:noFill/>
          <a:ln w="12700">
            <a:solidFill>
              <a:srgbClr val="2B3A55"/>
            </a:solidFill>
            <a:prstDash val="solid"/>
          </a:ln>
        </p:spPr>
      </p:sp>
      <p:sp>
        <p:nvSpPr>
          <p:cNvPr id="58" name="Text 56"/>
          <p:cNvSpPr/>
          <p:nvPr/>
        </p:nvSpPr>
        <p:spPr>
          <a:xfrm>
            <a:off x="6350508" y="4818888"/>
            <a:ext cx="2423160" cy="1033272"/>
          </a:xfrm>
          <a:prstGeom prst="rect">
            <a:avLst/>
          </a:prstGeom>
          <a:noFill/>
          <a:ln/>
        </p:spPr>
        <p:txBody>
          <a:bodyPr wrap="square" lIns="0" tIns="0" rIns="0" bIns="0" rtlCol="0" anchor="t"/>
          <a:lstStyle/>
          <a:p>
            <a:pPr indent="0" marL="0">
              <a:buNone/>
            </a:pPr>
            <a:r>
              <a:rPr lang="en-US" sz="1100" dirty="0">
                <a:solidFill>
                  <a:srgbClr val="ECF1F8"/>
                </a:solidFill>
                <a:latin typeface="Calibri" pitchFamily="34" charset="0"/>
                <a:ea typeface="Calibri" pitchFamily="34" charset="-122"/>
                <a:cs typeface="Calibri" pitchFamily="34" charset="-120"/>
              </a:rPr>
              <a:t>The Yellow Emperor Huangdi is said in ancient texts to have descended from the sky and taught medicine, agriculture, and governance.</a:t>
            </a:r>
            <a:endParaRPr lang="en-US" sz="1100" dirty="0"/>
          </a:p>
        </p:txBody>
      </p:sp>
      <p:sp>
        <p:nvSpPr>
          <p:cNvPr id="59" name="Shape 57"/>
          <p:cNvSpPr/>
          <p:nvPr/>
        </p:nvSpPr>
        <p:spPr>
          <a:xfrm>
            <a:off x="9075420" y="4160520"/>
            <a:ext cx="2788920" cy="1783080"/>
          </a:xfrm>
          <a:prstGeom prst="rect">
            <a:avLst/>
          </a:prstGeom>
          <a:solidFill>
            <a:srgbClr val="0F1624"/>
          </a:solidFill>
          <a:ln w="9525">
            <a:solidFill>
              <a:srgbClr val="2B3A55"/>
            </a:solidFill>
            <a:prstDash val="solid"/>
          </a:ln>
        </p:spPr>
      </p:sp>
      <p:sp>
        <p:nvSpPr>
          <p:cNvPr id="60" name="Shape 58"/>
          <p:cNvSpPr/>
          <p:nvPr/>
        </p:nvSpPr>
        <p:spPr>
          <a:xfrm>
            <a:off x="9075420" y="4160520"/>
            <a:ext cx="54864" cy="1783080"/>
          </a:xfrm>
          <a:prstGeom prst="rect">
            <a:avLst/>
          </a:prstGeom>
          <a:solidFill>
            <a:srgbClr val="F5B024"/>
          </a:solidFill>
          <a:ln w="12700">
            <a:solidFill>
              <a:srgbClr val="F5B024"/>
            </a:solidFill>
            <a:prstDash val="solid"/>
          </a:ln>
        </p:spPr>
      </p:sp>
      <p:sp>
        <p:nvSpPr>
          <p:cNvPr id="61" name="Text 59"/>
          <p:cNvSpPr/>
          <p:nvPr/>
        </p:nvSpPr>
        <p:spPr>
          <a:xfrm>
            <a:off x="9276588" y="4343400"/>
            <a:ext cx="2423160" cy="365760"/>
          </a:xfrm>
          <a:prstGeom prst="rect">
            <a:avLst/>
          </a:prstGeom>
          <a:noFill/>
          <a:ln/>
        </p:spPr>
        <p:txBody>
          <a:bodyPr wrap="square" lIns="0" tIns="0" rIns="0" bIns="0" rtlCol="0" anchor="ctr"/>
          <a:lstStyle/>
          <a:p>
            <a:pPr indent="0" marL="0">
              <a:buNone/>
            </a:pPr>
            <a:r>
              <a:rPr lang="en-US" sz="1400" spc="300" kern="0" dirty="0">
                <a:solidFill>
                  <a:srgbClr val="F5B024"/>
                </a:solidFill>
                <a:latin typeface="Arial Black" pitchFamily="34" charset="0"/>
                <a:ea typeface="Arial Black" pitchFamily="34" charset="-122"/>
                <a:cs typeface="Arial Black" pitchFamily="34" charset="-120"/>
              </a:rPr>
              <a:t>POLYNESIANS</a:t>
            </a:r>
            <a:endParaRPr lang="en-US" sz="1400" dirty="0"/>
          </a:p>
        </p:txBody>
      </p:sp>
      <p:sp>
        <p:nvSpPr>
          <p:cNvPr id="62" name="Shape 60"/>
          <p:cNvSpPr/>
          <p:nvPr/>
        </p:nvSpPr>
        <p:spPr>
          <a:xfrm>
            <a:off x="9276588" y="4727448"/>
            <a:ext cx="457200" cy="0"/>
          </a:xfrm>
          <a:prstGeom prst="line">
            <a:avLst/>
          </a:prstGeom>
          <a:noFill/>
          <a:ln w="12700">
            <a:solidFill>
              <a:srgbClr val="2B3A55"/>
            </a:solidFill>
            <a:prstDash val="solid"/>
          </a:ln>
        </p:spPr>
      </p:sp>
      <p:sp>
        <p:nvSpPr>
          <p:cNvPr id="63" name="Text 61"/>
          <p:cNvSpPr/>
          <p:nvPr/>
        </p:nvSpPr>
        <p:spPr>
          <a:xfrm>
            <a:off x="9276588" y="4818888"/>
            <a:ext cx="2423160" cy="1033272"/>
          </a:xfrm>
          <a:prstGeom prst="rect">
            <a:avLst/>
          </a:prstGeom>
          <a:noFill/>
          <a:ln/>
        </p:spPr>
        <p:txBody>
          <a:bodyPr wrap="square" lIns="0" tIns="0" rIns="0" bIns="0" rtlCol="0" anchor="t"/>
          <a:lstStyle/>
          <a:p>
            <a:pPr indent="0" marL="0">
              <a:buNone/>
            </a:pPr>
            <a:r>
              <a:rPr lang="en-US" sz="1100" dirty="0">
                <a:solidFill>
                  <a:srgbClr val="ECF1F8"/>
                </a:solidFill>
                <a:latin typeface="Calibri" pitchFamily="34" charset="0"/>
                <a:ea typeface="Calibri" pitchFamily="34" charset="-122"/>
                <a:cs typeface="Calibri" pitchFamily="34" charset="-120"/>
              </a:rPr>
              <a:t>Wayfinders navigated by stars they believed were given to them by celestial beings who guided them across the Pacific.</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DOC-012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MYTHOLOGY</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KNOWLEDGE FROM THE HEAVENS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12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04 (CONT.)</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Knowledge from the Heavens  ·  Part II</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265176" y="2286000"/>
            <a:ext cx="2194560" cy="3566160"/>
          </a:xfrm>
          <a:prstGeom prst="rect">
            <a:avLst/>
          </a:prstGeom>
          <a:solidFill>
            <a:srgbClr val="0F1624"/>
          </a:solidFill>
          <a:ln w="9525">
            <a:solidFill>
              <a:srgbClr val="2B3A55"/>
            </a:solidFill>
            <a:prstDash val="solid"/>
          </a:ln>
        </p:spPr>
      </p:sp>
      <p:sp>
        <p:nvSpPr>
          <p:cNvPr id="25" name="Shape 23"/>
          <p:cNvSpPr/>
          <p:nvPr/>
        </p:nvSpPr>
        <p:spPr>
          <a:xfrm>
            <a:off x="265176" y="2286000"/>
            <a:ext cx="54864" cy="3566160"/>
          </a:xfrm>
          <a:prstGeom prst="rect">
            <a:avLst/>
          </a:prstGeom>
          <a:solidFill>
            <a:srgbClr val="F5B024"/>
          </a:solidFill>
          <a:ln w="12700">
            <a:solidFill>
              <a:srgbClr val="F5B024"/>
            </a:solidFill>
            <a:prstDash val="solid"/>
          </a:ln>
        </p:spPr>
      </p:sp>
      <p:sp>
        <p:nvSpPr>
          <p:cNvPr id="26" name="Text 24"/>
          <p:cNvSpPr/>
          <p:nvPr/>
        </p:nvSpPr>
        <p:spPr>
          <a:xfrm>
            <a:off x="448056" y="2560320"/>
            <a:ext cx="1874520" cy="457200"/>
          </a:xfrm>
          <a:prstGeom prst="rect">
            <a:avLst/>
          </a:prstGeom>
          <a:noFill/>
          <a:ln/>
        </p:spPr>
        <p:txBody>
          <a:bodyPr wrap="square" lIns="0" tIns="0" rIns="0" bIns="0" rtlCol="0" anchor="ctr"/>
          <a:lstStyle/>
          <a:p>
            <a:pPr indent="0" marL="0">
              <a:buNone/>
            </a:pPr>
            <a:r>
              <a:rPr lang="en-US" sz="1700" spc="300" kern="0" dirty="0">
                <a:solidFill>
                  <a:srgbClr val="F5B024"/>
                </a:solidFill>
                <a:latin typeface="Arial Black" pitchFamily="34" charset="0"/>
                <a:ea typeface="Arial Black" pitchFamily="34" charset="-122"/>
                <a:cs typeface="Arial Black" pitchFamily="34" charset="-120"/>
              </a:rPr>
              <a:t>NORSE</a:t>
            </a:r>
            <a:endParaRPr lang="en-US" sz="1700" dirty="0"/>
          </a:p>
        </p:txBody>
      </p:sp>
      <p:sp>
        <p:nvSpPr>
          <p:cNvPr id="27" name="Shape 25"/>
          <p:cNvSpPr/>
          <p:nvPr/>
        </p:nvSpPr>
        <p:spPr>
          <a:xfrm>
            <a:off x="448056" y="3063240"/>
            <a:ext cx="548640" cy="0"/>
          </a:xfrm>
          <a:prstGeom prst="line">
            <a:avLst/>
          </a:prstGeom>
          <a:noFill/>
          <a:ln w="12700">
            <a:solidFill>
              <a:srgbClr val="2B3A55"/>
            </a:solidFill>
            <a:prstDash val="solid"/>
          </a:ln>
        </p:spPr>
      </p:sp>
      <p:sp>
        <p:nvSpPr>
          <p:cNvPr id="28" name="Text 26"/>
          <p:cNvSpPr/>
          <p:nvPr/>
        </p:nvSpPr>
        <p:spPr>
          <a:xfrm>
            <a:off x="448056" y="3200400"/>
            <a:ext cx="1874520" cy="2560320"/>
          </a:xfrm>
          <a:prstGeom prst="rect">
            <a:avLst/>
          </a:prstGeom>
          <a:noFill/>
          <a:ln/>
        </p:spPr>
        <p:txBody>
          <a:bodyPr wrap="square" lIns="0" tIns="0" rIns="0" bIns="0" rtlCol="0" anchor="t"/>
          <a:lstStyle/>
          <a:p>
            <a:pPr indent="0" marL="0">
              <a:buNone/>
            </a:pPr>
            <a:r>
              <a:rPr lang="en-US" sz="1200" dirty="0">
                <a:solidFill>
                  <a:srgbClr val="ECF1F8"/>
                </a:solidFill>
                <a:latin typeface="Calibri" pitchFamily="34" charset="0"/>
                <a:ea typeface="Calibri" pitchFamily="34" charset="-122"/>
                <a:cs typeface="Calibri" pitchFamily="34" charset="-120"/>
              </a:rPr>
              <a:t>The Bifröst — a glowing rainbow bridge connecting Earth to Asgard — a pathway between realms of gods and celestial beings.</a:t>
            </a:r>
            <a:endParaRPr lang="en-US" sz="1200" dirty="0"/>
          </a:p>
        </p:txBody>
      </p:sp>
      <p:sp>
        <p:nvSpPr>
          <p:cNvPr id="29" name="Shape 27"/>
          <p:cNvSpPr/>
          <p:nvPr/>
        </p:nvSpPr>
        <p:spPr>
          <a:xfrm>
            <a:off x="2624328" y="2286000"/>
            <a:ext cx="2194560" cy="3566160"/>
          </a:xfrm>
          <a:prstGeom prst="rect">
            <a:avLst/>
          </a:prstGeom>
          <a:solidFill>
            <a:srgbClr val="0F1624"/>
          </a:solidFill>
          <a:ln w="9525">
            <a:solidFill>
              <a:srgbClr val="2B3A55"/>
            </a:solidFill>
            <a:prstDash val="solid"/>
          </a:ln>
        </p:spPr>
      </p:sp>
      <p:sp>
        <p:nvSpPr>
          <p:cNvPr id="30" name="Shape 28"/>
          <p:cNvSpPr/>
          <p:nvPr/>
        </p:nvSpPr>
        <p:spPr>
          <a:xfrm>
            <a:off x="2624328" y="2286000"/>
            <a:ext cx="54864" cy="3566160"/>
          </a:xfrm>
          <a:prstGeom prst="rect">
            <a:avLst/>
          </a:prstGeom>
          <a:solidFill>
            <a:srgbClr val="F5B024"/>
          </a:solidFill>
          <a:ln w="12700">
            <a:solidFill>
              <a:srgbClr val="F5B024"/>
            </a:solidFill>
            <a:prstDash val="solid"/>
          </a:ln>
        </p:spPr>
      </p:sp>
      <p:sp>
        <p:nvSpPr>
          <p:cNvPr id="31" name="Text 29"/>
          <p:cNvSpPr/>
          <p:nvPr/>
        </p:nvSpPr>
        <p:spPr>
          <a:xfrm>
            <a:off x="2807208" y="2560320"/>
            <a:ext cx="1874520" cy="457200"/>
          </a:xfrm>
          <a:prstGeom prst="rect">
            <a:avLst/>
          </a:prstGeom>
          <a:noFill/>
          <a:ln/>
        </p:spPr>
        <p:txBody>
          <a:bodyPr wrap="square" lIns="0" tIns="0" rIns="0" bIns="0" rtlCol="0" anchor="ctr"/>
          <a:lstStyle/>
          <a:p>
            <a:pPr indent="0" marL="0">
              <a:buNone/>
            </a:pPr>
            <a:r>
              <a:rPr lang="en-US" sz="1700" spc="300" kern="0" dirty="0">
                <a:solidFill>
                  <a:srgbClr val="F5B024"/>
                </a:solidFill>
                <a:latin typeface="Arial Black" pitchFamily="34" charset="0"/>
                <a:ea typeface="Arial Black" pitchFamily="34" charset="-122"/>
                <a:cs typeface="Arial Black" pitchFamily="34" charset="-120"/>
              </a:rPr>
              <a:t>HINDU</a:t>
            </a:r>
            <a:endParaRPr lang="en-US" sz="1700" dirty="0"/>
          </a:p>
        </p:txBody>
      </p:sp>
      <p:sp>
        <p:nvSpPr>
          <p:cNvPr id="32" name="Shape 30"/>
          <p:cNvSpPr/>
          <p:nvPr/>
        </p:nvSpPr>
        <p:spPr>
          <a:xfrm>
            <a:off x="2807208" y="3063240"/>
            <a:ext cx="548640" cy="0"/>
          </a:xfrm>
          <a:prstGeom prst="line">
            <a:avLst/>
          </a:prstGeom>
          <a:noFill/>
          <a:ln w="12700">
            <a:solidFill>
              <a:srgbClr val="2B3A55"/>
            </a:solidFill>
            <a:prstDash val="solid"/>
          </a:ln>
        </p:spPr>
      </p:sp>
      <p:sp>
        <p:nvSpPr>
          <p:cNvPr id="33" name="Text 31"/>
          <p:cNvSpPr/>
          <p:nvPr/>
        </p:nvSpPr>
        <p:spPr>
          <a:xfrm>
            <a:off x="2807208" y="3200400"/>
            <a:ext cx="1874520" cy="2560320"/>
          </a:xfrm>
          <a:prstGeom prst="rect">
            <a:avLst/>
          </a:prstGeom>
          <a:noFill/>
          <a:ln/>
        </p:spPr>
        <p:txBody>
          <a:bodyPr wrap="square" lIns="0" tIns="0" rIns="0" bIns="0" rtlCol="0" anchor="t"/>
          <a:lstStyle/>
          <a:p>
            <a:pPr indent="0" marL="0">
              <a:buNone/>
            </a:pPr>
            <a:r>
              <a:rPr lang="en-US" sz="1200" dirty="0">
                <a:solidFill>
                  <a:srgbClr val="ECF1F8"/>
                </a:solidFill>
                <a:latin typeface="Calibri" pitchFamily="34" charset="0"/>
                <a:ea typeface="Calibri" pitchFamily="34" charset="-122"/>
                <a:cs typeface="Calibri" pitchFamily="34" charset="-120"/>
              </a:rPr>
              <a:t>Ancient texts describe the Vimana: flying chariots used by gods like Vishnu and Indra to travel between the heavens and Earth.</a:t>
            </a:r>
            <a:endParaRPr lang="en-US" sz="1200" dirty="0"/>
          </a:p>
        </p:txBody>
      </p:sp>
      <p:sp>
        <p:nvSpPr>
          <p:cNvPr id="34" name="Shape 32"/>
          <p:cNvSpPr/>
          <p:nvPr/>
        </p:nvSpPr>
        <p:spPr>
          <a:xfrm>
            <a:off x="4983480" y="2286000"/>
            <a:ext cx="2194560" cy="3566160"/>
          </a:xfrm>
          <a:prstGeom prst="rect">
            <a:avLst/>
          </a:prstGeom>
          <a:solidFill>
            <a:srgbClr val="0F1624"/>
          </a:solidFill>
          <a:ln w="9525">
            <a:solidFill>
              <a:srgbClr val="2B3A55"/>
            </a:solidFill>
            <a:prstDash val="solid"/>
          </a:ln>
        </p:spPr>
      </p:sp>
      <p:sp>
        <p:nvSpPr>
          <p:cNvPr id="35" name="Shape 33"/>
          <p:cNvSpPr/>
          <p:nvPr/>
        </p:nvSpPr>
        <p:spPr>
          <a:xfrm>
            <a:off x="4983480" y="2286000"/>
            <a:ext cx="54864" cy="3566160"/>
          </a:xfrm>
          <a:prstGeom prst="rect">
            <a:avLst/>
          </a:prstGeom>
          <a:solidFill>
            <a:srgbClr val="F5B024"/>
          </a:solidFill>
          <a:ln w="12700">
            <a:solidFill>
              <a:srgbClr val="F5B024"/>
            </a:solidFill>
            <a:prstDash val="solid"/>
          </a:ln>
        </p:spPr>
      </p:sp>
      <p:sp>
        <p:nvSpPr>
          <p:cNvPr id="36" name="Text 34"/>
          <p:cNvSpPr/>
          <p:nvPr/>
        </p:nvSpPr>
        <p:spPr>
          <a:xfrm>
            <a:off x="5166360" y="2560320"/>
            <a:ext cx="1874520" cy="457200"/>
          </a:xfrm>
          <a:prstGeom prst="rect">
            <a:avLst/>
          </a:prstGeom>
          <a:noFill/>
          <a:ln/>
        </p:spPr>
        <p:txBody>
          <a:bodyPr wrap="square" lIns="0" tIns="0" rIns="0" bIns="0" rtlCol="0" anchor="ctr"/>
          <a:lstStyle/>
          <a:p>
            <a:pPr indent="0" marL="0">
              <a:buNone/>
            </a:pPr>
            <a:r>
              <a:rPr lang="en-US" sz="1700" spc="300" kern="0" dirty="0">
                <a:solidFill>
                  <a:srgbClr val="F5B024"/>
                </a:solidFill>
                <a:latin typeface="Arial Black" pitchFamily="34" charset="0"/>
                <a:ea typeface="Arial Black" pitchFamily="34" charset="-122"/>
                <a:cs typeface="Arial Black" pitchFamily="34" charset="-120"/>
              </a:rPr>
              <a:t>MAORI</a:t>
            </a:r>
            <a:endParaRPr lang="en-US" sz="1700" dirty="0"/>
          </a:p>
        </p:txBody>
      </p:sp>
      <p:sp>
        <p:nvSpPr>
          <p:cNvPr id="37" name="Shape 35"/>
          <p:cNvSpPr/>
          <p:nvPr/>
        </p:nvSpPr>
        <p:spPr>
          <a:xfrm>
            <a:off x="5166360" y="3063240"/>
            <a:ext cx="548640" cy="0"/>
          </a:xfrm>
          <a:prstGeom prst="line">
            <a:avLst/>
          </a:prstGeom>
          <a:noFill/>
          <a:ln w="12700">
            <a:solidFill>
              <a:srgbClr val="2B3A55"/>
            </a:solidFill>
            <a:prstDash val="solid"/>
          </a:ln>
        </p:spPr>
      </p:sp>
      <p:sp>
        <p:nvSpPr>
          <p:cNvPr id="38" name="Text 36"/>
          <p:cNvSpPr/>
          <p:nvPr/>
        </p:nvSpPr>
        <p:spPr>
          <a:xfrm>
            <a:off x="5166360" y="3200400"/>
            <a:ext cx="1874520" cy="2560320"/>
          </a:xfrm>
          <a:prstGeom prst="rect">
            <a:avLst/>
          </a:prstGeom>
          <a:noFill/>
          <a:ln/>
        </p:spPr>
        <p:txBody>
          <a:bodyPr wrap="square" lIns="0" tIns="0" rIns="0" bIns="0" rtlCol="0" anchor="t"/>
          <a:lstStyle/>
          <a:p>
            <a:pPr indent="0" marL="0">
              <a:buNone/>
            </a:pPr>
            <a:r>
              <a:rPr lang="en-US" sz="1200" dirty="0">
                <a:solidFill>
                  <a:srgbClr val="ECF1F8"/>
                </a:solidFill>
                <a:latin typeface="Calibri" pitchFamily="34" charset="0"/>
                <a:ea typeface="Calibri" pitchFamily="34" charset="-122"/>
                <a:cs typeface="Calibri" pitchFamily="34" charset="-120"/>
              </a:rPr>
              <a:t>The god Tāne ascends to the heavens to retrieve the three baskets of knowledge, gifting wisdom to the first generation of humans.</a:t>
            </a:r>
            <a:endParaRPr lang="en-US" sz="1200" dirty="0"/>
          </a:p>
        </p:txBody>
      </p:sp>
      <p:sp>
        <p:nvSpPr>
          <p:cNvPr id="39" name="Shape 37"/>
          <p:cNvSpPr/>
          <p:nvPr/>
        </p:nvSpPr>
        <p:spPr>
          <a:xfrm>
            <a:off x="7342632" y="2286000"/>
            <a:ext cx="2194560" cy="3566160"/>
          </a:xfrm>
          <a:prstGeom prst="rect">
            <a:avLst/>
          </a:prstGeom>
          <a:solidFill>
            <a:srgbClr val="0F1624"/>
          </a:solidFill>
          <a:ln w="9525">
            <a:solidFill>
              <a:srgbClr val="2B3A55"/>
            </a:solidFill>
            <a:prstDash val="solid"/>
          </a:ln>
        </p:spPr>
      </p:sp>
      <p:sp>
        <p:nvSpPr>
          <p:cNvPr id="40" name="Shape 38"/>
          <p:cNvSpPr/>
          <p:nvPr/>
        </p:nvSpPr>
        <p:spPr>
          <a:xfrm>
            <a:off x="7342632" y="2286000"/>
            <a:ext cx="54864" cy="3566160"/>
          </a:xfrm>
          <a:prstGeom prst="rect">
            <a:avLst/>
          </a:prstGeom>
          <a:solidFill>
            <a:srgbClr val="F5B024"/>
          </a:solidFill>
          <a:ln w="12700">
            <a:solidFill>
              <a:srgbClr val="F5B024"/>
            </a:solidFill>
            <a:prstDash val="solid"/>
          </a:ln>
        </p:spPr>
      </p:sp>
      <p:sp>
        <p:nvSpPr>
          <p:cNvPr id="41" name="Text 39"/>
          <p:cNvSpPr/>
          <p:nvPr/>
        </p:nvSpPr>
        <p:spPr>
          <a:xfrm>
            <a:off x="7525512" y="2560320"/>
            <a:ext cx="1874520" cy="457200"/>
          </a:xfrm>
          <a:prstGeom prst="rect">
            <a:avLst/>
          </a:prstGeom>
          <a:noFill/>
          <a:ln/>
        </p:spPr>
        <p:txBody>
          <a:bodyPr wrap="square" lIns="0" tIns="0" rIns="0" bIns="0" rtlCol="0" anchor="ctr"/>
          <a:lstStyle/>
          <a:p>
            <a:pPr indent="0" marL="0">
              <a:buNone/>
            </a:pPr>
            <a:r>
              <a:rPr lang="en-US" sz="1700" spc="300" kern="0" dirty="0">
                <a:solidFill>
                  <a:srgbClr val="F5B024"/>
                </a:solidFill>
                <a:latin typeface="Arial Black" pitchFamily="34" charset="0"/>
                <a:ea typeface="Arial Black" pitchFamily="34" charset="-122"/>
                <a:cs typeface="Arial Black" pitchFamily="34" charset="-120"/>
              </a:rPr>
              <a:t>GREEK</a:t>
            </a:r>
            <a:endParaRPr lang="en-US" sz="1700" dirty="0"/>
          </a:p>
        </p:txBody>
      </p:sp>
      <p:sp>
        <p:nvSpPr>
          <p:cNvPr id="42" name="Shape 40"/>
          <p:cNvSpPr/>
          <p:nvPr/>
        </p:nvSpPr>
        <p:spPr>
          <a:xfrm>
            <a:off x="7525512" y="3063240"/>
            <a:ext cx="548640" cy="0"/>
          </a:xfrm>
          <a:prstGeom prst="line">
            <a:avLst/>
          </a:prstGeom>
          <a:noFill/>
          <a:ln w="12700">
            <a:solidFill>
              <a:srgbClr val="2B3A55"/>
            </a:solidFill>
            <a:prstDash val="solid"/>
          </a:ln>
        </p:spPr>
      </p:sp>
      <p:sp>
        <p:nvSpPr>
          <p:cNvPr id="43" name="Text 41"/>
          <p:cNvSpPr/>
          <p:nvPr/>
        </p:nvSpPr>
        <p:spPr>
          <a:xfrm>
            <a:off x="7525512" y="3200400"/>
            <a:ext cx="1874520" cy="2560320"/>
          </a:xfrm>
          <a:prstGeom prst="rect">
            <a:avLst/>
          </a:prstGeom>
          <a:noFill/>
          <a:ln/>
        </p:spPr>
        <p:txBody>
          <a:bodyPr wrap="square" lIns="0" tIns="0" rIns="0" bIns="0" rtlCol="0" anchor="t"/>
          <a:lstStyle/>
          <a:p>
            <a:pPr indent="0" marL="0">
              <a:buNone/>
            </a:pPr>
            <a:r>
              <a:rPr lang="en-US" sz="1200" dirty="0">
                <a:solidFill>
                  <a:srgbClr val="ECF1F8"/>
                </a:solidFill>
                <a:latin typeface="Calibri" pitchFamily="34" charset="0"/>
                <a:ea typeface="Calibri" pitchFamily="34" charset="-122"/>
                <a:cs typeface="Calibri" pitchFamily="34" charset="-120"/>
              </a:rPr>
              <a:t>Prometheus steals fire from the gods and delivers it to humanity — the archetype of divine knowledge transferred to mortals.</a:t>
            </a:r>
            <a:endParaRPr lang="en-US" sz="1200" dirty="0"/>
          </a:p>
        </p:txBody>
      </p:sp>
      <p:sp>
        <p:nvSpPr>
          <p:cNvPr id="44" name="Shape 42"/>
          <p:cNvSpPr/>
          <p:nvPr/>
        </p:nvSpPr>
        <p:spPr>
          <a:xfrm>
            <a:off x="9701784" y="2286000"/>
            <a:ext cx="2194560" cy="3566160"/>
          </a:xfrm>
          <a:prstGeom prst="rect">
            <a:avLst/>
          </a:prstGeom>
          <a:solidFill>
            <a:srgbClr val="0F1624"/>
          </a:solidFill>
          <a:ln w="9525">
            <a:solidFill>
              <a:srgbClr val="2B3A55"/>
            </a:solidFill>
            <a:prstDash val="solid"/>
          </a:ln>
        </p:spPr>
      </p:sp>
      <p:sp>
        <p:nvSpPr>
          <p:cNvPr id="45" name="Shape 43"/>
          <p:cNvSpPr/>
          <p:nvPr/>
        </p:nvSpPr>
        <p:spPr>
          <a:xfrm>
            <a:off x="9701784" y="2286000"/>
            <a:ext cx="54864" cy="3566160"/>
          </a:xfrm>
          <a:prstGeom prst="rect">
            <a:avLst/>
          </a:prstGeom>
          <a:solidFill>
            <a:srgbClr val="F5B024"/>
          </a:solidFill>
          <a:ln w="12700">
            <a:solidFill>
              <a:srgbClr val="F5B024"/>
            </a:solidFill>
            <a:prstDash val="solid"/>
          </a:ln>
        </p:spPr>
      </p:sp>
      <p:sp>
        <p:nvSpPr>
          <p:cNvPr id="46" name="Text 44"/>
          <p:cNvSpPr/>
          <p:nvPr/>
        </p:nvSpPr>
        <p:spPr>
          <a:xfrm>
            <a:off x="9884664" y="2560320"/>
            <a:ext cx="1874520" cy="457200"/>
          </a:xfrm>
          <a:prstGeom prst="rect">
            <a:avLst/>
          </a:prstGeom>
          <a:noFill/>
          <a:ln/>
        </p:spPr>
        <p:txBody>
          <a:bodyPr wrap="square" lIns="0" tIns="0" rIns="0" bIns="0" rtlCol="0" anchor="ctr"/>
          <a:lstStyle/>
          <a:p>
            <a:pPr indent="0" marL="0">
              <a:buNone/>
            </a:pPr>
            <a:r>
              <a:rPr lang="en-US" sz="1700" spc="300" kern="0" dirty="0">
                <a:solidFill>
                  <a:srgbClr val="F5B024"/>
                </a:solidFill>
                <a:latin typeface="Arial Black" pitchFamily="34" charset="0"/>
                <a:ea typeface="Arial Black" pitchFamily="34" charset="-122"/>
                <a:cs typeface="Arial Black" pitchFamily="34" charset="-120"/>
              </a:rPr>
              <a:t>ZULU</a:t>
            </a:r>
            <a:endParaRPr lang="en-US" sz="1700" dirty="0"/>
          </a:p>
        </p:txBody>
      </p:sp>
      <p:sp>
        <p:nvSpPr>
          <p:cNvPr id="47" name="Shape 45"/>
          <p:cNvSpPr/>
          <p:nvPr/>
        </p:nvSpPr>
        <p:spPr>
          <a:xfrm>
            <a:off x="9884664" y="3063240"/>
            <a:ext cx="548640" cy="0"/>
          </a:xfrm>
          <a:prstGeom prst="line">
            <a:avLst/>
          </a:prstGeom>
          <a:noFill/>
          <a:ln w="12700">
            <a:solidFill>
              <a:srgbClr val="2B3A55"/>
            </a:solidFill>
            <a:prstDash val="solid"/>
          </a:ln>
        </p:spPr>
      </p:sp>
      <p:sp>
        <p:nvSpPr>
          <p:cNvPr id="48" name="Text 46"/>
          <p:cNvSpPr/>
          <p:nvPr/>
        </p:nvSpPr>
        <p:spPr>
          <a:xfrm>
            <a:off x="9884664" y="3200400"/>
            <a:ext cx="1874520" cy="2560320"/>
          </a:xfrm>
          <a:prstGeom prst="rect">
            <a:avLst/>
          </a:prstGeom>
          <a:noFill/>
          <a:ln/>
        </p:spPr>
        <p:txBody>
          <a:bodyPr wrap="square" lIns="0" tIns="0" rIns="0" bIns="0" rtlCol="0" anchor="t"/>
          <a:lstStyle/>
          <a:p>
            <a:pPr indent="0" marL="0">
              <a:buNone/>
            </a:pPr>
            <a:r>
              <a:rPr lang="en-US" sz="1200" dirty="0">
                <a:solidFill>
                  <a:srgbClr val="ECF1F8"/>
                </a:solidFill>
                <a:latin typeface="Calibri" pitchFamily="34" charset="0"/>
                <a:ea typeface="Calibri" pitchFamily="34" charset="-122"/>
                <a:cs typeface="Calibri" pitchFamily="34" charset="-120"/>
              </a:rPr>
              <a:t>The 'Sky People' descend from the stars and teach early humans agriculture and the skills required to build a settled life.</a:t>
            </a:r>
            <a:endParaRPr lang="en-US" sz="1200" dirty="0"/>
          </a:p>
        </p:txBody>
      </p:sp>
      <p:sp>
        <p:nvSpPr>
          <p:cNvPr id="49" name="Text 47"/>
          <p:cNvSpPr/>
          <p:nvPr/>
        </p:nvSpPr>
        <p:spPr>
          <a:xfrm>
            <a:off x="548640" y="6126480"/>
            <a:ext cx="11064240" cy="320040"/>
          </a:xfrm>
          <a:prstGeom prst="rect">
            <a:avLst/>
          </a:prstGeom>
          <a:noFill/>
          <a:ln/>
        </p:spPr>
        <p:txBody>
          <a:bodyPr wrap="square" lIns="0" tIns="0" rIns="0" bIns="0" rtlCol="0" anchor="ctr"/>
          <a:lstStyle/>
          <a:p>
            <a:pPr algn="ctr" indent="0" marL="0">
              <a:buNone/>
            </a:pPr>
            <a:r>
              <a:rPr lang="en-US" sz="1200" i="1" dirty="0">
                <a:solidFill>
                  <a:srgbClr val="8A97AD"/>
                </a:solidFill>
                <a:latin typeface="Calibri" pitchFamily="34" charset="0"/>
                <a:ea typeface="Calibri" pitchFamily="34" charset="-122"/>
                <a:cs typeface="Calibri" pitchFamily="34" charset="-120"/>
              </a:rPr>
              <a:t>A shared narrative across unrelated civilizations — the sky as the source of origin, knowledge, and civilization itself.</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DOC-013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COMPARATIVE MYTH</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 · THE FIRE-BRINGER</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13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  ·  SECTION 05</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Fire-Bringer Archetype  ·  A Global Pattern</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265176" y="2286000"/>
            <a:ext cx="2194560" cy="3566160"/>
          </a:xfrm>
          <a:prstGeom prst="rect">
            <a:avLst/>
          </a:prstGeom>
          <a:solidFill>
            <a:srgbClr val="0F1624"/>
          </a:solidFill>
          <a:ln w="9525">
            <a:solidFill>
              <a:srgbClr val="2B3A55"/>
            </a:solidFill>
            <a:prstDash val="solid"/>
          </a:ln>
        </p:spPr>
      </p:sp>
      <p:sp>
        <p:nvSpPr>
          <p:cNvPr id="25" name="Shape 23"/>
          <p:cNvSpPr/>
          <p:nvPr/>
        </p:nvSpPr>
        <p:spPr>
          <a:xfrm>
            <a:off x="265176" y="2286000"/>
            <a:ext cx="54864" cy="3566160"/>
          </a:xfrm>
          <a:prstGeom prst="rect">
            <a:avLst/>
          </a:prstGeom>
          <a:solidFill>
            <a:srgbClr val="38D9F0"/>
          </a:solidFill>
          <a:ln w="12700">
            <a:solidFill>
              <a:srgbClr val="38D9F0"/>
            </a:solidFill>
            <a:prstDash val="solid"/>
          </a:ln>
        </p:spPr>
      </p:sp>
      <p:sp>
        <p:nvSpPr>
          <p:cNvPr id="26" name="Text 24"/>
          <p:cNvSpPr/>
          <p:nvPr/>
        </p:nvSpPr>
        <p:spPr>
          <a:xfrm>
            <a:off x="448056" y="2514600"/>
            <a:ext cx="914400" cy="320040"/>
          </a:xfrm>
          <a:prstGeom prst="rect">
            <a:avLst/>
          </a:prstGeom>
          <a:noFill/>
          <a:ln/>
        </p:spPr>
        <p:txBody>
          <a:bodyPr wrap="square" lIns="0" tIns="0" rIns="0" bIns="0" rtlCol="0" anchor="ctr"/>
          <a:lstStyle/>
          <a:p>
            <a:pPr indent="0" marL="0">
              <a:buNone/>
            </a:pPr>
            <a:r>
              <a:rPr lang="en-US" sz="1100" b="1" dirty="0">
                <a:solidFill>
                  <a:srgbClr val="5C6A83"/>
                </a:solidFill>
                <a:latin typeface="Consolas" pitchFamily="34" charset="0"/>
                <a:ea typeface="Consolas" pitchFamily="34" charset="-122"/>
                <a:cs typeface="Consolas" pitchFamily="34" charset="-120"/>
              </a:rPr>
              <a:t>01</a:t>
            </a:r>
            <a:endParaRPr lang="en-US" sz="1100" dirty="0"/>
          </a:p>
        </p:txBody>
      </p:sp>
      <p:sp>
        <p:nvSpPr>
          <p:cNvPr id="27" name="Text 25"/>
          <p:cNvSpPr/>
          <p:nvPr/>
        </p:nvSpPr>
        <p:spPr>
          <a:xfrm>
            <a:off x="448056" y="2788920"/>
            <a:ext cx="1874520" cy="502920"/>
          </a:xfrm>
          <a:prstGeom prst="rect">
            <a:avLst/>
          </a:prstGeom>
          <a:noFill/>
          <a:ln/>
        </p:spPr>
        <p:txBody>
          <a:bodyPr wrap="square" lIns="0" tIns="0" rIns="0" bIns="0" rtlCol="0" anchor="ctr"/>
          <a:lstStyle/>
          <a:p>
            <a:pPr indent="0" marL="0">
              <a:buNone/>
            </a:pPr>
            <a:r>
              <a:rPr lang="en-US" sz="1800" spc="200" kern="0" dirty="0">
                <a:solidFill>
                  <a:srgbClr val="38D9F0"/>
                </a:solidFill>
                <a:latin typeface="Arial Black" pitchFamily="34" charset="0"/>
                <a:ea typeface="Arial Black" pitchFamily="34" charset="-122"/>
                <a:cs typeface="Arial Black" pitchFamily="34" charset="-120"/>
              </a:rPr>
              <a:t>PKHARMAT</a:t>
            </a:r>
            <a:endParaRPr lang="en-US" sz="1800" dirty="0"/>
          </a:p>
        </p:txBody>
      </p:sp>
      <p:sp>
        <p:nvSpPr>
          <p:cNvPr id="28" name="Text 26"/>
          <p:cNvSpPr/>
          <p:nvPr/>
        </p:nvSpPr>
        <p:spPr>
          <a:xfrm>
            <a:off x="448056" y="3291840"/>
            <a:ext cx="1874520" cy="274320"/>
          </a:xfrm>
          <a:prstGeom prst="rect">
            <a:avLst/>
          </a:prstGeom>
          <a:noFill/>
          <a:ln/>
        </p:spPr>
        <p:txBody>
          <a:bodyPr wrap="square" lIns="0" tIns="0" rIns="0" bIns="0" rtlCol="0" anchor="ctr"/>
          <a:lstStyle/>
          <a:p>
            <a:pPr indent="0" marL="0">
              <a:buNone/>
            </a:pPr>
            <a:r>
              <a:rPr lang="en-US" sz="950" i="1" spc="300" kern="0" dirty="0">
                <a:solidFill>
                  <a:srgbClr val="8A97AD"/>
                </a:solidFill>
                <a:latin typeface="Consolas" pitchFamily="34" charset="0"/>
                <a:ea typeface="Consolas" pitchFamily="34" charset="-122"/>
                <a:cs typeface="Consolas" pitchFamily="34" charset="-120"/>
              </a:rPr>
              <a:t>Vainakh Mythology</a:t>
            </a:r>
            <a:endParaRPr lang="en-US" sz="950" dirty="0"/>
          </a:p>
        </p:txBody>
      </p:sp>
      <p:sp>
        <p:nvSpPr>
          <p:cNvPr id="29" name="Shape 27"/>
          <p:cNvSpPr/>
          <p:nvPr/>
        </p:nvSpPr>
        <p:spPr>
          <a:xfrm>
            <a:off x="448056" y="3611880"/>
            <a:ext cx="548640" cy="0"/>
          </a:xfrm>
          <a:prstGeom prst="line">
            <a:avLst/>
          </a:prstGeom>
          <a:noFill/>
          <a:ln w="12700">
            <a:solidFill>
              <a:srgbClr val="2B3A55"/>
            </a:solidFill>
            <a:prstDash val="solid"/>
          </a:ln>
        </p:spPr>
      </p:sp>
      <p:sp>
        <p:nvSpPr>
          <p:cNvPr id="30" name="Text 28"/>
          <p:cNvSpPr/>
          <p:nvPr/>
        </p:nvSpPr>
        <p:spPr>
          <a:xfrm>
            <a:off x="448056" y="3749040"/>
            <a:ext cx="1874520" cy="201168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Stole fire from the gods and delivered it to humankind. Punished by being chained to a mountain, his liver eaten by an eagle.</a:t>
            </a:r>
            <a:endParaRPr lang="en-US" sz="1150" dirty="0"/>
          </a:p>
        </p:txBody>
      </p:sp>
      <p:sp>
        <p:nvSpPr>
          <p:cNvPr id="31" name="Shape 29"/>
          <p:cNvSpPr/>
          <p:nvPr/>
        </p:nvSpPr>
        <p:spPr>
          <a:xfrm>
            <a:off x="2624328" y="2286000"/>
            <a:ext cx="2194560" cy="3566160"/>
          </a:xfrm>
          <a:prstGeom prst="rect">
            <a:avLst/>
          </a:prstGeom>
          <a:solidFill>
            <a:srgbClr val="0F1624"/>
          </a:solidFill>
          <a:ln w="9525">
            <a:solidFill>
              <a:srgbClr val="2B3A55"/>
            </a:solidFill>
            <a:prstDash val="solid"/>
          </a:ln>
        </p:spPr>
      </p:sp>
      <p:sp>
        <p:nvSpPr>
          <p:cNvPr id="32" name="Shape 30"/>
          <p:cNvSpPr/>
          <p:nvPr/>
        </p:nvSpPr>
        <p:spPr>
          <a:xfrm>
            <a:off x="2624328" y="2286000"/>
            <a:ext cx="54864" cy="3566160"/>
          </a:xfrm>
          <a:prstGeom prst="rect">
            <a:avLst/>
          </a:prstGeom>
          <a:solidFill>
            <a:srgbClr val="38D9F0"/>
          </a:solidFill>
          <a:ln w="12700">
            <a:solidFill>
              <a:srgbClr val="38D9F0"/>
            </a:solidFill>
            <a:prstDash val="solid"/>
          </a:ln>
        </p:spPr>
      </p:sp>
      <p:sp>
        <p:nvSpPr>
          <p:cNvPr id="33" name="Text 31"/>
          <p:cNvSpPr/>
          <p:nvPr/>
        </p:nvSpPr>
        <p:spPr>
          <a:xfrm>
            <a:off x="2807208" y="2514600"/>
            <a:ext cx="914400" cy="320040"/>
          </a:xfrm>
          <a:prstGeom prst="rect">
            <a:avLst/>
          </a:prstGeom>
          <a:noFill/>
          <a:ln/>
        </p:spPr>
        <p:txBody>
          <a:bodyPr wrap="square" lIns="0" tIns="0" rIns="0" bIns="0" rtlCol="0" anchor="ctr"/>
          <a:lstStyle/>
          <a:p>
            <a:pPr indent="0" marL="0">
              <a:buNone/>
            </a:pPr>
            <a:r>
              <a:rPr lang="en-US" sz="1100" b="1" dirty="0">
                <a:solidFill>
                  <a:srgbClr val="5C6A83"/>
                </a:solidFill>
                <a:latin typeface="Consolas" pitchFamily="34" charset="0"/>
                <a:ea typeface="Consolas" pitchFamily="34" charset="-122"/>
                <a:cs typeface="Consolas" pitchFamily="34" charset="-120"/>
              </a:rPr>
              <a:t>02</a:t>
            </a:r>
            <a:endParaRPr lang="en-US" sz="1100" dirty="0"/>
          </a:p>
        </p:txBody>
      </p:sp>
      <p:sp>
        <p:nvSpPr>
          <p:cNvPr id="34" name="Text 32"/>
          <p:cNvSpPr/>
          <p:nvPr/>
        </p:nvSpPr>
        <p:spPr>
          <a:xfrm>
            <a:off x="2807208" y="2788920"/>
            <a:ext cx="1874520" cy="502920"/>
          </a:xfrm>
          <a:prstGeom prst="rect">
            <a:avLst/>
          </a:prstGeom>
          <a:noFill/>
          <a:ln/>
        </p:spPr>
        <p:txBody>
          <a:bodyPr wrap="square" lIns="0" tIns="0" rIns="0" bIns="0" rtlCol="0" anchor="ctr"/>
          <a:lstStyle/>
          <a:p>
            <a:pPr indent="0" marL="0">
              <a:buNone/>
            </a:pPr>
            <a:r>
              <a:rPr lang="en-US" sz="1800" spc="200" kern="0" dirty="0">
                <a:solidFill>
                  <a:srgbClr val="38D9F0"/>
                </a:solidFill>
                <a:latin typeface="Arial Black" pitchFamily="34" charset="0"/>
                <a:ea typeface="Arial Black" pitchFamily="34" charset="-122"/>
                <a:cs typeface="Arial Black" pitchFamily="34" charset="-120"/>
              </a:rPr>
              <a:t>AMIRANI</a:t>
            </a:r>
            <a:endParaRPr lang="en-US" sz="1800" dirty="0"/>
          </a:p>
        </p:txBody>
      </p:sp>
      <p:sp>
        <p:nvSpPr>
          <p:cNvPr id="35" name="Text 33"/>
          <p:cNvSpPr/>
          <p:nvPr/>
        </p:nvSpPr>
        <p:spPr>
          <a:xfrm>
            <a:off x="2807208" y="3291840"/>
            <a:ext cx="1874520" cy="274320"/>
          </a:xfrm>
          <a:prstGeom prst="rect">
            <a:avLst/>
          </a:prstGeom>
          <a:noFill/>
          <a:ln/>
        </p:spPr>
        <p:txBody>
          <a:bodyPr wrap="square" lIns="0" tIns="0" rIns="0" bIns="0" rtlCol="0" anchor="ctr"/>
          <a:lstStyle/>
          <a:p>
            <a:pPr indent="0" marL="0">
              <a:buNone/>
            </a:pPr>
            <a:r>
              <a:rPr lang="en-US" sz="950" i="1" spc="300" kern="0" dirty="0">
                <a:solidFill>
                  <a:srgbClr val="8A97AD"/>
                </a:solidFill>
                <a:latin typeface="Consolas" pitchFamily="34" charset="0"/>
                <a:ea typeface="Consolas" pitchFamily="34" charset="-122"/>
                <a:cs typeface="Consolas" pitchFamily="34" charset="-120"/>
              </a:rPr>
              <a:t>Georgian Mythology</a:t>
            </a:r>
            <a:endParaRPr lang="en-US" sz="950" dirty="0"/>
          </a:p>
        </p:txBody>
      </p:sp>
      <p:sp>
        <p:nvSpPr>
          <p:cNvPr id="36" name="Shape 34"/>
          <p:cNvSpPr/>
          <p:nvPr/>
        </p:nvSpPr>
        <p:spPr>
          <a:xfrm>
            <a:off x="2807208" y="3611880"/>
            <a:ext cx="548640" cy="0"/>
          </a:xfrm>
          <a:prstGeom prst="line">
            <a:avLst/>
          </a:prstGeom>
          <a:noFill/>
          <a:ln w="12700">
            <a:solidFill>
              <a:srgbClr val="2B3A55"/>
            </a:solidFill>
            <a:prstDash val="solid"/>
          </a:ln>
        </p:spPr>
      </p:sp>
      <p:sp>
        <p:nvSpPr>
          <p:cNvPr id="37" name="Text 35"/>
          <p:cNvSpPr/>
          <p:nvPr/>
        </p:nvSpPr>
        <p:spPr>
          <a:xfrm>
            <a:off x="2807208" y="3749040"/>
            <a:ext cx="1874520" cy="201168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Defied the gods to bring fire to humanity. Chained to a mountain, where a bird consumed his liver daily as punishment.</a:t>
            </a:r>
            <a:endParaRPr lang="en-US" sz="1150" dirty="0"/>
          </a:p>
        </p:txBody>
      </p:sp>
      <p:sp>
        <p:nvSpPr>
          <p:cNvPr id="38" name="Shape 36"/>
          <p:cNvSpPr/>
          <p:nvPr/>
        </p:nvSpPr>
        <p:spPr>
          <a:xfrm>
            <a:off x="4983480" y="2286000"/>
            <a:ext cx="2194560" cy="3566160"/>
          </a:xfrm>
          <a:prstGeom prst="rect">
            <a:avLst/>
          </a:prstGeom>
          <a:solidFill>
            <a:srgbClr val="0F1624"/>
          </a:solidFill>
          <a:ln w="9525">
            <a:solidFill>
              <a:srgbClr val="2B3A55"/>
            </a:solidFill>
            <a:prstDash val="solid"/>
          </a:ln>
        </p:spPr>
      </p:sp>
      <p:sp>
        <p:nvSpPr>
          <p:cNvPr id="39" name="Shape 37"/>
          <p:cNvSpPr/>
          <p:nvPr/>
        </p:nvSpPr>
        <p:spPr>
          <a:xfrm>
            <a:off x="4983480" y="2286000"/>
            <a:ext cx="54864" cy="3566160"/>
          </a:xfrm>
          <a:prstGeom prst="rect">
            <a:avLst/>
          </a:prstGeom>
          <a:solidFill>
            <a:srgbClr val="38D9F0"/>
          </a:solidFill>
          <a:ln w="12700">
            <a:solidFill>
              <a:srgbClr val="38D9F0"/>
            </a:solidFill>
            <a:prstDash val="solid"/>
          </a:ln>
        </p:spPr>
      </p:sp>
      <p:sp>
        <p:nvSpPr>
          <p:cNvPr id="40" name="Text 38"/>
          <p:cNvSpPr/>
          <p:nvPr/>
        </p:nvSpPr>
        <p:spPr>
          <a:xfrm>
            <a:off x="5166360" y="2514600"/>
            <a:ext cx="914400" cy="320040"/>
          </a:xfrm>
          <a:prstGeom prst="rect">
            <a:avLst/>
          </a:prstGeom>
          <a:noFill/>
          <a:ln/>
        </p:spPr>
        <p:txBody>
          <a:bodyPr wrap="square" lIns="0" tIns="0" rIns="0" bIns="0" rtlCol="0" anchor="ctr"/>
          <a:lstStyle/>
          <a:p>
            <a:pPr indent="0" marL="0">
              <a:buNone/>
            </a:pPr>
            <a:r>
              <a:rPr lang="en-US" sz="1100" b="1" dirty="0">
                <a:solidFill>
                  <a:srgbClr val="5C6A83"/>
                </a:solidFill>
                <a:latin typeface="Consolas" pitchFamily="34" charset="0"/>
                <a:ea typeface="Consolas" pitchFamily="34" charset="-122"/>
                <a:cs typeface="Consolas" pitchFamily="34" charset="-120"/>
              </a:rPr>
              <a:t>03</a:t>
            </a:r>
            <a:endParaRPr lang="en-US" sz="1100" dirty="0"/>
          </a:p>
        </p:txBody>
      </p:sp>
      <p:sp>
        <p:nvSpPr>
          <p:cNvPr id="41" name="Text 39"/>
          <p:cNvSpPr/>
          <p:nvPr/>
        </p:nvSpPr>
        <p:spPr>
          <a:xfrm>
            <a:off x="5166360" y="2788920"/>
            <a:ext cx="1874520" cy="502920"/>
          </a:xfrm>
          <a:prstGeom prst="rect">
            <a:avLst/>
          </a:prstGeom>
          <a:noFill/>
          <a:ln/>
        </p:spPr>
        <p:txBody>
          <a:bodyPr wrap="square" lIns="0" tIns="0" rIns="0" bIns="0" rtlCol="0" anchor="ctr"/>
          <a:lstStyle/>
          <a:p>
            <a:pPr indent="0" marL="0">
              <a:buNone/>
            </a:pPr>
            <a:r>
              <a:rPr lang="en-US" sz="1800" spc="200" kern="0" dirty="0">
                <a:solidFill>
                  <a:srgbClr val="38D9F0"/>
                </a:solidFill>
                <a:latin typeface="Arial Black" pitchFamily="34" charset="0"/>
                <a:ea typeface="Arial Black" pitchFamily="34" charset="-122"/>
                <a:cs typeface="Arial Black" pitchFamily="34" charset="-120"/>
              </a:rPr>
              <a:t>MĀUI</a:t>
            </a:r>
            <a:endParaRPr lang="en-US" sz="1800" dirty="0"/>
          </a:p>
        </p:txBody>
      </p:sp>
      <p:sp>
        <p:nvSpPr>
          <p:cNvPr id="42" name="Text 40"/>
          <p:cNvSpPr/>
          <p:nvPr/>
        </p:nvSpPr>
        <p:spPr>
          <a:xfrm>
            <a:off x="5166360" y="3291840"/>
            <a:ext cx="1874520" cy="274320"/>
          </a:xfrm>
          <a:prstGeom prst="rect">
            <a:avLst/>
          </a:prstGeom>
          <a:noFill/>
          <a:ln/>
        </p:spPr>
        <p:txBody>
          <a:bodyPr wrap="square" lIns="0" tIns="0" rIns="0" bIns="0" rtlCol="0" anchor="ctr"/>
          <a:lstStyle/>
          <a:p>
            <a:pPr indent="0" marL="0">
              <a:buNone/>
            </a:pPr>
            <a:r>
              <a:rPr lang="en-US" sz="950" i="1" spc="300" kern="0" dirty="0">
                <a:solidFill>
                  <a:srgbClr val="8A97AD"/>
                </a:solidFill>
                <a:latin typeface="Consolas" pitchFamily="34" charset="0"/>
                <a:ea typeface="Consolas" pitchFamily="34" charset="-122"/>
                <a:cs typeface="Consolas" pitchFamily="34" charset="-120"/>
              </a:rPr>
              <a:t>Polynesian Mythology</a:t>
            </a:r>
            <a:endParaRPr lang="en-US" sz="950" dirty="0"/>
          </a:p>
        </p:txBody>
      </p:sp>
      <p:sp>
        <p:nvSpPr>
          <p:cNvPr id="43" name="Shape 41"/>
          <p:cNvSpPr/>
          <p:nvPr/>
        </p:nvSpPr>
        <p:spPr>
          <a:xfrm>
            <a:off x="5166360" y="3611880"/>
            <a:ext cx="548640" cy="0"/>
          </a:xfrm>
          <a:prstGeom prst="line">
            <a:avLst/>
          </a:prstGeom>
          <a:noFill/>
          <a:ln w="12700">
            <a:solidFill>
              <a:srgbClr val="2B3A55"/>
            </a:solidFill>
            <a:prstDash val="solid"/>
          </a:ln>
        </p:spPr>
      </p:sp>
      <p:sp>
        <p:nvSpPr>
          <p:cNvPr id="44" name="Text 42"/>
          <p:cNvSpPr/>
          <p:nvPr/>
        </p:nvSpPr>
        <p:spPr>
          <a:xfrm>
            <a:off x="5166360" y="3749040"/>
            <a:ext cx="1874520" cy="201168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A trickster who stole fire from the underworld and returned it to humanity — celebrated for his cleverness and defiance.</a:t>
            </a:r>
            <a:endParaRPr lang="en-US" sz="1150" dirty="0"/>
          </a:p>
        </p:txBody>
      </p:sp>
      <p:sp>
        <p:nvSpPr>
          <p:cNvPr id="45" name="Shape 43"/>
          <p:cNvSpPr/>
          <p:nvPr/>
        </p:nvSpPr>
        <p:spPr>
          <a:xfrm>
            <a:off x="7342632" y="2286000"/>
            <a:ext cx="2194560" cy="3566160"/>
          </a:xfrm>
          <a:prstGeom prst="rect">
            <a:avLst/>
          </a:prstGeom>
          <a:solidFill>
            <a:srgbClr val="0F1624"/>
          </a:solidFill>
          <a:ln w="9525">
            <a:solidFill>
              <a:srgbClr val="2B3A55"/>
            </a:solidFill>
            <a:prstDash val="solid"/>
          </a:ln>
        </p:spPr>
      </p:sp>
      <p:sp>
        <p:nvSpPr>
          <p:cNvPr id="46" name="Shape 44"/>
          <p:cNvSpPr/>
          <p:nvPr/>
        </p:nvSpPr>
        <p:spPr>
          <a:xfrm>
            <a:off x="7342632" y="2286000"/>
            <a:ext cx="54864" cy="3566160"/>
          </a:xfrm>
          <a:prstGeom prst="rect">
            <a:avLst/>
          </a:prstGeom>
          <a:solidFill>
            <a:srgbClr val="38D9F0"/>
          </a:solidFill>
          <a:ln w="12700">
            <a:solidFill>
              <a:srgbClr val="38D9F0"/>
            </a:solidFill>
            <a:prstDash val="solid"/>
          </a:ln>
        </p:spPr>
      </p:sp>
      <p:sp>
        <p:nvSpPr>
          <p:cNvPr id="47" name="Text 45"/>
          <p:cNvSpPr/>
          <p:nvPr/>
        </p:nvSpPr>
        <p:spPr>
          <a:xfrm>
            <a:off x="7525512" y="2514600"/>
            <a:ext cx="914400" cy="320040"/>
          </a:xfrm>
          <a:prstGeom prst="rect">
            <a:avLst/>
          </a:prstGeom>
          <a:noFill/>
          <a:ln/>
        </p:spPr>
        <p:txBody>
          <a:bodyPr wrap="square" lIns="0" tIns="0" rIns="0" bIns="0" rtlCol="0" anchor="ctr"/>
          <a:lstStyle/>
          <a:p>
            <a:pPr indent="0" marL="0">
              <a:buNone/>
            </a:pPr>
            <a:r>
              <a:rPr lang="en-US" sz="1100" b="1" dirty="0">
                <a:solidFill>
                  <a:srgbClr val="5C6A83"/>
                </a:solidFill>
                <a:latin typeface="Consolas" pitchFamily="34" charset="0"/>
                <a:ea typeface="Consolas" pitchFamily="34" charset="-122"/>
                <a:cs typeface="Consolas" pitchFamily="34" charset="-120"/>
              </a:rPr>
              <a:t>04</a:t>
            </a:r>
            <a:endParaRPr lang="en-US" sz="1100" dirty="0"/>
          </a:p>
        </p:txBody>
      </p:sp>
      <p:sp>
        <p:nvSpPr>
          <p:cNvPr id="48" name="Text 46"/>
          <p:cNvSpPr/>
          <p:nvPr/>
        </p:nvSpPr>
        <p:spPr>
          <a:xfrm>
            <a:off x="7525512" y="2788920"/>
            <a:ext cx="1874520" cy="502920"/>
          </a:xfrm>
          <a:prstGeom prst="rect">
            <a:avLst/>
          </a:prstGeom>
          <a:noFill/>
          <a:ln/>
        </p:spPr>
        <p:txBody>
          <a:bodyPr wrap="square" lIns="0" tIns="0" rIns="0" bIns="0" rtlCol="0" anchor="ctr"/>
          <a:lstStyle/>
          <a:p>
            <a:pPr indent="0" marL="0">
              <a:buNone/>
            </a:pPr>
            <a:r>
              <a:rPr lang="en-US" sz="1800" spc="200" kern="0" dirty="0">
                <a:solidFill>
                  <a:srgbClr val="38D9F0"/>
                </a:solidFill>
                <a:latin typeface="Arial Black" pitchFamily="34" charset="0"/>
                <a:ea typeface="Arial Black" pitchFamily="34" charset="-122"/>
                <a:cs typeface="Arial Black" pitchFamily="34" charset="-120"/>
              </a:rPr>
              <a:t>COYOTE</a:t>
            </a:r>
            <a:endParaRPr lang="en-US" sz="1800" dirty="0"/>
          </a:p>
        </p:txBody>
      </p:sp>
      <p:sp>
        <p:nvSpPr>
          <p:cNvPr id="49" name="Text 47"/>
          <p:cNvSpPr/>
          <p:nvPr/>
        </p:nvSpPr>
        <p:spPr>
          <a:xfrm>
            <a:off x="7525512" y="3291840"/>
            <a:ext cx="1874520" cy="274320"/>
          </a:xfrm>
          <a:prstGeom prst="rect">
            <a:avLst/>
          </a:prstGeom>
          <a:noFill/>
          <a:ln/>
        </p:spPr>
        <p:txBody>
          <a:bodyPr wrap="square" lIns="0" tIns="0" rIns="0" bIns="0" rtlCol="0" anchor="ctr"/>
          <a:lstStyle/>
          <a:p>
            <a:pPr indent="0" marL="0">
              <a:buNone/>
            </a:pPr>
            <a:r>
              <a:rPr lang="en-US" sz="950" i="1" spc="300" kern="0" dirty="0">
                <a:solidFill>
                  <a:srgbClr val="8A97AD"/>
                </a:solidFill>
                <a:latin typeface="Consolas" pitchFamily="34" charset="0"/>
                <a:ea typeface="Consolas" pitchFamily="34" charset="-122"/>
                <a:cs typeface="Consolas" pitchFamily="34" charset="-120"/>
              </a:rPr>
              <a:t>Native American</a:t>
            </a:r>
            <a:endParaRPr lang="en-US" sz="950" dirty="0"/>
          </a:p>
        </p:txBody>
      </p:sp>
      <p:sp>
        <p:nvSpPr>
          <p:cNvPr id="50" name="Shape 48"/>
          <p:cNvSpPr/>
          <p:nvPr/>
        </p:nvSpPr>
        <p:spPr>
          <a:xfrm>
            <a:off x="7525512" y="3611880"/>
            <a:ext cx="548640" cy="0"/>
          </a:xfrm>
          <a:prstGeom prst="line">
            <a:avLst/>
          </a:prstGeom>
          <a:noFill/>
          <a:ln w="12700">
            <a:solidFill>
              <a:srgbClr val="2B3A55"/>
            </a:solidFill>
            <a:prstDash val="solid"/>
          </a:ln>
        </p:spPr>
      </p:sp>
      <p:sp>
        <p:nvSpPr>
          <p:cNvPr id="51" name="Text 49"/>
          <p:cNvSpPr/>
          <p:nvPr/>
        </p:nvSpPr>
        <p:spPr>
          <a:xfrm>
            <a:off x="7525512" y="3749040"/>
            <a:ext cx="1874520" cy="201168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A cunning figure across many nations, stealing fire from the gods and gifting it to early people who had none.</a:t>
            </a:r>
            <a:endParaRPr lang="en-US" sz="1150" dirty="0"/>
          </a:p>
        </p:txBody>
      </p:sp>
      <p:sp>
        <p:nvSpPr>
          <p:cNvPr id="52" name="Shape 50"/>
          <p:cNvSpPr/>
          <p:nvPr/>
        </p:nvSpPr>
        <p:spPr>
          <a:xfrm>
            <a:off x="9701784" y="2286000"/>
            <a:ext cx="2194560" cy="3566160"/>
          </a:xfrm>
          <a:prstGeom prst="rect">
            <a:avLst/>
          </a:prstGeom>
          <a:solidFill>
            <a:srgbClr val="0F1624"/>
          </a:solidFill>
          <a:ln w="9525">
            <a:solidFill>
              <a:srgbClr val="2B3A55"/>
            </a:solidFill>
            <a:prstDash val="solid"/>
          </a:ln>
        </p:spPr>
      </p:sp>
      <p:sp>
        <p:nvSpPr>
          <p:cNvPr id="53" name="Shape 51"/>
          <p:cNvSpPr/>
          <p:nvPr/>
        </p:nvSpPr>
        <p:spPr>
          <a:xfrm>
            <a:off x="9701784" y="2286000"/>
            <a:ext cx="54864" cy="3566160"/>
          </a:xfrm>
          <a:prstGeom prst="rect">
            <a:avLst/>
          </a:prstGeom>
          <a:solidFill>
            <a:srgbClr val="38D9F0"/>
          </a:solidFill>
          <a:ln w="12700">
            <a:solidFill>
              <a:srgbClr val="38D9F0"/>
            </a:solidFill>
            <a:prstDash val="solid"/>
          </a:ln>
        </p:spPr>
      </p:sp>
      <p:sp>
        <p:nvSpPr>
          <p:cNvPr id="54" name="Text 52"/>
          <p:cNvSpPr/>
          <p:nvPr/>
        </p:nvSpPr>
        <p:spPr>
          <a:xfrm>
            <a:off x="9884664" y="2514600"/>
            <a:ext cx="914400" cy="320040"/>
          </a:xfrm>
          <a:prstGeom prst="rect">
            <a:avLst/>
          </a:prstGeom>
          <a:noFill/>
          <a:ln/>
        </p:spPr>
        <p:txBody>
          <a:bodyPr wrap="square" lIns="0" tIns="0" rIns="0" bIns="0" rtlCol="0" anchor="ctr"/>
          <a:lstStyle/>
          <a:p>
            <a:pPr indent="0" marL="0">
              <a:buNone/>
            </a:pPr>
            <a:r>
              <a:rPr lang="en-US" sz="1100" b="1" dirty="0">
                <a:solidFill>
                  <a:srgbClr val="5C6A83"/>
                </a:solidFill>
                <a:latin typeface="Consolas" pitchFamily="34" charset="0"/>
                <a:ea typeface="Consolas" pitchFamily="34" charset="-122"/>
                <a:cs typeface="Consolas" pitchFamily="34" charset="-120"/>
              </a:rPr>
              <a:t>05</a:t>
            </a:r>
            <a:endParaRPr lang="en-US" sz="1100" dirty="0"/>
          </a:p>
        </p:txBody>
      </p:sp>
      <p:sp>
        <p:nvSpPr>
          <p:cNvPr id="55" name="Text 53"/>
          <p:cNvSpPr/>
          <p:nvPr/>
        </p:nvSpPr>
        <p:spPr>
          <a:xfrm>
            <a:off x="9884664" y="2788920"/>
            <a:ext cx="1874520" cy="502920"/>
          </a:xfrm>
          <a:prstGeom prst="rect">
            <a:avLst/>
          </a:prstGeom>
          <a:noFill/>
          <a:ln/>
        </p:spPr>
        <p:txBody>
          <a:bodyPr wrap="square" lIns="0" tIns="0" rIns="0" bIns="0" rtlCol="0" anchor="ctr"/>
          <a:lstStyle/>
          <a:p>
            <a:pPr indent="0" marL="0">
              <a:buNone/>
            </a:pPr>
            <a:r>
              <a:rPr lang="en-US" sz="1800" spc="200" kern="0" dirty="0">
                <a:solidFill>
                  <a:srgbClr val="38D9F0"/>
                </a:solidFill>
                <a:latin typeface="Arial Black" pitchFamily="34" charset="0"/>
                <a:ea typeface="Arial Black" pitchFamily="34" charset="-122"/>
                <a:cs typeface="Arial Black" pitchFamily="34" charset="-120"/>
              </a:rPr>
              <a:t>ENKI</a:t>
            </a:r>
            <a:endParaRPr lang="en-US" sz="1800" dirty="0"/>
          </a:p>
        </p:txBody>
      </p:sp>
      <p:sp>
        <p:nvSpPr>
          <p:cNvPr id="56" name="Text 54"/>
          <p:cNvSpPr/>
          <p:nvPr/>
        </p:nvSpPr>
        <p:spPr>
          <a:xfrm>
            <a:off x="9884664" y="3291840"/>
            <a:ext cx="1874520" cy="274320"/>
          </a:xfrm>
          <a:prstGeom prst="rect">
            <a:avLst/>
          </a:prstGeom>
          <a:noFill/>
          <a:ln/>
        </p:spPr>
        <p:txBody>
          <a:bodyPr wrap="square" lIns="0" tIns="0" rIns="0" bIns="0" rtlCol="0" anchor="ctr"/>
          <a:lstStyle/>
          <a:p>
            <a:pPr indent="0" marL="0">
              <a:buNone/>
            </a:pPr>
            <a:r>
              <a:rPr lang="en-US" sz="950" i="1" spc="300" kern="0" dirty="0">
                <a:solidFill>
                  <a:srgbClr val="8A97AD"/>
                </a:solidFill>
                <a:latin typeface="Consolas" pitchFamily="34" charset="0"/>
                <a:ea typeface="Consolas" pitchFamily="34" charset="-122"/>
                <a:cs typeface="Consolas" pitchFamily="34" charset="-120"/>
              </a:rPr>
              <a:t>Sumerian Mythology</a:t>
            </a:r>
            <a:endParaRPr lang="en-US" sz="950" dirty="0"/>
          </a:p>
        </p:txBody>
      </p:sp>
      <p:sp>
        <p:nvSpPr>
          <p:cNvPr id="57" name="Shape 55"/>
          <p:cNvSpPr/>
          <p:nvPr/>
        </p:nvSpPr>
        <p:spPr>
          <a:xfrm>
            <a:off x="9884664" y="3611880"/>
            <a:ext cx="548640" cy="0"/>
          </a:xfrm>
          <a:prstGeom prst="line">
            <a:avLst/>
          </a:prstGeom>
          <a:noFill/>
          <a:ln w="12700">
            <a:solidFill>
              <a:srgbClr val="2B3A55"/>
            </a:solidFill>
            <a:prstDash val="solid"/>
          </a:ln>
        </p:spPr>
      </p:sp>
      <p:sp>
        <p:nvSpPr>
          <p:cNvPr id="58" name="Text 56"/>
          <p:cNvSpPr/>
          <p:nvPr/>
        </p:nvSpPr>
        <p:spPr>
          <a:xfrm>
            <a:off x="9884664" y="3749040"/>
            <a:ext cx="1874520" cy="201168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God of wisdom and freshwater who gave humans the secrets of civilization. A benefactor of humanity, akin to Prometheus.</a:t>
            </a:r>
            <a:endParaRPr lang="en-US" sz="1150" dirty="0"/>
          </a:p>
        </p:txBody>
      </p:sp>
      <p:sp>
        <p:nvSpPr>
          <p:cNvPr id="59" name="Text 57"/>
          <p:cNvSpPr/>
          <p:nvPr/>
        </p:nvSpPr>
        <p:spPr>
          <a:xfrm>
            <a:off x="548640" y="6126480"/>
            <a:ext cx="11064240" cy="320040"/>
          </a:xfrm>
          <a:prstGeom prst="rect">
            <a:avLst/>
          </a:prstGeom>
          <a:noFill/>
          <a:ln/>
        </p:spPr>
        <p:txBody>
          <a:bodyPr wrap="square" lIns="0" tIns="0" rIns="0" bIns="0" rtlCol="0" anchor="ctr"/>
          <a:lstStyle/>
          <a:p>
            <a:pPr algn="ctr" indent="0" marL="0">
              <a:buNone/>
            </a:pPr>
            <a:r>
              <a:rPr lang="en-US" sz="1200" i="1" dirty="0">
                <a:solidFill>
                  <a:srgbClr val="8A97AD"/>
                </a:solidFill>
                <a:latin typeface="Calibri" pitchFamily="34" charset="0"/>
                <a:ea typeface="Calibri" pitchFamily="34" charset="-122"/>
                <a:cs typeface="Calibri" pitchFamily="34" charset="-120"/>
              </a:rPr>
              <a:t>Separated by oceans and centuries, these stories share a common structure: forbidden knowledge stolen from above and delivered to humanity below.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201168" y="201168"/>
            <a:ext cx="201168" cy="25603"/>
          </a:xfrm>
          <a:prstGeom prst="rect">
            <a:avLst/>
          </a:prstGeom>
          <a:solidFill>
            <a:srgbClr val="38D9F0"/>
          </a:solidFill>
          <a:ln w="12700">
            <a:solidFill>
              <a:srgbClr val="38D9F0"/>
            </a:solidFill>
            <a:prstDash val="solid"/>
          </a:ln>
        </p:spPr>
      </p:sp>
      <p:sp>
        <p:nvSpPr>
          <p:cNvPr id="3" name="Shape 1"/>
          <p:cNvSpPr/>
          <p:nvPr/>
        </p:nvSpPr>
        <p:spPr>
          <a:xfrm>
            <a:off x="201168" y="201168"/>
            <a:ext cx="25603" cy="201168"/>
          </a:xfrm>
          <a:prstGeom prst="rect">
            <a:avLst/>
          </a:prstGeom>
          <a:solidFill>
            <a:srgbClr val="38D9F0"/>
          </a:solidFill>
          <a:ln w="12700">
            <a:solidFill>
              <a:srgbClr val="38D9F0"/>
            </a:solidFill>
            <a:prstDash val="solid"/>
          </a:ln>
        </p:spPr>
      </p:sp>
      <p:sp>
        <p:nvSpPr>
          <p:cNvPr id="4" name="Shape 2"/>
          <p:cNvSpPr/>
          <p:nvPr/>
        </p:nvSpPr>
        <p:spPr>
          <a:xfrm>
            <a:off x="11759184" y="201168"/>
            <a:ext cx="201168" cy="25603"/>
          </a:xfrm>
          <a:prstGeom prst="rect">
            <a:avLst/>
          </a:prstGeom>
          <a:solidFill>
            <a:srgbClr val="38D9F0"/>
          </a:solidFill>
          <a:ln w="12700">
            <a:solidFill>
              <a:srgbClr val="38D9F0"/>
            </a:solidFill>
            <a:prstDash val="solid"/>
          </a:ln>
        </p:spPr>
      </p:sp>
      <p:sp>
        <p:nvSpPr>
          <p:cNvPr id="5" name="Shape 3"/>
          <p:cNvSpPr/>
          <p:nvPr/>
        </p:nvSpPr>
        <p:spPr>
          <a:xfrm>
            <a:off x="11934749" y="201168"/>
            <a:ext cx="25603" cy="201168"/>
          </a:xfrm>
          <a:prstGeom prst="rect">
            <a:avLst/>
          </a:prstGeom>
          <a:solidFill>
            <a:srgbClr val="38D9F0"/>
          </a:solidFill>
          <a:ln w="12700">
            <a:solidFill>
              <a:srgbClr val="38D9F0"/>
            </a:solidFill>
            <a:prstDash val="solid"/>
          </a:ln>
        </p:spPr>
      </p:sp>
      <p:sp>
        <p:nvSpPr>
          <p:cNvPr id="6" name="Shape 4"/>
          <p:cNvSpPr/>
          <p:nvPr/>
        </p:nvSpPr>
        <p:spPr>
          <a:xfrm>
            <a:off x="201168" y="6631229"/>
            <a:ext cx="201168" cy="25603"/>
          </a:xfrm>
          <a:prstGeom prst="rect">
            <a:avLst/>
          </a:prstGeom>
          <a:solidFill>
            <a:srgbClr val="38D9F0"/>
          </a:solidFill>
          <a:ln w="12700">
            <a:solidFill>
              <a:srgbClr val="38D9F0"/>
            </a:solidFill>
            <a:prstDash val="solid"/>
          </a:ln>
        </p:spPr>
      </p:sp>
      <p:sp>
        <p:nvSpPr>
          <p:cNvPr id="7" name="Shape 5"/>
          <p:cNvSpPr/>
          <p:nvPr/>
        </p:nvSpPr>
        <p:spPr>
          <a:xfrm>
            <a:off x="201168" y="6455664"/>
            <a:ext cx="25603" cy="201168"/>
          </a:xfrm>
          <a:prstGeom prst="rect">
            <a:avLst/>
          </a:prstGeom>
          <a:solidFill>
            <a:srgbClr val="38D9F0"/>
          </a:solidFill>
          <a:ln w="12700">
            <a:solidFill>
              <a:srgbClr val="38D9F0"/>
            </a:solidFill>
            <a:prstDash val="solid"/>
          </a:ln>
        </p:spPr>
      </p:sp>
      <p:sp>
        <p:nvSpPr>
          <p:cNvPr id="8" name="Shape 6"/>
          <p:cNvSpPr/>
          <p:nvPr/>
        </p:nvSpPr>
        <p:spPr>
          <a:xfrm>
            <a:off x="11759184" y="6631229"/>
            <a:ext cx="201168" cy="25603"/>
          </a:xfrm>
          <a:prstGeom prst="rect">
            <a:avLst/>
          </a:prstGeom>
          <a:solidFill>
            <a:srgbClr val="38D9F0"/>
          </a:solidFill>
          <a:ln w="12700">
            <a:solidFill>
              <a:srgbClr val="38D9F0"/>
            </a:solidFill>
            <a:prstDash val="solid"/>
          </a:ln>
        </p:spPr>
      </p:sp>
      <p:sp>
        <p:nvSpPr>
          <p:cNvPr id="9" name="Shape 7"/>
          <p:cNvSpPr/>
          <p:nvPr/>
        </p:nvSpPr>
        <p:spPr>
          <a:xfrm>
            <a:off x="11934749" y="6455664"/>
            <a:ext cx="25603" cy="201168"/>
          </a:xfrm>
          <a:prstGeom prst="rect">
            <a:avLst/>
          </a:prstGeom>
          <a:solidFill>
            <a:srgbClr val="38D9F0"/>
          </a:solidFill>
          <a:ln w="12700">
            <a:solidFill>
              <a:srgbClr val="38D9F0"/>
            </a:solidFill>
            <a:prstDash val="solid"/>
          </a:ln>
        </p:spPr>
      </p:sp>
      <p:sp>
        <p:nvSpPr>
          <p:cNvPr id="10" name="Text 8"/>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DOC-014  //  UAP ARCHIVE  //  VOL. I</a:t>
            </a:r>
            <a:endParaRPr lang="en-US" sz="900" dirty="0"/>
          </a:p>
        </p:txBody>
      </p:sp>
      <p:sp>
        <p:nvSpPr>
          <p:cNvPr id="11" name="Text 9"/>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SECTION MARKER</a:t>
            </a:r>
            <a:endParaRPr lang="en-US" sz="900" dirty="0"/>
          </a:p>
        </p:txBody>
      </p:sp>
      <p:sp>
        <p:nvSpPr>
          <p:cNvPr id="12" name="Text 10"/>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II · THE TECHNOLOGICAL LENS</a:t>
            </a:r>
            <a:endParaRPr lang="en-US" sz="850" dirty="0"/>
          </a:p>
        </p:txBody>
      </p:sp>
      <p:sp>
        <p:nvSpPr>
          <p:cNvPr id="13" name="Text 11"/>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14 / 40</a:t>
            </a:r>
            <a:endParaRPr lang="en-US" sz="850" dirty="0"/>
          </a:p>
        </p:txBody>
      </p:sp>
      <p:sp>
        <p:nvSpPr>
          <p:cNvPr id="14" name="Text 12"/>
          <p:cNvSpPr/>
          <p:nvPr/>
        </p:nvSpPr>
        <p:spPr>
          <a:xfrm>
            <a:off x="7589520" y="1920240"/>
            <a:ext cx="4206240" cy="3291840"/>
          </a:xfrm>
          <a:prstGeom prst="rect">
            <a:avLst/>
          </a:prstGeom>
          <a:noFill/>
          <a:ln/>
        </p:spPr>
        <p:txBody>
          <a:bodyPr wrap="square" lIns="0" tIns="0" rIns="0" bIns="0" rtlCol="0" anchor="ctr"/>
          <a:lstStyle/>
          <a:p>
            <a:pPr algn="r" indent="0" marL="0">
              <a:buNone/>
            </a:pPr>
            <a:r>
              <a:rPr lang="en-US" sz="22000" dirty="0">
                <a:solidFill>
                  <a:srgbClr val="0F1624"/>
                </a:solidFill>
                <a:latin typeface="Arial Black" pitchFamily="34" charset="0"/>
                <a:ea typeface="Arial Black" pitchFamily="34" charset="-122"/>
                <a:cs typeface="Arial Black" pitchFamily="34" charset="-120"/>
              </a:rPr>
              <a:t>02</a:t>
            </a:r>
            <a:endParaRPr lang="en-US" sz="22000" dirty="0"/>
          </a:p>
        </p:txBody>
      </p:sp>
      <p:sp>
        <p:nvSpPr>
          <p:cNvPr id="15" name="Shape 13"/>
          <p:cNvSpPr/>
          <p:nvPr/>
        </p:nvSpPr>
        <p:spPr>
          <a:xfrm>
            <a:off x="7589520" y="2103120"/>
            <a:ext cx="4069080" cy="2971800"/>
          </a:xfrm>
          <a:prstGeom prst="rect">
            <a:avLst/>
          </a:prstGeom>
          <a:solidFill>
            <a:srgbClr val="070B14">
              <a:alpha val="0"/>
            </a:srgbClr>
          </a:solidFill>
          <a:ln w="6350">
            <a:solidFill>
              <a:srgbClr val="1C2840"/>
            </a:solidFill>
            <a:prstDash val="solid"/>
          </a:ln>
        </p:spPr>
      </p:sp>
      <p:sp>
        <p:nvSpPr>
          <p:cNvPr id="16" name="Text 14"/>
          <p:cNvSpPr/>
          <p:nvPr/>
        </p:nvSpPr>
        <p:spPr>
          <a:xfrm>
            <a:off x="7589520" y="5166360"/>
            <a:ext cx="4069080" cy="274320"/>
          </a:xfrm>
          <a:prstGeom prst="rect">
            <a:avLst/>
          </a:prstGeom>
          <a:noFill/>
          <a:ln/>
        </p:spPr>
        <p:txBody>
          <a:bodyPr wrap="square" lIns="0" tIns="0" rIns="0" bIns="0" rtlCol="0" anchor="ctr"/>
          <a:lstStyle/>
          <a:p>
            <a:pPr algn="r" indent="0" marL="0">
              <a:buNone/>
            </a:pPr>
            <a:r>
              <a:rPr lang="en-US" sz="1000" b="1" spc="400" kern="0" dirty="0">
                <a:solidFill>
                  <a:srgbClr val="38D9F0"/>
                </a:solidFill>
                <a:latin typeface="Consolas" pitchFamily="34" charset="0"/>
                <a:ea typeface="Consolas" pitchFamily="34" charset="-122"/>
                <a:cs typeface="Consolas" pitchFamily="34" charset="-120"/>
              </a:rPr>
              <a:t>SECTION 02  //  ACT II</a:t>
            </a:r>
            <a:endParaRPr lang="en-US" sz="1000" dirty="0"/>
          </a:p>
        </p:txBody>
      </p:sp>
      <p:sp>
        <p:nvSpPr>
          <p:cNvPr id="17" name="Shape 15"/>
          <p:cNvSpPr/>
          <p:nvPr/>
        </p:nvSpPr>
        <p:spPr>
          <a:xfrm>
            <a:off x="777240" y="2560320"/>
            <a:ext cx="73152" cy="2103120"/>
          </a:xfrm>
          <a:prstGeom prst="rect">
            <a:avLst/>
          </a:prstGeom>
          <a:solidFill>
            <a:srgbClr val="38D9F0"/>
          </a:solidFill>
          <a:ln w="12700">
            <a:solidFill>
              <a:srgbClr val="38D9F0"/>
            </a:solidFill>
            <a:prstDash val="solid"/>
          </a:ln>
        </p:spPr>
      </p:sp>
      <p:sp>
        <p:nvSpPr>
          <p:cNvPr id="18" name="Text 16"/>
          <p:cNvSpPr/>
          <p:nvPr/>
        </p:nvSpPr>
        <p:spPr>
          <a:xfrm>
            <a:off x="1051560" y="2514600"/>
            <a:ext cx="6217920" cy="365760"/>
          </a:xfrm>
          <a:prstGeom prst="rect">
            <a:avLst/>
          </a:prstGeom>
          <a:noFill/>
          <a:ln/>
        </p:spPr>
        <p:txBody>
          <a:bodyPr wrap="square" lIns="0" tIns="0" rIns="0" bIns="0" rtlCol="0" anchor="ctr"/>
          <a:lstStyle/>
          <a:p>
            <a:pPr indent="0" marL="0">
              <a:buNone/>
            </a:pPr>
            <a:r>
              <a:rPr lang="en-US" sz="1300" b="1" spc="700" kern="0" dirty="0">
                <a:solidFill>
                  <a:srgbClr val="38D9F0"/>
                </a:solidFill>
                <a:latin typeface="Consolas" pitchFamily="34" charset="0"/>
                <a:ea typeface="Consolas" pitchFamily="34" charset="-122"/>
                <a:cs typeface="Consolas" pitchFamily="34" charset="-120"/>
              </a:rPr>
              <a:t>ACT II</a:t>
            </a:r>
            <a:endParaRPr lang="en-US" sz="1300" dirty="0"/>
          </a:p>
        </p:txBody>
      </p:sp>
      <p:sp>
        <p:nvSpPr>
          <p:cNvPr id="19" name="Text 17"/>
          <p:cNvSpPr/>
          <p:nvPr/>
        </p:nvSpPr>
        <p:spPr>
          <a:xfrm>
            <a:off x="1051560" y="2880360"/>
            <a:ext cx="6492240" cy="1097280"/>
          </a:xfrm>
          <a:prstGeom prst="rect">
            <a:avLst/>
          </a:prstGeom>
          <a:noFill/>
          <a:ln/>
        </p:spPr>
        <p:txBody>
          <a:bodyPr wrap="square" lIns="0" tIns="0" rIns="0" bIns="0" rtlCol="0" anchor="ctr"/>
          <a:lstStyle/>
          <a:p>
            <a:pPr indent="0" marL="0">
              <a:buNone/>
            </a:pPr>
            <a:r>
              <a:rPr lang="en-US" sz="4200" dirty="0">
                <a:solidFill>
                  <a:srgbClr val="ECF1F8"/>
                </a:solidFill>
                <a:latin typeface="Arial Black" pitchFamily="34" charset="0"/>
                <a:ea typeface="Arial Black" pitchFamily="34" charset="-122"/>
                <a:cs typeface="Arial Black" pitchFamily="34" charset="-120"/>
              </a:rPr>
              <a:t>The Technological Lens</a:t>
            </a:r>
            <a:endParaRPr lang="en-US" sz="4200" dirty="0"/>
          </a:p>
        </p:txBody>
      </p:sp>
      <p:sp>
        <p:nvSpPr>
          <p:cNvPr id="20" name="Text 18"/>
          <p:cNvSpPr/>
          <p:nvPr/>
        </p:nvSpPr>
        <p:spPr>
          <a:xfrm>
            <a:off x="1051560" y="4114800"/>
            <a:ext cx="6400800" cy="1188720"/>
          </a:xfrm>
          <a:prstGeom prst="rect">
            <a:avLst/>
          </a:prstGeom>
          <a:noFill/>
          <a:ln/>
        </p:spPr>
        <p:txBody>
          <a:bodyPr wrap="square" lIns="0" tIns="0" rIns="0" bIns="0" rtlCol="0" anchor="ctr"/>
          <a:lstStyle/>
          <a:p>
            <a:pPr indent="0" marL="0">
              <a:buNone/>
            </a:pPr>
            <a:r>
              <a:rPr lang="en-US" sz="1600" i="1" dirty="0">
                <a:solidFill>
                  <a:srgbClr val="8A97AD"/>
                </a:solidFill>
                <a:latin typeface="Calibri" pitchFamily="34" charset="0"/>
                <a:ea typeface="Calibri" pitchFamily="34" charset="-122"/>
                <a:cs typeface="Calibri" pitchFamily="34" charset="-120"/>
              </a:rPr>
              <a:t>19th–20th century — as human technology accelerates, so does our interpretation of what moves through the sky.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DOC-015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MODERN ERA</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II · THE TURNING POINT</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15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II  ·  SECTION 01</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Turning Point  ·  From Folklore to Flight</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240280"/>
            <a:ext cx="3840480" cy="3931920"/>
          </a:xfrm>
          <a:prstGeom prst="rect">
            <a:avLst/>
          </a:prstGeom>
          <a:solidFill>
            <a:srgbClr val="0F1624"/>
          </a:solidFill>
          <a:ln w="9525">
            <a:solidFill>
              <a:srgbClr val="2B3A55"/>
            </a:solidFill>
            <a:prstDash val="solid"/>
          </a:ln>
        </p:spPr>
      </p:sp>
      <p:sp>
        <p:nvSpPr>
          <p:cNvPr id="25" name="Shape 23"/>
          <p:cNvSpPr/>
          <p:nvPr/>
        </p:nvSpPr>
        <p:spPr>
          <a:xfrm>
            <a:off x="548640" y="2240280"/>
            <a:ext cx="54864" cy="3931920"/>
          </a:xfrm>
          <a:prstGeom prst="rect">
            <a:avLst/>
          </a:prstGeom>
          <a:solidFill>
            <a:srgbClr val="38D9F0"/>
          </a:solidFill>
          <a:ln w="12700">
            <a:solidFill>
              <a:srgbClr val="38D9F0"/>
            </a:solidFill>
            <a:prstDash val="solid"/>
          </a:ln>
        </p:spPr>
      </p:sp>
      <p:sp>
        <p:nvSpPr>
          <p:cNvPr id="26" name="Text 24"/>
          <p:cNvSpPr/>
          <p:nvPr/>
        </p:nvSpPr>
        <p:spPr>
          <a:xfrm>
            <a:off x="731520" y="2468880"/>
            <a:ext cx="3566160" cy="365760"/>
          </a:xfrm>
          <a:prstGeom prst="rect">
            <a:avLst/>
          </a:prstGeom>
          <a:noFill/>
          <a:ln/>
        </p:spPr>
        <p:txBody>
          <a:bodyPr wrap="square" lIns="0" tIns="0" rIns="0" bIns="0" rtlCol="0" anchor="ctr"/>
          <a:lstStyle/>
          <a:p>
            <a:pPr indent="0" marL="0">
              <a:buNone/>
            </a:pPr>
            <a:r>
              <a:rPr lang="en-US" sz="1100" b="1" spc="500" kern="0" dirty="0">
                <a:solidFill>
                  <a:srgbClr val="38D9F0"/>
                </a:solidFill>
                <a:latin typeface="Consolas" pitchFamily="34" charset="0"/>
                <a:ea typeface="Consolas" pitchFamily="34" charset="-122"/>
                <a:cs typeface="Consolas" pitchFamily="34" charset="-120"/>
              </a:rPr>
              <a:t>THE TECHNOLOGICAL SHIFT</a:t>
            </a:r>
            <a:endParaRPr lang="en-US" sz="1100" dirty="0"/>
          </a:p>
        </p:txBody>
      </p:sp>
      <p:sp>
        <p:nvSpPr>
          <p:cNvPr id="27" name="Text 25"/>
          <p:cNvSpPr/>
          <p:nvPr/>
        </p:nvSpPr>
        <p:spPr>
          <a:xfrm>
            <a:off x="731520" y="2834640"/>
            <a:ext cx="3566160" cy="1097280"/>
          </a:xfrm>
          <a:prstGeom prst="rect">
            <a:avLst/>
          </a:prstGeom>
          <a:noFill/>
          <a:ln/>
        </p:spPr>
        <p:txBody>
          <a:bodyPr wrap="square" lIns="0" tIns="0" rIns="0" bIns="0" rtlCol="0" anchor="ctr"/>
          <a:lstStyle/>
          <a:p>
            <a:pPr indent="0" marL="0">
              <a:buNone/>
            </a:pPr>
            <a:r>
              <a:rPr lang="en-US" sz="2200" dirty="0">
                <a:solidFill>
                  <a:srgbClr val="ECF1F8"/>
                </a:solidFill>
                <a:latin typeface="Arial Black" pitchFamily="34" charset="0"/>
                <a:ea typeface="Arial Black" pitchFamily="34" charset="-122"/>
                <a:cs typeface="Arial Black" pitchFamily="34" charset="-120"/>
              </a:rPr>
              <a:t>From anchors dropped from clouds to black-and-white front pages.</a:t>
            </a:r>
            <a:endParaRPr lang="en-US" sz="2200" dirty="0"/>
          </a:p>
        </p:txBody>
      </p:sp>
      <p:sp>
        <p:nvSpPr>
          <p:cNvPr id="28" name="Shape 26"/>
          <p:cNvSpPr/>
          <p:nvPr/>
        </p:nvSpPr>
        <p:spPr>
          <a:xfrm>
            <a:off x="731520" y="3977640"/>
            <a:ext cx="640080" cy="36576"/>
          </a:xfrm>
          <a:prstGeom prst="rect">
            <a:avLst/>
          </a:prstGeom>
          <a:solidFill>
            <a:srgbClr val="F5B024"/>
          </a:solidFill>
          <a:ln w="12700">
            <a:solidFill>
              <a:srgbClr val="F5B024"/>
            </a:solidFill>
            <a:prstDash val="solid"/>
          </a:ln>
        </p:spPr>
      </p:sp>
      <p:sp>
        <p:nvSpPr>
          <p:cNvPr id="29" name="Text 27"/>
          <p:cNvSpPr/>
          <p:nvPr/>
        </p:nvSpPr>
        <p:spPr>
          <a:xfrm>
            <a:off x="731520" y="4114800"/>
            <a:ext cx="3566160" cy="1554480"/>
          </a:xfrm>
          <a:prstGeom prst="rect">
            <a:avLst/>
          </a:prstGeom>
          <a:noFill/>
          <a:ln/>
        </p:spPr>
        <p:txBody>
          <a:bodyPr wrap="square" lIns="0" tIns="0" rIns="0" bIns="0" rtlCol="0" anchor="t"/>
          <a:lstStyle/>
          <a:p>
            <a:pPr indent="0" marL="0">
              <a:spcAft>
                <a:spcPts val="600"/>
              </a:spcAft>
              <a:buNone/>
            </a:pPr>
            <a:r>
              <a:rPr lang="en-US" sz="1300" dirty="0">
                <a:solidFill>
                  <a:srgbClr val="ECF1F8"/>
                </a:solidFill>
                <a:latin typeface="Calibri" pitchFamily="34" charset="0"/>
                <a:ea typeface="Calibri" pitchFamily="34" charset="-122"/>
                <a:cs typeface="Calibri" pitchFamily="34" charset="-120"/>
              </a:rPr>
              <a:t>As powered flight, radar, and mass media emerge, anomalous sightings move from parish records and paintings into newspapers, military briefings, and radar screens.</a:t>
            </a:r>
            <a:endParaRPr lang="en-US" sz="1300" dirty="0"/>
          </a:p>
        </p:txBody>
      </p:sp>
      <p:sp>
        <p:nvSpPr>
          <p:cNvPr id="30" name="Shape 28"/>
          <p:cNvSpPr/>
          <p:nvPr/>
        </p:nvSpPr>
        <p:spPr>
          <a:xfrm>
            <a:off x="4572000" y="2240280"/>
            <a:ext cx="7040880" cy="1280160"/>
          </a:xfrm>
          <a:prstGeom prst="rect">
            <a:avLst/>
          </a:prstGeom>
          <a:solidFill>
            <a:srgbClr val="0F1624"/>
          </a:solidFill>
          <a:ln w="9525">
            <a:solidFill>
              <a:srgbClr val="2B3A55"/>
            </a:solidFill>
            <a:prstDash val="solid"/>
          </a:ln>
        </p:spPr>
      </p:sp>
      <p:sp>
        <p:nvSpPr>
          <p:cNvPr id="31" name="Shape 29"/>
          <p:cNvSpPr/>
          <p:nvPr/>
        </p:nvSpPr>
        <p:spPr>
          <a:xfrm>
            <a:off x="4572000" y="2240280"/>
            <a:ext cx="54864" cy="1280160"/>
          </a:xfrm>
          <a:prstGeom prst="rect">
            <a:avLst/>
          </a:prstGeom>
          <a:solidFill>
            <a:srgbClr val="38D9F0"/>
          </a:solidFill>
          <a:ln w="12700">
            <a:solidFill>
              <a:srgbClr val="38D9F0"/>
            </a:solidFill>
            <a:prstDash val="solid"/>
          </a:ln>
        </p:spPr>
      </p:sp>
      <p:sp>
        <p:nvSpPr>
          <p:cNvPr id="32" name="Text 30"/>
          <p:cNvSpPr/>
          <p:nvPr/>
        </p:nvSpPr>
        <p:spPr>
          <a:xfrm>
            <a:off x="4800600" y="2441448"/>
            <a:ext cx="1828800" cy="274320"/>
          </a:xfrm>
          <a:prstGeom prst="rect">
            <a:avLst/>
          </a:prstGeom>
          <a:noFill/>
          <a:ln/>
        </p:spPr>
        <p:txBody>
          <a:bodyPr wrap="square" lIns="0" tIns="0" rIns="0" bIns="0" rtlCol="0" anchor="ctr"/>
          <a:lstStyle/>
          <a:p>
            <a:pPr indent="0" marL="0">
              <a:buNone/>
            </a:pPr>
            <a:r>
              <a:rPr lang="en-US" sz="1000" b="1" spc="400" kern="0" dirty="0">
                <a:solidFill>
                  <a:srgbClr val="F5B024"/>
                </a:solidFill>
                <a:latin typeface="Consolas" pitchFamily="34" charset="0"/>
                <a:ea typeface="Consolas" pitchFamily="34" charset="-122"/>
                <a:cs typeface="Consolas" pitchFamily="34" charset="-120"/>
              </a:rPr>
              <a:t>LATE 1800s</a:t>
            </a:r>
            <a:endParaRPr lang="en-US" sz="1000" dirty="0"/>
          </a:p>
        </p:txBody>
      </p:sp>
      <p:sp>
        <p:nvSpPr>
          <p:cNvPr id="33" name="Text 31"/>
          <p:cNvSpPr/>
          <p:nvPr/>
        </p:nvSpPr>
        <p:spPr>
          <a:xfrm>
            <a:off x="4800600" y="2697480"/>
            <a:ext cx="2743200" cy="411480"/>
          </a:xfrm>
          <a:prstGeom prst="rect">
            <a:avLst/>
          </a:prstGeom>
          <a:noFill/>
          <a:ln/>
        </p:spPr>
        <p:txBody>
          <a:bodyPr wrap="square" lIns="0" tIns="0" rIns="0" bIns="0" rtlCol="0" anchor="ctr"/>
          <a:lstStyle/>
          <a:p>
            <a:pPr indent="0" marL="0">
              <a:buNone/>
            </a:pPr>
            <a:r>
              <a:rPr lang="en-US" sz="1700" spc="100" kern="0" dirty="0">
                <a:solidFill>
                  <a:srgbClr val="ECF1F8"/>
                </a:solidFill>
                <a:latin typeface="Arial Black" pitchFamily="34" charset="0"/>
                <a:ea typeface="Arial Black" pitchFamily="34" charset="-122"/>
                <a:cs typeface="Arial Black" pitchFamily="34" charset="-120"/>
              </a:rPr>
              <a:t>MYSTERY AIRSHIPS</a:t>
            </a:r>
            <a:endParaRPr lang="en-US" sz="1700" dirty="0"/>
          </a:p>
        </p:txBody>
      </p:sp>
      <p:sp>
        <p:nvSpPr>
          <p:cNvPr id="34" name="Text 32"/>
          <p:cNvSpPr/>
          <p:nvPr/>
        </p:nvSpPr>
        <p:spPr>
          <a:xfrm>
            <a:off x="7680960" y="2441448"/>
            <a:ext cx="3749040" cy="914400"/>
          </a:xfrm>
          <a:prstGeom prst="rect">
            <a:avLst/>
          </a:prstGeom>
          <a:noFill/>
          <a:ln/>
        </p:spPr>
        <p:txBody>
          <a:bodyPr wrap="square" lIns="0" tIns="0" rIns="0" bIns="0" rtlCol="0" anchor="ctr"/>
          <a:lstStyle/>
          <a:p>
            <a:pPr indent="0" marL="0">
              <a:buNone/>
            </a:pPr>
            <a:r>
              <a:rPr lang="en-US" sz="1150" dirty="0">
                <a:solidFill>
                  <a:srgbClr val="ECF1F8"/>
                </a:solidFill>
                <a:latin typeface="Calibri" pitchFamily="34" charset="0"/>
                <a:ea typeface="Calibri" pitchFamily="34" charset="-122"/>
                <a:cs typeface="Calibri" pitchFamily="34" charset="-120"/>
              </a:rPr>
              <a:t>Decades before the Wright brothers, thousands across the United States reported advanced dirigible-like craft drifting over towns and farms — years before powered flight was officially invented.</a:t>
            </a:r>
            <a:endParaRPr lang="en-US" sz="1150" dirty="0"/>
          </a:p>
        </p:txBody>
      </p:sp>
      <p:sp>
        <p:nvSpPr>
          <p:cNvPr id="35" name="Shape 33"/>
          <p:cNvSpPr/>
          <p:nvPr/>
        </p:nvSpPr>
        <p:spPr>
          <a:xfrm>
            <a:off x="4572000" y="3566160"/>
            <a:ext cx="7040880" cy="1280160"/>
          </a:xfrm>
          <a:prstGeom prst="rect">
            <a:avLst/>
          </a:prstGeom>
          <a:solidFill>
            <a:srgbClr val="0F1624"/>
          </a:solidFill>
          <a:ln w="9525">
            <a:solidFill>
              <a:srgbClr val="2B3A55"/>
            </a:solidFill>
            <a:prstDash val="solid"/>
          </a:ln>
        </p:spPr>
      </p:sp>
      <p:sp>
        <p:nvSpPr>
          <p:cNvPr id="36" name="Shape 34"/>
          <p:cNvSpPr/>
          <p:nvPr/>
        </p:nvSpPr>
        <p:spPr>
          <a:xfrm>
            <a:off x="4572000" y="3566160"/>
            <a:ext cx="54864" cy="1280160"/>
          </a:xfrm>
          <a:prstGeom prst="rect">
            <a:avLst/>
          </a:prstGeom>
          <a:solidFill>
            <a:srgbClr val="38D9F0"/>
          </a:solidFill>
          <a:ln w="12700">
            <a:solidFill>
              <a:srgbClr val="38D9F0"/>
            </a:solidFill>
            <a:prstDash val="solid"/>
          </a:ln>
        </p:spPr>
      </p:sp>
      <p:sp>
        <p:nvSpPr>
          <p:cNvPr id="37" name="Text 35"/>
          <p:cNvSpPr/>
          <p:nvPr/>
        </p:nvSpPr>
        <p:spPr>
          <a:xfrm>
            <a:off x="4800600" y="3767328"/>
            <a:ext cx="1828800" cy="274320"/>
          </a:xfrm>
          <a:prstGeom prst="rect">
            <a:avLst/>
          </a:prstGeom>
          <a:noFill/>
          <a:ln/>
        </p:spPr>
        <p:txBody>
          <a:bodyPr wrap="square" lIns="0" tIns="0" rIns="0" bIns="0" rtlCol="0" anchor="ctr"/>
          <a:lstStyle/>
          <a:p>
            <a:pPr indent="0" marL="0">
              <a:buNone/>
            </a:pPr>
            <a:r>
              <a:rPr lang="en-US" sz="1000" b="1" spc="400" kern="0" dirty="0">
                <a:solidFill>
                  <a:srgbClr val="F5B024"/>
                </a:solidFill>
                <a:latin typeface="Consolas" pitchFamily="34" charset="0"/>
                <a:ea typeface="Consolas" pitchFamily="34" charset="-122"/>
                <a:cs typeface="Consolas" pitchFamily="34" charset="-120"/>
              </a:rPr>
              <a:t>WORLD WAR II</a:t>
            </a:r>
            <a:endParaRPr lang="en-US" sz="1000" dirty="0"/>
          </a:p>
        </p:txBody>
      </p:sp>
      <p:sp>
        <p:nvSpPr>
          <p:cNvPr id="38" name="Text 36"/>
          <p:cNvSpPr/>
          <p:nvPr/>
        </p:nvSpPr>
        <p:spPr>
          <a:xfrm>
            <a:off x="4800600" y="4023360"/>
            <a:ext cx="2743200" cy="411480"/>
          </a:xfrm>
          <a:prstGeom prst="rect">
            <a:avLst/>
          </a:prstGeom>
          <a:noFill/>
          <a:ln/>
        </p:spPr>
        <p:txBody>
          <a:bodyPr wrap="square" lIns="0" tIns="0" rIns="0" bIns="0" rtlCol="0" anchor="ctr"/>
          <a:lstStyle/>
          <a:p>
            <a:pPr indent="0" marL="0">
              <a:buNone/>
            </a:pPr>
            <a:r>
              <a:rPr lang="en-US" sz="1700" spc="100" kern="0" dirty="0">
                <a:solidFill>
                  <a:srgbClr val="ECF1F8"/>
                </a:solidFill>
                <a:latin typeface="Arial Black" pitchFamily="34" charset="0"/>
                <a:ea typeface="Arial Black" pitchFamily="34" charset="-122"/>
                <a:cs typeface="Arial Black" pitchFamily="34" charset="-120"/>
              </a:rPr>
              <a:t>FOO FIGHTERS</a:t>
            </a:r>
            <a:endParaRPr lang="en-US" sz="1700" dirty="0"/>
          </a:p>
        </p:txBody>
      </p:sp>
      <p:sp>
        <p:nvSpPr>
          <p:cNvPr id="39" name="Text 37"/>
          <p:cNvSpPr/>
          <p:nvPr/>
        </p:nvSpPr>
        <p:spPr>
          <a:xfrm>
            <a:off x="7680960" y="3767328"/>
            <a:ext cx="3749040" cy="914400"/>
          </a:xfrm>
          <a:prstGeom prst="rect">
            <a:avLst/>
          </a:prstGeom>
          <a:noFill/>
          <a:ln/>
        </p:spPr>
        <p:txBody>
          <a:bodyPr wrap="square" lIns="0" tIns="0" rIns="0" bIns="0" rtlCol="0" anchor="ctr"/>
          <a:lstStyle/>
          <a:p>
            <a:pPr indent="0" marL="0">
              <a:buNone/>
            </a:pPr>
            <a:r>
              <a:rPr lang="en-US" sz="1150" dirty="0">
                <a:solidFill>
                  <a:srgbClr val="ECF1F8"/>
                </a:solidFill>
                <a:latin typeface="Calibri" pitchFamily="34" charset="0"/>
                <a:ea typeface="Calibri" pitchFamily="34" charset="-122"/>
                <a:cs typeface="Calibri" pitchFamily="34" charset="-120"/>
              </a:rPr>
              <a:t>Allied and Axis pilots independently reported glowing orbs flying in tight formation alongside their aircraft. Each side initially suspected secret enemy weapons — neither could claim them.</a:t>
            </a:r>
            <a:endParaRPr lang="en-US" sz="1150" dirty="0"/>
          </a:p>
        </p:txBody>
      </p:sp>
      <p:sp>
        <p:nvSpPr>
          <p:cNvPr id="40" name="Shape 38"/>
          <p:cNvSpPr/>
          <p:nvPr/>
        </p:nvSpPr>
        <p:spPr>
          <a:xfrm>
            <a:off x="4572000" y="4892040"/>
            <a:ext cx="7040880" cy="1280160"/>
          </a:xfrm>
          <a:prstGeom prst="rect">
            <a:avLst/>
          </a:prstGeom>
          <a:solidFill>
            <a:srgbClr val="0F1624"/>
          </a:solidFill>
          <a:ln w="9525">
            <a:solidFill>
              <a:srgbClr val="2B3A55"/>
            </a:solidFill>
            <a:prstDash val="solid"/>
          </a:ln>
        </p:spPr>
      </p:sp>
      <p:sp>
        <p:nvSpPr>
          <p:cNvPr id="41" name="Shape 39"/>
          <p:cNvSpPr/>
          <p:nvPr/>
        </p:nvSpPr>
        <p:spPr>
          <a:xfrm>
            <a:off x="4572000" y="4892040"/>
            <a:ext cx="54864" cy="1280160"/>
          </a:xfrm>
          <a:prstGeom prst="rect">
            <a:avLst/>
          </a:prstGeom>
          <a:solidFill>
            <a:srgbClr val="38D9F0"/>
          </a:solidFill>
          <a:ln w="12700">
            <a:solidFill>
              <a:srgbClr val="38D9F0"/>
            </a:solidFill>
            <a:prstDash val="solid"/>
          </a:ln>
        </p:spPr>
      </p:sp>
      <p:sp>
        <p:nvSpPr>
          <p:cNvPr id="42" name="Text 40"/>
          <p:cNvSpPr/>
          <p:nvPr/>
        </p:nvSpPr>
        <p:spPr>
          <a:xfrm>
            <a:off x="4800600" y="5093208"/>
            <a:ext cx="1828800" cy="274320"/>
          </a:xfrm>
          <a:prstGeom prst="rect">
            <a:avLst/>
          </a:prstGeom>
          <a:noFill/>
          <a:ln/>
        </p:spPr>
        <p:txBody>
          <a:bodyPr wrap="square" lIns="0" tIns="0" rIns="0" bIns="0" rtlCol="0" anchor="ctr"/>
          <a:lstStyle/>
          <a:p>
            <a:pPr indent="0" marL="0">
              <a:buNone/>
            </a:pPr>
            <a:r>
              <a:rPr lang="en-US" sz="1000" b="1" spc="400" kern="0" dirty="0">
                <a:solidFill>
                  <a:srgbClr val="F5B024"/>
                </a:solidFill>
                <a:latin typeface="Consolas" pitchFamily="34" charset="0"/>
                <a:ea typeface="Consolas" pitchFamily="34" charset="-122"/>
                <a:cs typeface="Consolas" pitchFamily="34" charset="-120"/>
              </a:rPr>
              <a:t>JUNE — JULY 1947</a:t>
            </a:r>
            <a:endParaRPr lang="en-US" sz="1000" dirty="0"/>
          </a:p>
        </p:txBody>
      </p:sp>
      <p:sp>
        <p:nvSpPr>
          <p:cNvPr id="43" name="Text 41"/>
          <p:cNvSpPr/>
          <p:nvPr/>
        </p:nvSpPr>
        <p:spPr>
          <a:xfrm>
            <a:off x="4800600" y="5349240"/>
            <a:ext cx="2743200" cy="411480"/>
          </a:xfrm>
          <a:prstGeom prst="rect">
            <a:avLst/>
          </a:prstGeom>
          <a:noFill/>
          <a:ln/>
        </p:spPr>
        <p:txBody>
          <a:bodyPr wrap="square" lIns="0" tIns="0" rIns="0" bIns="0" rtlCol="0" anchor="ctr"/>
          <a:lstStyle/>
          <a:p>
            <a:pPr indent="0" marL="0">
              <a:buNone/>
            </a:pPr>
            <a:r>
              <a:rPr lang="en-US" sz="1700" spc="100" kern="0" dirty="0">
                <a:solidFill>
                  <a:srgbClr val="ECF1F8"/>
                </a:solidFill>
                <a:latin typeface="Arial Black" pitchFamily="34" charset="0"/>
                <a:ea typeface="Arial Black" pitchFamily="34" charset="-122"/>
                <a:cs typeface="Arial Black" pitchFamily="34" charset="-120"/>
              </a:rPr>
              <a:t>ARNOLD &amp; ROSWELL</a:t>
            </a:r>
            <a:endParaRPr lang="en-US" sz="1700" dirty="0"/>
          </a:p>
        </p:txBody>
      </p:sp>
      <p:sp>
        <p:nvSpPr>
          <p:cNvPr id="44" name="Text 42"/>
          <p:cNvSpPr/>
          <p:nvPr/>
        </p:nvSpPr>
        <p:spPr>
          <a:xfrm>
            <a:off x="7680960" y="5093208"/>
            <a:ext cx="3749040" cy="914400"/>
          </a:xfrm>
          <a:prstGeom prst="rect">
            <a:avLst/>
          </a:prstGeom>
          <a:noFill/>
          <a:ln/>
        </p:spPr>
        <p:txBody>
          <a:bodyPr wrap="square" lIns="0" tIns="0" rIns="0" bIns="0" rtlCol="0" anchor="ctr"/>
          <a:lstStyle/>
          <a:p>
            <a:pPr indent="0" marL="0">
              <a:buNone/>
            </a:pPr>
            <a:r>
              <a:rPr lang="en-US" sz="1150" dirty="0">
                <a:solidFill>
                  <a:srgbClr val="ECF1F8"/>
                </a:solidFill>
                <a:latin typeface="Calibri" pitchFamily="34" charset="0"/>
                <a:ea typeface="Calibri" pitchFamily="34" charset="-122"/>
                <a:cs typeface="Calibri" pitchFamily="34" charset="-120"/>
              </a:rPr>
              <a:t>Kenneth Arnold reports nine objects near Mount Rainier, coining 'flying saucer.' Weeks later, the Roswell incident and its rapidly-revised 'weather balloon' cover-story ignite modern UFO culture.</a:t>
            </a:r>
            <a:endParaRPr lang="en-US" sz="1150" dirty="0"/>
          </a:p>
        </p:txBody>
      </p:sp>
      <p:sp>
        <p:nvSpPr>
          <p:cNvPr id="45" name="Text 43"/>
          <p:cNvSpPr/>
          <p:nvPr/>
        </p:nvSpPr>
        <p:spPr>
          <a:xfrm>
            <a:off x="731520" y="5806440"/>
            <a:ext cx="3474720" cy="274320"/>
          </a:xfrm>
          <a:prstGeom prst="rect">
            <a:avLst/>
          </a:prstGeom>
          <a:noFill/>
          <a:ln/>
        </p:spPr>
        <p:txBody>
          <a:bodyPr wrap="square" lIns="0" tIns="0" rIns="0" bIns="0" rtlCol="0" anchor="ctr"/>
          <a:lstStyle/>
          <a:p>
            <a:pPr indent="0" marL="0">
              <a:buNone/>
            </a:pPr>
            <a:r>
              <a:rPr lang="en-US" sz="900" i="1" spc="100" kern="0" dirty="0">
                <a:solidFill>
                  <a:srgbClr val="5C6A83"/>
                </a:solidFill>
                <a:latin typeface="Consolas" pitchFamily="34" charset="0"/>
                <a:ea typeface="Consolas" pitchFamily="34" charset="-122"/>
                <a:cs typeface="Consolas" pitchFamily="34" charset="-120"/>
              </a:rPr>
              <a:t>// From 'ship' to 'saucer' in three decades.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DOC-016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COLD WAR ERA</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II · NUCLEAR AGE</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16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II  ·  SECTION 02</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Nuclear Age &amp; Origin Hypotheses</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240280"/>
            <a:ext cx="11064240" cy="1554480"/>
          </a:xfrm>
          <a:prstGeom prst="rect">
            <a:avLst/>
          </a:prstGeom>
          <a:solidFill>
            <a:srgbClr val="0F1624"/>
          </a:solidFill>
          <a:ln w="9525">
            <a:solidFill>
              <a:srgbClr val="2B3A55"/>
            </a:solidFill>
            <a:prstDash val="solid"/>
          </a:ln>
        </p:spPr>
      </p:sp>
      <p:sp>
        <p:nvSpPr>
          <p:cNvPr id="25" name="Shape 23"/>
          <p:cNvSpPr/>
          <p:nvPr/>
        </p:nvSpPr>
        <p:spPr>
          <a:xfrm>
            <a:off x="548640" y="2240280"/>
            <a:ext cx="54864" cy="1554480"/>
          </a:xfrm>
          <a:prstGeom prst="rect">
            <a:avLst/>
          </a:prstGeom>
          <a:solidFill>
            <a:srgbClr val="E8434C"/>
          </a:solidFill>
          <a:ln w="12700">
            <a:solidFill>
              <a:srgbClr val="E8434C"/>
            </a:solidFill>
            <a:prstDash val="solid"/>
          </a:ln>
        </p:spPr>
      </p:sp>
      <p:sp>
        <p:nvSpPr>
          <p:cNvPr id="26" name="Text 24"/>
          <p:cNvSpPr/>
          <p:nvPr/>
        </p:nvSpPr>
        <p:spPr>
          <a:xfrm>
            <a:off x="777240" y="2377440"/>
            <a:ext cx="5486400" cy="320040"/>
          </a:xfrm>
          <a:prstGeom prst="rect">
            <a:avLst/>
          </a:prstGeom>
          <a:noFill/>
          <a:ln/>
        </p:spPr>
        <p:txBody>
          <a:bodyPr wrap="square" lIns="0" tIns="0" rIns="0" bIns="0" rtlCol="0" anchor="ctr"/>
          <a:lstStyle/>
          <a:p>
            <a:pPr indent="0" marL="0">
              <a:buNone/>
            </a:pPr>
            <a:r>
              <a:rPr lang="en-US" sz="1100" b="1" spc="600" kern="0" dirty="0">
                <a:solidFill>
                  <a:srgbClr val="E8434C"/>
                </a:solidFill>
                <a:latin typeface="Consolas" pitchFamily="34" charset="0"/>
                <a:ea typeface="Consolas" pitchFamily="34" charset="-122"/>
                <a:cs typeface="Consolas" pitchFamily="34" charset="-120"/>
              </a:rPr>
              <a:t>THE NUCLEAR CORRELATION</a:t>
            </a:r>
            <a:endParaRPr lang="en-US" sz="1100" dirty="0"/>
          </a:p>
        </p:txBody>
      </p:sp>
      <p:sp>
        <p:nvSpPr>
          <p:cNvPr id="27" name="Text 25"/>
          <p:cNvSpPr/>
          <p:nvPr/>
        </p:nvSpPr>
        <p:spPr>
          <a:xfrm>
            <a:off x="777240" y="2697480"/>
            <a:ext cx="10607040" cy="502920"/>
          </a:xfrm>
          <a:prstGeom prst="rect">
            <a:avLst/>
          </a:prstGeom>
          <a:noFill/>
          <a:ln/>
        </p:spPr>
        <p:txBody>
          <a:bodyPr wrap="square" lIns="0" tIns="0" rIns="0" bIns="0" rtlCol="0" anchor="ctr"/>
          <a:lstStyle/>
          <a:p>
            <a:pPr indent="0" marL="0">
              <a:buNone/>
            </a:pPr>
            <a:r>
              <a:rPr lang="en-US" sz="1900" dirty="0">
                <a:solidFill>
                  <a:srgbClr val="ECF1F8"/>
                </a:solidFill>
                <a:latin typeface="Arial Black" pitchFamily="34" charset="0"/>
                <a:ea typeface="Arial Black" pitchFamily="34" charset="-122"/>
                <a:cs typeface="Arial Black" pitchFamily="34" charset="-120"/>
              </a:rPr>
              <a:t>A sharp historical spike in sightings begins in 1945 and tracks the atomic age.</a:t>
            </a:r>
            <a:endParaRPr lang="en-US" sz="1900" dirty="0"/>
          </a:p>
        </p:txBody>
      </p:sp>
      <p:sp>
        <p:nvSpPr>
          <p:cNvPr id="28" name="Text 26"/>
          <p:cNvSpPr/>
          <p:nvPr/>
        </p:nvSpPr>
        <p:spPr>
          <a:xfrm>
            <a:off x="777240" y="3200400"/>
            <a:ext cx="10607040" cy="502920"/>
          </a:xfrm>
          <a:prstGeom prst="rect">
            <a:avLst/>
          </a:prstGeom>
          <a:noFill/>
          <a:ln/>
        </p:spPr>
        <p:txBody>
          <a:bodyPr wrap="square" lIns="0" tIns="0" rIns="0" bIns="0" rtlCol="0" anchor="t"/>
          <a:lstStyle/>
          <a:p>
            <a:pPr indent="0" marL="0">
              <a:buNone/>
            </a:pPr>
            <a:r>
              <a:rPr lang="en-US" sz="1250" dirty="0">
                <a:solidFill>
                  <a:srgbClr val="ECF1F8"/>
                </a:solidFill>
                <a:latin typeface="Calibri" pitchFamily="34" charset="0"/>
                <a:ea typeface="Calibri" pitchFamily="34" charset="-122"/>
                <a:cs typeface="Calibri" pitchFamily="34" charset="-120"/>
              </a:rPr>
              <a:t>1967 — MALMSTROM AFB:  UAPs reportedly hovered above active nuclear silos as multiple Minuteman ICBMs simultaneously went offline. Comparable incidents were logged at Vandenberg, Loring, and sites across the USSR during the same era.</a:t>
            </a:r>
            <a:endParaRPr lang="en-US" sz="1250" dirty="0"/>
          </a:p>
        </p:txBody>
      </p:sp>
      <p:sp>
        <p:nvSpPr>
          <p:cNvPr id="29" name="Shape 27"/>
          <p:cNvSpPr/>
          <p:nvPr/>
        </p:nvSpPr>
        <p:spPr>
          <a:xfrm>
            <a:off x="411480" y="3931920"/>
            <a:ext cx="3657600" cy="2514600"/>
          </a:xfrm>
          <a:prstGeom prst="rect">
            <a:avLst/>
          </a:prstGeom>
          <a:solidFill>
            <a:srgbClr val="0F1624"/>
          </a:solidFill>
          <a:ln w="9525">
            <a:solidFill>
              <a:srgbClr val="2B3A55"/>
            </a:solidFill>
            <a:prstDash val="solid"/>
          </a:ln>
        </p:spPr>
      </p:sp>
      <p:sp>
        <p:nvSpPr>
          <p:cNvPr id="30" name="Shape 28"/>
          <p:cNvSpPr/>
          <p:nvPr/>
        </p:nvSpPr>
        <p:spPr>
          <a:xfrm>
            <a:off x="411480" y="3931920"/>
            <a:ext cx="54864" cy="2514600"/>
          </a:xfrm>
          <a:prstGeom prst="rect">
            <a:avLst/>
          </a:prstGeom>
          <a:solidFill>
            <a:srgbClr val="38D9F0"/>
          </a:solidFill>
          <a:ln w="12700">
            <a:solidFill>
              <a:srgbClr val="38D9F0"/>
            </a:solidFill>
            <a:prstDash val="solid"/>
          </a:ln>
        </p:spPr>
      </p:sp>
      <p:sp>
        <p:nvSpPr>
          <p:cNvPr id="31" name="Text 29"/>
          <p:cNvSpPr/>
          <p:nvPr/>
        </p:nvSpPr>
        <p:spPr>
          <a:xfrm>
            <a:off x="640080" y="4160520"/>
            <a:ext cx="3246120" cy="274320"/>
          </a:xfrm>
          <a:prstGeom prst="rect">
            <a:avLst/>
          </a:prstGeom>
          <a:noFill/>
          <a:ln/>
        </p:spPr>
        <p:txBody>
          <a:bodyPr wrap="square" lIns="0" tIns="0" rIns="0" bIns="0" rtlCol="0" anchor="ctr"/>
          <a:lstStyle/>
          <a:p>
            <a:pPr indent="0" marL="0">
              <a:buNone/>
            </a:pPr>
            <a:r>
              <a:rPr lang="en-US" sz="1000" b="1" spc="400" kern="0" dirty="0">
                <a:solidFill>
                  <a:srgbClr val="38D9F0"/>
                </a:solidFill>
                <a:latin typeface="Consolas" pitchFamily="34" charset="0"/>
                <a:ea typeface="Consolas" pitchFamily="34" charset="-122"/>
                <a:cs typeface="Consolas" pitchFamily="34" charset="-120"/>
              </a:rPr>
              <a:t>HYPOTHESIS  01</a:t>
            </a:r>
            <a:endParaRPr lang="en-US" sz="1000" dirty="0"/>
          </a:p>
        </p:txBody>
      </p:sp>
      <p:sp>
        <p:nvSpPr>
          <p:cNvPr id="32" name="Text 30"/>
          <p:cNvSpPr/>
          <p:nvPr/>
        </p:nvSpPr>
        <p:spPr>
          <a:xfrm>
            <a:off x="640080" y="4480560"/>
            <a:ext cx="3246120" cy="502920"/>
          </a:xfrm>
          <a:prstGeom prst="rect">
            <a:avLst/>
          </a:prstGeom>
          <a:noFill/>
          <a:ln/>
        </p:spPr>
        <p:txBody>
          <a:bodyPr wrap="square" lIns="0" tIns="0" rIns="0" bIns="0" rtlCol="0" anchor="ctr"/>
          <a:lstStyle/>
          <a:p>
            <a:pPr indent="0" marL="0">
              <a:buNone/>
            </a:pPr>
            <a:r>
              <a:rPr lang="en-US" sz="2000" spc="100" kern="0" dirty="0">
                <a:solidFill>
                  <a:srgbClr val="ECF1F8"/>
                </a:solidFill>
                <a:latin typeface="Arial Black" pitchFamily="34" charset="0"/>
                <a:ea typeface="Arial Black" pitchFamily="34" charset="-122"/>
                <a:cs typeface="Arial Black" pitchFamily="34" charset="-120"/>
              </a:rPr>
              <a:t>EXTRATERRESTRIAL</a:t>
            </a:r>
            <a:endParaRPr lang="en-US" sz="2000" dirty="0"/>
          </a:p>
        </p:txBody>
      </p:sp>
      <p:sp>
        <p:nvSpPr>
          <p:cNvPr id="33" name="Shape 31"/>
          <p:cNvSpPr/>
          <p:nvPr/>
        </p:nvSpPr>
        <p:spPr>
          <a:xfrm>
            <a:off x="640080" y="5029200"/>
            <a:ext cx="548640" cy="0"/>
          </a:xfrm>
          <a:prstGeom prst="line">
            <a:avLst/>
          </a:prstGeom>
          <a:noFill/>
          <a:ln w="12700">
            <a:solidFill>
              <a:srgbClr val="2B3A55"/>
            </a:solidFill>
            <a:prstDash val="solid"/>
          </a:ln>
        </p:spPr>
      </p:sp>
      <p:sp>
        <p:nvSpPr>
          <p:cNvPr id="34" name="Text 32"/>
          <p:cNvSpPr/>
          <p:nvPr/>
        </p:nvSpPr>
        <p:spPr>
          <a:xfrm>
            <a:off x="640080" y="5166360"/>
            <a:ext cx="3246120" cy="1188720"/>
          </a:xfrm>
          <a:prstGeom prst="rect">
            <a:avLst/>
          </a:prstGeom>
          <a:noFill/>
          <a:ln/>
        </p:spPr>
        <p:txBody>
          <a:bodyPr wrap="square" lIns="0" tIns="0" rIns="0" bIns="0" rtlCol="0" anchor="t"/>
          <a:lstStyle/>
          <a:p>
            <a:pPr indent="0" marL="0">
              <a:buNone/>
            </a:pPr>
            <a:r>
              <a:rPr lang="en-US" sz="1200" dirty="0">
                <a:solidFill>
                  <a:srgbClr val="ECF1F8"/>
                </a:solidFill>
                <a:latin typeface="Calibri" pitchFamily="34" charset="0"/>
                <a:ea typeface="Calibri" pitchFamily="34" charset="-122"/>
                <a:cs typeface="Calibri" pitchFamily="34" charset="-120"/>
              </a:rPr>
              <a:t>The longstanding popular framing — that craft originate from planets orbiting other stars. Data: Fermi paradox, travel-time constraints, propulsion unknowns.</a:t>
            </a:r>
            <a:endParaRPr lang="en-US" sz="1200" dirty="0"/>
          </a:p>
        </p:txBody>
      </p:sp>
      <p:sp>
        <p:nvSpPr>
          <p:cNvPr id="35" name="Shape 33"/>
          <p:cNvSpPr/>
          <p:nvPr/>
        </p:nvSpPr>
        <p:spPr>
          <a:xfrm>
            <a:off x="4251960" y="3931920"/>
            <a:ext cx="3657600" cy="2514600"/>
          </a:xfrm>
          <a:prstGeom prst="rect">
            <a:avLst/>
          </a:prstGeom>
          <a:solidFill>
            <a:srgbClr val="0F1624"/>
          </a:solidFill>
          <a:ln w="9525">
            <a:solidFill>
              <a:srgbClr val="2B3A55"/>
            </a:solidFill>
            <a:prstDash val="solid"/>
          </a:ln>
        </p:spPr>
      </p:sp>
      <p:sp>
        <p:nvSpPr>
          <p:cNvPr id="36" name="Shape 34"/>
          <p:cNvSpPr/>
          <p:nvPr/>
        </p:nvSpPr>
        <p:spPr>
          <a:xfrm>
            <a:off x="4251960" y="3931920"/>
            <a:ext cx="54864" cy="2514600"/>
          </a:xfrm>
          <a:prstGeom prst="rect">
            <a:avLst/>
          </a:prstGeom>
          <a:solidFill>
            <a:srgbClr val="F5B024"/>
          </a:solidFill>
          <a:ln w="12700">
            <a:solidFill>
              <a:srgbClr val="F5B024"/>
            </a:solidFill>
            <a:prstDash val="solid"/>
          </a:ln>
        </p:spPr>
      </p:sp>
      <p:sp>
        <p:nvSpPr>
          <p:cNvPr id="37" name="Text 35"/>
          <p:cNvSpPr/>
          <p:nvPr/>
        </p:nvSpPr>
        <p:spPr>
          <a:xfrm>
            <a:off x="4480560" y="4160520"/>
            <a:ext cx="3246120" cy="274320"/>
          </a:xfrm>
          <a:prstGeom prst="rect">
            <a:avLst/>
          </a:prstGeom>
          <a:noFill/>
          <a:ln/>
        </p:spPr>
        <p:txBody>
          <a:bodyPr wrap="square" lIns="0" tIns="0" rIns="0" bIns="0" rtlCol="0" anchor="ctr"/>
          <a:lstStyle/>
          <a:p>
            <a:pPr indent="0" marL="0">
              <a:buNone/>
            </a:pPr>
            <a:r>
              <a:rPr lang="en-US" sz="1000" b="1" spc="400" kern="0" dirty="0">
                <a:solidFill>
                  <a:srgbClr val="F5B024"/>
                </a:solidFill>
                <a:latin typeface="Consolas" pitchFamily="34" charset="0"/>
                <a:ea typeface="Consolas" pitchFamily="34" charset="-122"/>
                <a:cs typeface="Consolas" pitchFamily="34" charset="-120"/>
              </a:rPr>
              <a:t>HYPOTHESIS  02</a:t>
            </a:r>
            <a:endParaRPr lang="en-US" sz="1000" dirty="0"/>
          </a:p>
        </p:txBody>
      </p:sp>
      <p:sp>
        <p:nvSpPr>
          <p:cNvPr id="38" name="Text 36"/>
          <p:cNvSpPr/>
          <p:nvPr/>
        </p:nvSpPr>
        <p:spPr>
          <a:xfrm>
            <a:off x="4480560" y="4480560"/>
            <a:ext cx="3246120" cy="502920"/>
          </a:xfrm>
          <a:prstGeom prst="rect">
            <a:avLst/>
          </a:prstGeom>
          <a:noFill/>
          <a:ln/>
        </p:spPr>
        <p:txBody>
          <a:bodyPr wrap="square" lIns="0" tIns="0" rIns="0" bIns="0" rtlCol="0" anchor="ctr"/>
          <a:lstStyle/>
          <a:p>
            <a:pPr indent="0" marL="0">
              <a:buNone/>
            </a:pPr>
            <a:r>
              <a:rPr lang="en-US" sz="2000" spc="100" kern="0" dirty="0">
                <a:solidFill>
                  <a:srgbClr val="ECF1F8"/>
                </a:solidFill>
                <a:latin typeface="Arial Black" pitchFamily="34" charset="0"/>
                <a:ea typeface="Arial Black" pitchFamily="34" charset="-122"/>
                <a:cs typeface="Arial Black" pitchFamily="34" charset="-120"/>
              </a:rPr>
              <a:t>TRANSMEDIUM</a:t>
            </a:r>
            <a:endParaRPr lang="en-US" sz="2000" dirty="0"/>
          </a:p>
        </p:txBody>
      </p:sp>
      <p:sp>
        <p:nvSpPr>
          <p:cNvPr id="39" name="Shape 37"/>
          <p:cNvSpPr/>
          <p:nvPr/>
        </p:nvSpPr>
        <p:spPr>
          <a:xfrm>
            <a:off x="4480560" y="5029200"/>
            <a:ext cx="548640" cy="0"/>
          </a:xfrm>
          <a:prstGeom prst="line">
            <a:avLst/>
          </a:prstGeom>
          <a:noFill/>
          <a:ln w="12700">
            <a:solidFill>
              <a:srgbClr val="2B3A55"/>
            </a:solidFill>
            <a:prstDash val="solid"/>
          </a:ln>
        </p:spPr>
      </p:sp>
      <p:sp>
        <p:nvSpPr>
          <p:cNvPr id="40" name="Text 38"/>
          <p:cNvSpPr/>
          <p:nvPr/>
        </p:nvSpPr>
        <p:spPr>
          <a:xfrm>
            <a:off x="4480560" y="5166360"/>
            <a:ext cx="3246120" cy="1188720"/>
          </a:xfrm>
          <a:prstGeom prst="rect">
            <a:avLst/>
          </a:prstGeom>
          <a:noFill/>
          <a:ln/>
        </p:spPr>
        <p:txBody>
          <a:bodyPr wrap="square" lIns="0" tIns="0" rIns="0" bIns="0" rtlCol="0" anchor="t"/>
          <a:lstStyle/>
          <a:p>
            <a:pPr indent="0" marL="0">
              <a:buNone/>
            </a:pPr>
            <a:r>
              <a:rPr lang="en-US" sz="1200" dirty="0">
                <a:solidFill>
                  <a:srgbClr val="ECF1F8"/>
                </a:solidFill>
                <a:latin typeface="Calibri" pitchFamily="34" charset="0"/>
                <a:ea typeface="Calibri" pitchFamily="34" charset="-122"/>
                <a:cs typeface="Calibri" pitchFamily="34" charset="-120"/>
              </a:rPr>
              <a:t>Craft observed moving seamlessly between space, atmosphere, and water — without structural damage, sonic booms, or the aerodynamic drag expected of known materials.</a:t>
            </a:r>
            <a:endParaRPr lang="en-US" sz="1200" dirty="0"/>
          </a:p>
        </p:txBody>
      </p:sp>
      <p:sp>
        <p:nvSpPr>
          <p:cNvPr id="41" name="Shape 39"/>
          <p:cNvSpPr/>
          <p:nvPr/>
        </p:nvSpPr>
        <p:spPr>
          <a:xfrm>
            <a:off x="8092440" y="3931920"/>
            <a:ext cx="3657600" cy="2514600"/>
          </a:xfrm>
          <a:prstGeom prst="rect">
            <a:avLst/>
          </a:prstGeom>
          <a:solidFill>
            <a:srgbClr val="0F1624"/>
          </a:solidFill>
          <a:ln w="9525">
            <a:solidFill>
              <a:srgbClr val="2B3A55"/>
            </a:solidFill>
            <a:prstDash val="solid"/>
          </a:ln>
        </p:spPr>
      </p:sp>
      <p:sp>
        <p:nvSpPr>
          <p:cNvPr id="42" name="Shape 40"/>
          <p:cNvSpPr/>
          <p:nvPr/>
        </p:nvSpPr>
        <p:spPr>
          <a:xfrm>
            <a:off x="8092440" y="3931920"/>
            <a:ext cx="54864" cy="2514600"/>
          </a:xfrm>
          <a:prstGeom prst="rect">
            <a:avLst/>
          </a:prstGeom>
          <a:solidFill>
            <a:srgbClr val="5DD39E"/>
          </a:solidFill>
          <a:ln w="12700">
            <a:solidFill>
              <a:srgbClr val="5DD39E"/>
            </a:solidFill>
            <a:prstDash val="solid"/>
          </a:ln>
        </p:spPr>
      </p:sp>
      <p:sp>
        <p:nvSpPr>
          <p:cNvPr id="43" name="Text 41"/>
          <p:cNvSpPr/>
          <p:nvPr/>
        </p:nvSpPr>
        <p:spPr>
          <a:xfrm>
            <a:off x="8321040" y="4160520"/>
            <a:ext cx="3246120" cy="274320"/>
          </a:xfrm>
          <a:prstGeom prst="rect">
            <a:avLst/>
          </a:prstGeom>
          <a:noFill/>
          <a:ln/>
        </p:spPr>
        <p:txBody>
          <a:bodyPr wrap="square" lIns="0" tIns="0" rIns="0" bIns="0" rtlCol="0" anchor="ctr"/>
          <a:lstStyle/>
          <a:p>
            <a:pPr indent="0" marL="0">
              <a:buNone/>
            </a:pPr>
            <a:r>
              <a:rPr lang="en-US" sz="1000" b="1" spc="400" kern="0" dirty="0">
                <a:solidFill>
                  <a:srgbClr val="5DD39E"/>
                </a:solidFill>
                <a:latin typeface="Consolas" pitchFamily="34" charset="0"/>
                <a:ea typeface="Consolas" pitchFamily="34" charset="-122"/>
                <a:cs typeface="Consolas" pitchFamily="34" charset="-120"/>
              </a:rPr>
              <a:t>HYPOTHESIS  03</a:t>
            </a:r>
            <a:endParaRPr lang="en-US" sz="1000" dirty="0"/>
          </a:p>
        </p:txBody>
      </p:sp>
      <p:sp>
        <p:nvSpPr>
          <p:cNvPr id="44" name="Text 42"/>
          <p:cNvSpPr/>
          <p:nvPr/>
        </p:nvSpPr>
        <p:spPr>
          <a:xfrm>
            <a:off x="8321040" y="4480560"/>
            <a:ext cx="3246120" cy="502920"/>
          </a:xfrm>
          <a:prstGeom prst="rect">
            <a:avLst/>
          </a:prstGeom>
          <a:noFill/>
          <a:ln/>
        </p:spPr>
        <p:txBody>
          <a:bodyPr wrap="square" lIns="0" tIns="0" rIns="0" bIns="0" rtlCol="0" anchor="ctr"/>
          <a:lstStyle/>
          <a:p>
            <a:pPr indent="0" marL="0">
              <a:buNone/>
            </a:pPr>
            <a:r>
              <a:rPr lang="en-US" sz="2000" spc="100" kern="0" dirty="0">
                <a:solidFill>
                  <a:srgbClr val="ECF1F8"/>
                </a:solidFill>
                <a:latin typeface="Arial Black" pitchFamily="34" charset="0"/>
                <a:ea typeface="Arial Black" pitchFamily="34" charset="-122"/>
                <a:cs typeface="Arial Black" pitchFamily="34" charset="-120"/>
              </a:rPr>
              <a:t>INTERDIMENSIONAL</a:t>
            </a:r>
            <a:endParaRPr lang="en-US" sz="2000" dirty="0"/>
          </a:p>
        </p:txBody>
      </p:sp>
      <p:sp>
        <p:nvSpPr>
          <p:cNvPr id="45" name="Shape 43"/>
          <p:cNvSpPr/>
          <p:nvPr/>
        </p:nvSpPr>
        <p:spPr>
          <a:xfrm>
            <a:off x="8321040" y="5029200"/>
            <a:ext cx="548640" cy="0"/>
          </a:xfrm>
          <a:prstGeom prst="line">
            <a:avLst/>
          </a:prstGeom>
          <a:noFill/>
          <a:ln w="12700">
            <a:solidFill>
              <a:srgbClr val="2B3A55"/>
            </a:solidFill>
            <a:prstDash val="solid"/>
          </a:ln>
        </p:spPr>
      </p:sp>
      <p:sp>
        <p:nvSpPr>
          <p:cNvPr id="46" name="Text 44"/>
          <p:cNvSpPr/>
          <p:nvPr/>
        </p:nvSpPr>
        <p:spPr>
          <a:xfrm>
            <a:off x="8321040" y="5166360"/>
            <a:ext cx="3246120" cy="1188720"/>
          </a:xfrm>
          <a:prstGeom prst="rect">
            <a:avLst/>
          </a:prstGeom>
          <a:noFill/>
          <a:ln/>
        </p:spPr>
        <p:txBody>
          <a:bodyPr wrap="square" lIns="0" tIns="0" rIns="0" bIns="0" rtlCol="0" anchor="t"/>
          <a:lstStyle/>
          <a:p>
            <a:pPr indent="0" marL="0">
              <a:buNone/>
            </a:pPr>
            <a:r>
              <a:rPr lang="en-US" sz="1200" dirty="0">
                <a:solidFill>
                  <a:srgbClr val="ECF1F8"/>
                </a:solidFill>
                <a:latin typeface="Calibri" pitchFamily="34" charset="0"/>
                <a:ea typeface="Calibri" pitchFamily="34" charset="-122"/>
                <a:cs typeface="Calibri" pitchFamily="34" charset="-120"/>
              </a:rPr>
              <a:t>Researchers such as Jacques Vallée argue UAPs may not be spacecraft at all, but rather a 'control system' or entities traversing dimensions adjacent to our own.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201168" y="201168"/>
            <a:ext cx="201168" cy="25603"/>
          </a:xfrm>
          <a:prstGeom prst="rect">
            <a:avLst/>
          </a:prstGeom>
          <a:solidFill>
            <a:srgbClr val="38D9F0"/>
          </a:solidFill>
          <a:ln w="12700">
            <a:solidFill>
              <a:srgbClr val="38D9F0"/>
            </a:solidFill>
            <a:prstDash val="solid"/>
          </a:ln>
        </p:spPr>
      </p:sp>
      <p:sp>
        <p:nvSpPr>
          <p:cNvPr id="3" name="Shape 1"/>
          <p:cNvSpPr/>
          <p:nvPr/>
        </p:nvSpPr>
        <p:spPr>
          <a:xfrm>
            <a:off x="201168" y="201168"/>
            <a:ext cx="25603" cy="201168"/>
          </a:xfrm>
          <a:prstGeom prst="rect">
            <a:avLst/>
          </a:prstGeom>
          <a:solidFill>
            <a:srgbClr val="38D9F0"/>
          </a:solidFill>
          <a:ln w="12700">
            <a:solidFill>
              <a:srgbClr val="38D9F0"/>
            </a:solidFill>
            <a:prstDash val="solid"/>
          </a:ln>
        </p:spPr>
      </p:sp>
      <p:sp>
        <p:nvSpPr>
          <p:cNvPr id="4" name="Shape 2"/>
          <p:cNvSpPr/>
          <p:nvPr/>
        </p:nvSpPr>
        <p:spPr>
          <a:xfrm>
            <a:off x="11759184" y="201168"/>
            <a:ext cx="201168" cy="25603"/>
          </a:xfrm>
          <a:prstGeom prst="rect">
            <a:avLst/>
          </a:prstGeom>
          <a:solidFill>
            <a:srgbClr val="38D9F0"/>
          </a:solidFill>
          <a:ln w="12700">
            <a:solidFill>
              <a:srgbClr val="38D9F0"/>
            </a:solidFill>
            <a:prstDash val="solid"/>
          </a:ln>
        </p:spPr>
      </p:sp>
      <p:sp>
        <p:nvSpPr>
          <p:cNvPr id="5" name="Shape 3"/>
          <p:cNvSpPr/>
          <p:nvPr/>
        </p:nvSpPr>
        <p:spPr>
          <a:xfrm>
            <a:off x="11934749" y="201168"/>
            <a:ext cx="25603" cy="201168"/>
          </a:xfrm>
          <a:prstGeom prst="rect">
            <a:avLst/>
          </a:prstGeom>
          <a:solidFill>
            <a:srgbClr val="38D9F0"/>
          </a:solidFill>
          <a:ln w="12700">
            <a:solidFill>
              <a:srgbClr val="38D9F0"/>
            </a:solidFill>
            <a:prstDash val="solid"/>
          </a:ln>
        </p:spPr>
      </p:sp>
      <p:sp>
        <p:nvSpPr>
          <p:cNvPr id="6" name="Shape 4"/>
          <p:cNvSpPr/>
          <p:nvPr/>
        </p:nvSpPr>
        <p:spPr>
          <a:xfrm>
            <a:off x="201168" y="6631229"/>
            <a:ext cx="201168" cy="25603"/>
          </a:xfrm>
          <a:prstGeom prst="rect">
            <a:avLst/>
          </a:prstGeom>
          <a:solidFill>
            <a:srgbClr val="38D9F0"/>
          </a:solidFill>
          <a:ln w="12700">
            <a:solidFill>
              <a:srgbClr val="38D9F0"/>
            </a:solidFill>
            <a:prstDash val="solid"/>
          </a:ln>
        </p:spPr>
      </p:sp>
      <p:sp>
        <p:nvSpPr>
          <p:cNvPr id="7" name="Shape 5"/>
          <p:cNvSpPr/>
          <p:nvPr/>
        </p:nvSpPr>
        <p:spPr>
          <a:xfrm>
            <a:off x="201168" y="6455664"/>
            <a:ext cx="25603" cy="201168"/>
          </a:xfrm>
          <a:prstGeom prst="rect">
            <a:avLst/>
          </a:prstGeom>
          <a:solidFill>
            <a:srgbClr val="38D9F0"/>
          </a:solidFill>
          <a:ln w="12700">
            <a:solidFill>
              <a:srgbClr val="38D9F0"/>
            </a:solidFill>
            <a:prstDash val="solid"/>
          </a:ln>
        </p:spPr>
      </p:sp>
      <p:sp>
        <p:nvSpPr>
          <p:cNvPr id="8" name="Shape 6"/>
          <p:cNvSpPr/>
          <p:nvPr/>
        </p:nvSpPr>
        <p:spPr>
          <a:xfrm>
            <a:off x="11759184" y="6631229"/>
            <a:ext cx="201168" cy="25603"/>
          </a:xfrm>
          <a:prstGeom prst="rect">
            <a:avLst/>
          </a:prstGeom>
          <a:solidFill>
            <a:srgbClr val="38D9F0"/>
          </a:solidFill>
          <a:ln w="12700">
            <a:solidFill>
              <a:srgbClr val="38D9F0"/>
            </a:solidFill>
            <a:prstDash val="solid"/>
          </a:ln>
        </p:spPr>
      </p:sp>
      <p:sp>
        <p:nvSpPr>
          <p:cNvPr id="9" name="Shape 7"/>
          <p:cNvSpPr/>
          <p:nvPr/>
        </p:nvSpPr>
        <p:spPr>
          <a:xfrm>
            <a:off x="11934749" y="6455664"/>
            <a:ext cx="25603" cy="201168"/>
          </a:xfrm>
          <a:prstGeom prst="rect">
            <a:avLst/>
          </a:prstGeom>
          <a:solidFill>
            <a:srgbClr val="38D9F0"/>
          </a:solidFill>
          <a:ln w="12700">
            <a:solidFill>
              <a:srgbClr val="38D9F0"/>
            </a:solidFill>
            <a:prstDash val="solid"/>
          </a:ln>
        </p:spPr>
      </p:sp>
      <p:sp>
        <p:nvSpPr>
          <p:cNvPr id="10" name="Text 8"/>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DOC-017  //  UAP ARCHIVE  //  VOL. I</a:t>
            </a:r>
            <a:endParaRPr lang="en-US" sz="900" dirty="0"/>
          </a:p>
        </p:txBody>
      </p:sp>
      <p:sp>
        <p:nvSpPr>
          <p:cNvPr id="11" name="Text 9"/>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SECTION MARKER</a:t>
            </a:r>
            <a:endParaRPr lang="en-US" sz="900" dirty="0"/>
          </a:p>
        </p:txBody>
      </p:sp>
      <p:sp>
        <p:nvSpPr>
          <p:cNvPr id="12" name="Text 10"/>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III · THE EMPIRICAL LENS</a:t>
            </a:r>
            <a:endParaRPr lang="en-US" sz="850" dirty="0"/>
          </a:p>
        </p:txBody>
      </p:sp>
      <p:sp>
        <p:nvSpPr>
          <p:cNvPr id="13" name="Text 11"/>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17 / 40</a:t>
            </a:r>
            <a:endParaRPr lang="en-US" sz="850" dirty="0"/>
          </a:p>
        </p:txBody>
      </p:sp>
      <p:sp>
        <p:nvSpPr>
          <p:cNvPr id="14" name="Text 12"/>
          <p:cNvSpPr/>
          <p:nvPr/>
        </p:nvSpPr>
        <p:spPr>
          <a:xfrm>
            <a:off x="7589520" y="1920240"/>
            <a:ext cx="4206240" cy="3291840"/>
          </a:xfrm>
          <a:prstGeom prst="rect">
            <a:avLst/>
          </a:prstGeom>
          <a:noFill/>
          <a:ln/>
        </p:spPr>
        <p:txBody>
          <a:bodyPr wrap="square" lIns="0" tIns="0" rIns="0" bIns="0" rtlCol="0" anchor="ctr"/>
          <a:lstStyle/>
          <a:p>
            <a:pPr algn="r" indent="0" marL="0">
              <a:buNone/>
            </a:pPr>
            <a:r>
              <a:rPr lang="en-US" sz="22000" dirty="0">
                <a:solidFill>
                  <a:srgbClr val="0F1624"/>
                </a:solidFill>
                <a:latin typeface="Arial Black" pitchFamily="34" charset="0"/>
                <a:ea typeface="Arial Black" pitchFamily="34" charset="-122"/>
                <a:cs typeface="Arial Black" pitchFamily="34" charset="-120"/>
              </a:rPr>
              <a:t>03</a:t>
            </a:r>
            <a:endParaRPr lang="en-US" sz="22000" dirty="0"/>
          </a:p>
        </p:txBody>
      </p:sp>
      <p:sp>
        <p:nvSpPr>
          <p:cNvPr id="15" name="Shape 13"/>
          <p:cNvSpPr/>
          <p:nvPr/>
        </p:nvSpPr>
        <p:spPr>
          <a:xfrm>
            <a:off x="7589520" y="2103120"/>
            <a:ext cx="4069080" cy="2971800"/>
          </a:xfrm>
          <a:prstGeom prst="rect">
            <a:avLst/>
          </a:prstGeom>
          <a:solidFill>
            <a:srgbClr val="070B14">
              <a:alpha val="0"/>
            </a:srgbClr>
          </a:solidFill>
          <a:ln w="6350">
            <a:solidFill>
              <a:srgbClr val="1C2840"/>
            </a:solidFill>
            <a:prstDash val="solid"/>
          </a:ln>
        </p:spPr>
      </p:sp>
      <p:sp>
        <p:nvSpPr>
          <p:cNvPr id="16" name="Text 14"/>
          <p:cNvSpPr/>
          <p:nvPr/>
        </p:nvSpPr>
        <p:spPr>
          <a:xfrm>
            <a:off x="7589520" y="5166360"/>
            <a:ext cx="4069080" cy="274320"/>
          </a:xfrm>
          <a:prstGeom prst="rect">
            <a:avLst/>
          </a:prstGeom>
          <a:noFill/>
          <a:ln/>
        </p:spPr>
        <p:txBody>
          <a:bodyPr wrap="square" lIns="0" tIns="0" rIns="0" bIns="0" rtlCol="0" anchor="ctr"/>
          <a:lstStyle/>
          <a:p>
            <a:pPr algn="r" indent="0" marL="0">
              <a:buNone/>
            </a:pPr>
            <a:r>
              <a:rPr lang="en-US" sz="1000" b="1" spc="400" kern="0" dirty="0">
                <a:solidFill>
                  <a:srgbClr val="5DD39E"/>
                </a:solidFill>
                <a:latin typeface="Consolas" pitchFamily="34" charset="0"/>
                <a:ea typeface="Consolas" pitchFamily="34" charset="-122"/>
                <a:cs typeface="Consolas" pitchFamily="34" charset="-120"/>
              </a:rPr>
              <a:t>SECTION 03  //  ACT III</a:t>
            </a:r>
            <a:endParaRPr lang="en-US" sz="1000" dirty="0"/>
          </a:p>
        </p:txBody>
      </p:sp>
      <p:sp>
        <p:nvSpPr>
          <p:cNvPr id="17" name="Shape 15"/>
          <p:cNvSpPr/>
          <p:nvPr/>
        </p:nvSpPr>
        <p:spPr>
          <a:xfrm>
            <a:off x="777240" y="2560320"/>
            <a:ext cx="73152" cy="2103120"/>
          </a:xfrm>
          <a:prstGeom prst="rect">
            <a:avLst/>
          </a:prstGeom>
          <a:solidFill>
            <a:srgbClr val="5DD39E"/>
          </a:solidFill>
          <a:ln w="12700">
            <a:solidFill>
              <a:srgbClr val="5DD39E"/>
            </a:solidFill>
            <a:prstDash val="solid"/>
          </a:ln>
        </p:spPr>
      </p:sp>
      <p:sp>
        <p:nvSpPr>
          <p:cNvPr id="18" name="Text 16"/>
          <p:cNvSpPr/>
          <p:nvPr/>
        </p:nvSpPr>
        <p:spPr>
          <a:xfrm>
            <a:off x="1051560" y="2514600"/>
            <a:ext cx="6217920" cy="365760"/>
          </a:xfrm>
          <a:prstGeom prst="rect">
            <a:avLst/>
          </a:prstGeom>
          <a:noFill/>
          <a:ln/>
        </p:spPr>
        <p:txBody>
          <a:bodyPr wrap="square" lIns="0" tIns="0" rIns="0" bIns="0" rtlCol="0" anchor="ctr"/>
          <a:lstStyle/>
          <a:p>
            <a:pPr indent="0" marL="0">
              <a:buNone/>
            </a:pPr>
            <a:r>
              <a:rPr lang="en-US" sz="1300" b="1" spc="700" kern="0" dirty="0">
                <a:solidFill>
                  <a:srgbClr val="5DD39E"/>
                </a:solidFill>
                <a:latin typeface="Consolas" pitchFamily="34" charset="0"/>
                <a:ea typeface="Consolas" pitchFamily="34" charset="-122"/>
                <a:cs typeface="Consolas" pitchFamily="34" charset="-120"/>
              </a:rPr>
              <a:t>ACT III</a:t>
            </a:r>
            <a:endParaRPr lang="en-US" sz="1300" dirty="0"/>
          </a:p>
        </p:txBody>
      </p:sp>
      <p:sp>
        <p:nvSpPr>
          <p:cNvPr id="19" name="Text 17"/>
          <p:cNvSpPr/>
          <p:nvPr/>
        </p:nvSpPr>
        <p:spPr>
          <a:xfrm>
            <a:off x="1051560" y="2880360"/>
            <a:ext cx="6492240" cy="1097280"/>
          </a:xfrm>
          <a:prstGeom prst="rect">
            <a:avLst/>
          </a:prstGeom>
          <a:noFill/>
          <a:ln/>
        </p:spPr>
        <p:txBody>
          <a:bodyPr wrap="square" lIns="0" tIns="0" rIns="0" bIns="0" rtlCol="0" anchor="ctr"/>
          <a:lstStyle/>
          <a:p>
            <a:pPr indent="0" marL="0">
              <a:buNone/>
            </a:pPr>
            <a:r>
              <a:rPr lang="en-US" sz="4200" dirty="0">
                <a:solidFill>
                  <a:srgbClr val="ECF1F8"/>
                </a:solidFill>
                <a:latin typeface="Arial Black" pitchFamily="34" charset="0"/>
                <a:ea typeface="Arial Black" pitchFamily="34" charset="-122"/>
                <a:cs typeface="Arial Black" pitchFamily="34" charset="-120"/>
              </a:rPr>
              <a:t>The Empirical Lens</a:t>
            </a:r>
            <a:endParaRPr lang="en-US" sz="4200" dirty="0"/>
          </a:p>
        </p:txBody>
      </p:sp>
      <p:sp>
        <p:nvSpPr>
          <p:cNvPr id="20" name="Text 18"/>
          <p:cNvSpPr/>
          <p:nvPr/>
        </p:nvSpPr>
        <p:spPr>
          <a:xfrm>
            <a:off x="1051560" y="4114800"/>
            <a:ext cx="6400800" cy="1188720"/>
          </a:xfrm>
          <a:prstGeom prst="rect">
            <a:avLst/>
          </a:prstGeom>
          <a:noFill/>
          <a:ln/>
        </p:spPr>
        <p:txBody>
          <a:bodyPr wrap="square" lIns="0" tIns="0" rIns="0" bIns="0" rtlCol="0" anchor="ctr"/>
          <a:lstStyle/>
          <a:p>
            <a:pPr indent="0" marL="0">
              <a:buNone/>
            </a:pPr>
            <a:r>
              <a:rPr lang="en-US" sz="1600" i="1" dirty="0">
                <a:solidFill>
                  <a:srgbClr val="8A97AD"/>
                </a:solidFill>
                <a:latin typeface="Calibri" pitchFamily="34" charset="0"/>
                <a:ea typeface="Calibri" pitchFamily="34" charset="-122"/>
                <a:cs typeface="Calibri" pitchFamily="34" charset="-120"/>
              </a:rPr>
              <a:t>The modern era — folklore is replaced by telemetry. UAPs become a matter of aerospace safety and national security.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DOC-018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SENSOR DATA</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III · HARD DATA</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18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III  ·  SECTION 01</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Hard Data &amp; Credible Observers</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240280"/>
            <a:ext cx="6217920" cy="3931920"/>
          </a:xfrm>
          <a:prstGeom prst="rect">
            <a:avLst/>
          </a:prstGeom>
          <a:solidFill>
            <a:srgbClr val="0F1624"/>
          </a:solidFill>
          <a:ln w="9525">
            <a:solidFill>
              <a:srgbClr val="2B3A55"/>
            </a:solidFill>
            <a:prstDash val="solid"/>
          </a:ln>
        </p:spPr>
      </p:sp>
      <p:sp>
        <p:nvSpPr>
          <p:cNvPr id="25" name="Shape 23"/>
          <p:cNvSpPr/>
          <p:nvPr/>
        </p:nvSpPr>
        <p:spPr>
          <a:xfrm>
            <a:off x="548640" y="2240280"/>
            <a:ext cx="54864" cy="3931920"/>
          </a:xfrm>
          <a:prstGeom prst="rect">
            <a:avLst/>
          </a:prstGeom>
          <a:solidFill>
            <a:srgbClr val="5DD39E"/>
          </a:solidFill>
          <a:ln w="12700">
            <a:solidFill>
              <a:srgbClr val="5DD39E"/>
            </a:solidFill>
            <a:prstDash val="solid"/>
          </a:ln>
        </p:spPr>
      </p:sp>
      <p:sp>
        <p:nvSpPr>
          <p:cNvPr id="26" name="Text 24"/>
          <p:cNvSpPr/>
          <p:nvPr/>
        </p:nvSpPr>
        <p:spPr>
          <a:xfrm>
            <a:off x="777240" y="2468880"/>
            <a:ext cx="5760720" cy="274320"/>
          </a:xfrm>
          <a:prstGeom prst="rect">
            <a:avLst/>
          </a:prstGeom>
          <a:noFill/>
          <a:ln/>
        </p:spPr>
        <p:txBody>
          <a:bodyPr wrap="square" lIns="0" tIns="0" rIns="0" bIns="0" rtlCol="0" anchor="ctr"/>
          <a:lstStyle/>
          <a:p>
            <a:pPr indent="0" marL="0">
              <a:buNone/>
            </a:pPr>
            <a:r>
              <a:rPr lang="en-US" sz="1000" b="1" spc="400" kern="0" dirty="0">
                <a:solidFill>
                  <a:srgbClr val="5DD39E"/>
                </a:solidFill>
                <a:latin typeface="Consolas" pitchFamily="34" charset="0"/>
                <a:ea typeface="Consolas" pitchFamily="34" charset="-122"/>
                <a:cs typeface="Consolas" pitchFamily="34" charset="-120"/>
              </a:rPr>
              <a:t>CASE 2004-NIM-01   ·   FLIR-TARGETING POD</a:t>
            </a:r>
            <a:endParaRPr lang="en-US" sz="1000" dirty="0"/>
          </a:p>
        </p:txBody>
      </p:sp>
      <p:sp>
        <p:nvSpPr>
          <p:cNvPr id="27" name="Text 25"/>
          <p:cNvSpPr/>
          <p:nvPr/>
        </p:nvSpPr>
        <p:spPr>
          <a:xfrm>
            <a:off x="777240" y="2743200"/>
            <a:ext cx="5760720" cy="457200"/>
          </a:xfrm>
          <a:prstGeom prst="rect">
            <a:avLst/>
          </a:prstGeom>
          <a:noFill/>
          <a:ln/>
        </p:spPr>
        <p:txBody>
          <a:bodyPr wrap="square" lIns="0" tIns="0" rIns="0" bIns="0" rtlCol="0" anchor="ctr"/>
          <a:lstStyle/>
          <a:p>
            <a:pPr indent="0" marL="0">
              <a:buNone/>
            </a:pPr>
            <a:r>
              <a:rPr lang="en-US" sz="2200" dirty="0">
                <a:solidFill>
                  <a:srgbClr val="ECF1F8"/>
                </a:solidFill>
                <a:latin typeface="Arial Black" pitchFamily="34" charset="0"/>
                <a:ea typeface="Arial Black" pitchFamily="34" charset="-122"/>
                <a:cs typeface="Arial Black" pitchFamily="34" charset="-120"/>
              </a:rPr>
              <a:t>THE NIMITZ ENCOUNTER  ·  2004</a:t>
            </a:r>
            <a:endParaRPr lang="en-US" sz="2200" dirty="0"/>
          </a:p>
        </p:txBody>
      </p:sp>
      <p:sp>
        <p:nvSpPr>
          <p:cNvPr id="28" name="Shape 26"/>
          <p:cNvSpPr/>
          <p:nvPr/>
        </p:nvSpPr>
        <p:spPr>
          <a:xfrm>
            <a:off x="2788920" y="3657600"/>
            <a:ext cx="1737360" cy="1737360"/>
          </a:xfrm>
          <a:prstGeom prst="ellipse">
            <a:avLst/>
          </a:prstGeom>
          <a:solidFill>
            <a:srgbClr val="121B2E"/>
          </a:solidFill>
          <a:ln w="19050">
            <a:solidFill>
              <a:srgbClr val="5DD39E"/>
            </a:solidFill>
            <a:prstDash val="solid"/>
          </a:ln>
        </p:spPr>
      </p:sp>
      <p:sp>
        <p:nvSpPr>
          <p:cNvPr id="29" name="Shape 27"/>
          <p:cNvSpPr/>
          <p:nvPr/>
        </p:nvSpPr>
        <p:spPr>
          <a:xfrm>
            <a:off x="3154680" y="4023360"/>
            <a:ext cx="1005840" cy="1005840"/>
          </a:xfrm>
          <a:prstGeom prst="ellipse">
            <a:avLst/>
          </a:prstGeom>
          <a:solidFill>
            <a:srgbClr val="121B2E">
              <a:alpha val="0"/>
            </a:srgbClr>
          </a:solidFill>
          <a:ln w="12700">
            <a:solidFill>
              <a:srgbClr val="5DD39E"/>
            </a:solidFill>
            <a:prstDash val="solid"/>
          </a:ln>
        </p:spPr>
      </p:sp>
      <p:sp>
        <p:nvSpPr>
          <p:cNvPr id="30" name="Shape 28"/>
          <p:cNvSpPr/>
          <p:nvPr/>
        </p:nvSpPr>
        <p:spPr>
          <a:xfrm>
            <a:off x="3657600" y="3429000"/>
            <a:ext cx="0" cy="201168"/>
          </a:xfrm>
          <a:prstGeom prst="line">
            <a:avLst/>
          </a:prstGeom>
          <a:noFill/>
          <a:ln w="19050">
            <a:solidFill>
              <a:srgbClr val="5DD39E"/>
            </a:solidFill>
            <a:prstDash val="solid"/>
          </a:ln>
        </p:spPr>
      </p:sp>
      <p:sp>
        <p:nvSpPr>
          <p:cNvPr id="31" name="Shape 29"/>
          <p:cNvSpPr/>
          <p:nvPr/>
        </p:nvSpPr>
        <p:spPr>
          <a:xfrm>
            <a:off x="3657600" y="5422392"/>
            <a:ext cx="0" cy="201168"/>
          </a:xfrm>
          <a:prstGeom prst="line">
            <a:avLst/>
          </a:prstGeom>
          <a:noFill/>
          <a:ln w="19050">
            <a:solidFill>
              <a:srgbClr val="5DD39E"/>
            </a:solidFill>
            <a:prstDash val="solid"/>
          </a:ln>
        </p:spPr>
      </p:sp>
      <p:sp>
        <p:nvSpPr>
          <p:cNvPr id="32" name="Shape 30"/>
          <p:cNvSpPr/>
          <p:nvPr/>
        </p:nvSpPr>
        <p:spPr>
          <a:xfrm>
            <a:off x="2560320" y="4526280"/>
            <a:ext cx="201168" cy="0"/>
          </a:xfrm>
          <a:prstGeom prst="line">
            <a:avLst/>
          </a:prstGeom>
          <a:noFill/>
          <a:ln w="19050">
            <a:solidFill>
              <a:srgbClr val="5DD39E"/>
            </a:solidFill>
            <a:prstDash val="solid"/>
          </a:ln>
        </p:spPr>
      </p:sp>
      <p:sp>
        <p:nvSpPr>
          <p:cNvPr id="33" name="Shape 31"/>
          <p:cNvSpPr/>
          <p:nvPr/>
        </p:nvSpPr>
        <p:spPr>
          <a:xfrm>
            <a:off x="4553712" y="4526280"/>
            <a:ext cx="201168" cy="0"/>
          </a:xfrm>
          <a:prstGeom prst="line">
            <a:avLst/>
          </a:prstGeom>
          <a:noFill/>
          <a:ln w="19050">
            <a:solidFill>
              <a:srgbClr val="5DD39E"/>
            </a:solidFill>
            <a:prstDash val="solid"/>
          </a:ln>
        </p:spPr>
      </p:sp>
      <p:sp>
        <p:nvSpPr>
          <p:cNvPr id="34" name="Text 32"/>
          <p:cNvSpPr/>
          <p:nvPr/>
        </p:nvSpPr>
        <p:spPr>
          <a:xfrm>
            <a:off x="3200400" y="4389120"/>
            <a:ext cx="914400" cy="274320"/>
          </a:xfrm>
          <a:prstGeom prst="rect">
            <a:avLst/>
          </a:prstGeom>
          <a:noFill/>
          <a:ln/>
        </p:spPr>
        <p:txBody>
          <a:bodyPr wrap="square" lIns="0" tIns="0" rIns="0" bIns="0" rtlCol="0" anchor="ctr"/>
          <a:lstStyle/>
          <a:p>
            <a:pPr algn="ctr" indent="0" marL="0">
              <a:buNone/>
            </a:pPr>
            <a:r>
              <a:rPr lang="en-US" sz="1100" b="1" spc="300" kern="0" dirty="0">
                <a:solidFill>
                  <a:srgbClr val="5DD39E"/>
                </a:solidFill>
                <a:latin typeface="Consolas" pitchFamily="34" charset="0"/>
                <a:ea typeface="Consolas" pitchFamily="34" charset="-122"/>
                <a:cs typeface="Consolas" pitchFamily="34" charset="-120"/>
              </a:rPr>
              <a:t>TIC-TAC</a:t>
            </a:r>
            <a:endParaRPr lang="en-US" sz="1100" dirty="0"/>
          </a:p>
        </p:txBody>
      </p:sp>
      <p:sp>
        <p:nvSpPr>
          <p:cNvPr id="35" name="Text 33"/>
          <p:cNvSpPr/>
          <p:nvPr/>
        </p:nvSpPr>
        <p:spPr>
          <a:xfrm>
            <a:off x="777240" y="3246120"/>
            <a:ext cx="5760720" cy="640080"/>
          </a:xfrm>
          <a:prstGeom prst="rect">
            <a:avLst/>
          </a:prstGeom>
          <a:noFill/>
          <a:ln/>
        </p:spPr>
        <p:txBody>
          <a:bodyPr wrap="square" lIns="0" tIns="0" rIns="0" bIns="0" rtlCol="0" anchor="t"/>
          <a:lstStyle/>
          <a:p>
            <a:pPr indent="0" marL="0">
              <a:buNone/>
            </a:pPr>
            <a:r>
              <a:rPr lang="en-US" sz="1150" i="1" dirty="0">
                <a:solidFill>
                  <a:srgbClr val="8A97AD"/>
                </a:solidFill>
                <a:latin typeface="Calibri" pitchFamily="34" charset="0"/>
                <a:ea typeface="Calibri" pitchFamily="34" charset="-122"/>
                <a:cs typeface="Calibri" pitchFamily="34" charset="-120"/>
              </a:rPr>
              <a:t>Commander David Fravor's visual engagement with a physics-defying 'Tic Tac' object off the coast of San Diego — corroborated by the USS Princeton's advanced Aegis radar.</a:t>
            </a:r>
            <a:endParaRPr lang="en-US" sz="1150" dirty="0"/>
          </a:p>
        </p:txBody>
      </p:sp>
      <p:sp>
        <p:nvSpPr>
          <p:cNvPr id="36" name="Shape 34"/>
          <p:cNvSpPr/>
          <p:nvPr/>
        </p:nvSpPr>
        <p:spPr>
          <a:xfrm>
            <a:off x="6949440" y="2240280"/>
            <a:ext cx="4663440" cy="1261872"/>
          </a:xfrm>
          <a:prstGeom prst="rect">
            <a:avLst/>
          </a:prstGeom>
          <a:solidFill>
            <a:srgbClr val="0F1624"/>
          </a:solidFill>
          <a:ln w="9525">
            <a:solidFill>
              <a:srgbClr val="2B3A55"/>
            </a:solidFill>
            <a:prstDash val="solid"/>
          </a:ln>
        </p:spPr>
      </p:sp>
      <p:sp>
        <p:nvSpPr>
          <p:cNvPr id="37" name="Shape 35"/>
          <p:cNvSpPr/>
          <p:nvPr/>
        </p:nvSpPr>
        <p:spPr>
          <a:xfrm>
            <a:off x="6949440" y="2240280"/>
            <a:ext cx="54864" cy="1261872"/>
          </a:xfrm>
          <a:prstGeom prst="rect">
            <a:avLst/>
          </a:prstGeom>
          <a:solidFill>
            <a:srgbClr val="5DD39E"/>
          </a:solidFill>
          <a:ln w="12700">
            <a:solidFill>
              <a:srgbClr val="5DD39E"/>
            </a:solidFill>
            <a:prstDash val="solid"/>
          </a:ln>
        </p:spPr>
      </p:sp>
      <p:sp>
        <p:nvSpPr>
          <p:cNvPr id="38" name="Text 36"/>
          <p:cNvSpPr/>
          <p:nvPr/>
        </p:nvSpPr>
        <p:spPr>
          <a:xfrm>
            <a:off x="7178040" y="2404872"/>
            <a:ext cx="3200400" cy="228600"/>
          </a:xfrm>
          <a:prstGeom prst="rect">
            <a:avLst/>
          </a:prstGeom>
          <a:noFill/>
          <a:ln/>
        </p:spPr>
        <p:txBody>
          <a:bodyPr wrap="square" lIns="0" tIns="0" rIns="0" bIns="0" rtlCol="0" anchor="ctr"/>
          <a:lstStyle/>
          <a:p>
            <a:pPr indent="0" marL="0">
              <a:buNone/>
            </a:pPr>
            <a:r>
              <a:rPr lang="en-US" sz="950" b="1" spc="400" kern="0" dirty="0">
                <a:solidFill>
                  <a:srgbClr val="5DD39E"/>
                </a:solidFill>
                <a:latin typeface="Consolas" pitchFamily="34" charset="0"/>
                <a:ea typeface="Consolas" pitchFamily="34" charset="-122"/>
                <a:cs typeface="Consolas" pitchFamily="34" charset="-120"/>
              </a:rPr>
              <a:t>WITNESS TIER</a:t>
            </a:r>
            <a:endParaRPr lang="en-US" sz="950" dirty="0"/>
          </a:p>
        </p:txBody>
      </p:sp>
      <p:sp>
        <p:nvSpPr>
          <p:cNvPr id="39" name="Text 37"/>
          <p:cNvSpPr/>
          <p:nvPr/>
        </p:nvSpPr>
        <p:spPr>
          <a:xfrm>
            <a:off x="7178040" y="2624328"/>
            <a:ext cx="4114800" cy="347472"/>
          </a:xfrm>
          <a:prstGeom prst="rect">
            <a:avLst/>
          </a:prstGeom>
          <a:noFill/>
          <a:ln/>
        </p:spPr>
        <p:txBody>
          <a:bodyPr wrap="square" lIns="0" tIns="0" rIns="0" bIns="0" rtlCol="0" anchor="ctr"/>
          <a:lstStyle/>
          <a:p>
            <a:pPr indent="0" marL="0">
              <a:buNone/>
            </a:pPr>
            <a:r>
              <a:rPr lang="en-US" sz="1400" dirty="0">
                <a:solidFill>
                  <a:srgbClr val="ECF1F8"/>
                </a:solidFill>
                <a:latin typeface="Arial Black" pitchFamily="34" charset="0"/>
                <a:ea typeface="Arial Black" pitchFamily="34" charset="-122"/>
                <a:cs typeface="Arial Black" pitchFamily="34" charset="-120"/>
              </a:rPr>
              <a:t>Credible Observers</a:t>
            </a:r>
            <a:endParaRPr lang="en-US" sz="1400" dirty="0"/>
          </a:p>
        </p:txBody>
      </p:sp>
      <p:sp>
        <p:nvSpPr>
          <p:cNvPr id="40" name="Text 38"/>
          <p:cNvSpPr/>
          <p:nvPr/>
        </p:nvSpPr>
        <p:spPr>
          <a:xfrm>
            <a:off x="7178040" y="2971800"/>
            <a:ext cx="4434840" cy="484632"/>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Focus shifts from civilian anecdote to trained naval aviators, radar operators, and commercial pilots — trained to identify conventional aircraft.</a:t>
            </a:r>
            <a:endParaRPr lang="en-US" sz="1050" dirty="0"/>
          </a:p>
        </p:txBody>
      </p:sp>
      <p:sp>
        <p:nvSpPr>
          <p:cNvPr id="41" name="Shape 39"/>
          <p:cNvSpPr/>
          <p:nvPr/>
        </p:nvSpPr>
        <p:spPr>
          <a:xfrm>
            <a:off x="6949440" y="3575304"/>
            <a:ext cx="4663440" cy="1261872"/>
          </a:xfrm>
          <a:prstGeom prst="rect">
            <a:avLst/>
          </a:prstGeom>
          <a:solidFill>
            <a:srgbClr val="0F1624"/>
          </a:solidFill>
          <a:ln w="9525">
            <a:solidFill>
              <a:srgbClr val="2B3A55"/>
            </a:solidFill>
            <a:prstDash val="solid"/>
          </a:ln>
        </p:spPr>
      </p:sp>
      <p:sp>
        <p:nvSpPr>
          <p:cNvPr id="42" name="Shape 40"/>
          <p:cNvSpPr/>
          <p:nvPr/>
        </p:nvSpPr>
        <p:spPr>
          <a:xfrm>
            <a:off x="6949440" y="3575304"/>
            <a:ext cx="54864" cy="1261872"/>
          </a:xfrm>
          <a:prstGeom prst="rect">
            <a:avLst/>
          </a:prstGeom>
          <a:solidFill>
            <a:srgbClr val="5DD39E"/>
          </a:solidFill>
          <a:ln w="12700">
            <a:solidFill>
              <a:srgbClr val="5DD39E"/>
            </a:solidFill>
            <a:prstDash val="solid"/>
          </a:ln>
        </p:spPr>
      </p:sp>
      <p:sp>
        <p:nvSpPr>
          <p:cNvPr id="43" name="Text 41"/>
          <p:cNvSpPr/>
          <p:nvPr/>
        </p:nvSpPr>
        <p:spPr>
          <a:xfrm>
            <a:off x="7178040" y="3739896"/>
            <a:ext cx="3200400" cy="228600"/>
          </a:xfrm>
          <a:prstGeom prst="rect">
            <a:avLst/>
          </a:prstGeom>
          <a:noFill/>
          <a:ln/>
        </p:spPr>
        <p:txBody>
          <a:bodyPr wrap="square" lIns="0" tIns="0" rIns="0" bIns="0" rtlCol="0" anchor="ctr"/>
          <a:lstStyle/>
          <a:p>
            <a:pPr indent="0" marL="0">
              <a:buNone/>
            </a:pPr>
            <a:r>
              <a:rPr lang="en-US" sz="950" b="1" spc="400" kern="0" dirty="0">
                <a:solidFill>
                  <a:srgbClr val="5DD39E"/>
                </a:solidFill>
                <a:latin typeface="Consolas" pitchFamily="34" charset="0"/>
                <a:ea typeface="Consolas" pitchFamily="34" charset="-122"/>
                <a:cs typeface="Consolas" pitchFamily="34" charset="-120"/>
              </a:rPr>
              <a:t>MULTISENSOR</a:t>
            </a:r>
            <a:endParaRPr lang="en-US" sz="950" dirty="0"/>
          </a:p>
        </p:txBody>
      </p:sp>
      <p:sp>
        <p:nvSpPr>
          <p:cNvPr id="44" name="Text 42"/>
          <p:cNvSpPr/>
          <p:nvPr/>
        </p:nvSpPr>
        <p:spPr>
          <a:xfrm>
            <a:off x="7178040" y="3959352"/>
            <a:ext cx="4114800" cy="347472"/>
          </a:xfrm>
          <a:prstGeom prst="rect">
            <a:avLst/>
          </a:prstGeom>
          <a:noFill/>
          <a:ln/>
        </p:spPr>
        <p:txBody>
          <a:bodyPr wrap="square" lIns="0" tIns="0" rIns="0" bIns="0" rtlCol="0" anchor="ctr"/>
          <a:lstStyle/>
          <a:p>
            <a:pPr indent="0" marL="0">
              <a:buNone/>
            </a:pPr>
            <a:r>
              <a:rPr lang="en-US" sz="1400" dirty="0">
                <a:solidFill>
                  <a:srgbClr val="ECF1F8"/>
                </a:solidFill>
                <a:latin typeface="Arial Black" pitchFamily="34" charset="0"/>
                <a:ea typeface="Arial Black" pitchFamily="34" charset="-122"/>
                <a:cs typeface="Arial Black" pitchFamily="34" charset="-120"/>
              </a:rPr>
              <a:t>Data Convergence</a:t>
            </a:r>
            <a:endParaRPr lang="en-US" sz="1400" dirty="0"/>
          </a:p>
        </p:txBody>
      </p:sp>
      <p:sp>
        <p:nvSpPr>
          <p:cNvPr id="45" name="Text 43"/>
          <p:cNvSpPr/>
          <p:nvPr/>
        </p:nvSpPr>
        <p:spPr>
          <a:xfrm>
            <a:off x="7178040" y="4306824"/>
            <a:ext cx="4434840" cy="484632"/>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Modern investigations require simultaneous confirmation: visual + FLIR + radar + localized EM anomaly. Single-source reports are filtered out.</a:t>
            </a:r>
            <a:endParaRPr lang="en-US" sz="1050" dirty="0"/>
          </a:p>
        </p:txBody>
      </p:sp>
      <p:sp>
        <p:nvSpPr>
          <p:cNvPr id="46" name="Shape 44"/>
          <p:cNvSpPr/>
          <p:nvPr/>
        </p:nvSpPr>
        <p:spPr>
          <a:xfrm>
            <a:off x="6949440" y="4910328"/>
            <a:ext cx="4663440" cy="1261872"/>
          </a:xfrm>
          <a:prstGeom prst="rect">
            <a:avLst/>
          </a:prstGeom>
          <a:solidFill>
            <a:srgbClr val="0F1624"/>
          </a:solidFill>
          <a:ln w="9525">
            <a:solidFill>
              <a:srgbClr val="2B3A55"/>
            </a:solidFill>
            <a:prstDash val="solid"/>
          </a:ln>
        </p:spPr>
      </p:sp>
      <p:sp>
        <p:nvSpPr>
          <p:cNvPr id="47" name="Shape 45"/>
          <p:cNvSpPr/>
          <p:nvPr/>
        </p:nvSpPr>
        <p:spPr>
          <a:xfrm>
            <a:off x="6949440" y="4910328"/>
            <a:ext cx="54864" cy="1261872"/>
          </a:xfrm>
          <a:prstGeom prst="rect">
            <a:avLst/>
          </a:prstGeom>
          <a:solidFill>
            <a:srgbClr val="5DD39E"/>
          </a:solidFill>
          <a:ln w="12700">
            <a:solidFill>
              <a:srgbClr val="5DD39E"/>
            </a:solidFill>
            <a:prstDash val="solid"/>
          </a:ln>
        </p:spPr>
      </p:sp>
      <p:sp>
        <p:nvSpPr>
          <p:cNvPr id="48" name="Text 46"/>
          <p:cNvSpPr/>
          <p:nvPr/>
        </p:nvSpPr>
        <p:spPr>
          <a:xfrm>
            <a:off x="7178040" y="5074920"/>
            <a:ext cx="3200400" cy="228600"/>
          </a:xfrm>
          <a:prstGeom prst="rect">
            <a:avLst/>
          </a:prstGeom>
          <a:noFill/>
          <a:ln/>
        </p:spPr>
        <p:txBody>
          <a:bodyPr wrap="square" lIns="0" tIns="0" rIns="0" bIns="0" rtlCol="0" anchor="ctr"/>
          <a:lstStyle/>
          <a:p>
            <a:pPr indent="0" marL="0">
              <a:buNone/>
            </a:pPr>
            <a:r>
              <a:rPr lang="en-US" sz="950" b="1" spc="400" kern="0" dirty="0">
                <a:solidFill>
                  <a:srgbClr val="5DD39E"/>
                </a:solidFill>
                <a:latin typeface="Consolas" pitchFamily="34" charset="0"/>
                <a:ea typeface="Consolas" pitchFamily="34" charset="-122"/>
                <a:cs typeface="Consolas" pitchFamily="34" charset="-120"/>
              </a:rPr>
              <a:t>SIGNATURE</a:t>
            </a:r>
            <a:endParaRPr lang="en-US" sz="950" dirty="0"/>
          </a:p>
        </p:txBody>
      </p:sp>
      <p:sp>
        <p:nvSpPr>
          <p:cNvPr id="49" name="Text 47"/>
          <p:cNvSpPr/>
          <p:nvPr/>
        </p:nvSpPr>
        <p:spPr>
          <a:xfrm>
            <a:off x="7178040" y="5294376"/>
            <a:ext cx="4114800" cy="347472"/>
          </a:xfrm>
          <a:prstGeom prst="rect">
            <a:avLst/>
          </a:prstGeom>
          <a:noFill/>
          <a:ln/>
        </p:spPr>
        <p:txBody>
          <a:bodyPr wrap="square" lIns="0" tIns="0" rIns="0" bIns="0" rtlCol="0" anchor="ctr"/>
          <a:lstStyle/>
          <a:p>
            <a:pPr indent="0" marL="0">
              <a:buNone/>
            </a:pPr>
            <a:r>
              <a:rPr lang="en-US" sz="1400" dirty="0">
                <a:solidFill>
                  <a:srgbClr val="ECF1F8"/>
                </a:solidFill>
                <a:latin typeface="Arial Black" pitchFamily="34" charset="0"/>
                <a:ea typeface="Arial Black" pitchFamily="34" charset="-122"/>
                <a:cs typeface="Arial Black" pitchFamily="34" charset="-120"/>
              </a:rPr>
              <a:t>Physical Anomalies</a:t>
            </a:r>
            <a:endParaRPr lang="en-US" sz="1400" dirty="0"/>
          </a:p>
        </p:txBody>
      </p:sp>
      <p:sp>
        <p:nvSpPr>
          <p:cNvPr id="50" name="Text 48"/>
          <p:cNvSpPr/>
          <p:nvPr/>
        </p:nvSpPr>
        <p:spPr>
          <a:xfrm>
            <a:off x="7178040" y="5641848"/>
            <a:ext cx="4434840" cy="484632"/>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Persistent radio/microwave disruptions — including documented 1.6 GHz signal effects at high-strangeness locations such as Skinwalker Ranch, Utah.</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DOC-019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GLOBAL</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III · MASS SIGHTINGS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19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III  ·  SECTION 02</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Mass Sightings &amp; Global Impact</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361188" y="2240280"/>
            <a:ext cx="3703320" cy="3794760"/>
          </a:xfrm>
          <a:prstGeom prst="rect">
            <a:avLst/>
          </a:prstGeom>
          <a:solidFill>
            <a:srgbClr val="0F1624"/>
          </a:solidFill>
          <a:ln w="9525">
            <a:solidFill>
              <a:srgbClr val="2B3A55"/>
            </a:solidFill>
            <a:prstDash val="solid"/>
          </a:ln>
        </p:spPr>
      </p:sp>
      <p:sp>
        <p:nvSpPr>
          <p:cNvPr id="25" name="Shape 23"/>
          <p:cNvSpPr/>
          <p:nvPr/>
        </p:nvSpPr>
        <p:spPr>
          <a:xfrm>
            <a:off x="361188" y="2240280"/>
            <a:ext cx="54864" cy="3794760"/>
          </a:xfrm>
          <a:prstGeom prst="rect">
            <a:avLst/>
          </a:prstGeom>
          <a:solidFill>
            <a:srgbClr val="5DD39E"/>
          </a:solidFill>
          <a:ln w="12700">
            <a:solidFill>
              <a:srgbClr val="5DD39E"/>
            </a:solidFill>
            <a:prstDash val="solid"/>
          </a:ln>
        </p:spPr>
      </p:sp>
      <p:sp>
        <p:nvSpPr>
          <p:cNvPr id="26" name="Shape 24"/>
          <p:cNvSpPr/>
          <p:nvPr/>
        </p:nvSpPr>
        <p:spPr>
          <a:xfrm>
            <a:off x="416052" y="2240280"/>
            <a:ext cx="3648456" cy="365760"/>
          </a:xfrm>
          <a:prstGeom prst="rect">
            <a:avLst/>
          </a:prstGeom>
          <a:solidFill>
            <a:srgbClr val="121B2E"/>
          </a:solidFill>
          <a:ln w="12700">
            <a:solidFill>
              <a:srgbClr val="2B3A55"/>
            </a:solidFill>
            <a:prstDash val="solid"/>
          </a:ln>
        </p:spPr>
      </p:sp>
      <p:sp>
        <p:nvSpPr>
          <p:cNvPr id="27" name="Text 25"/>
          <p:cNvSpPr/>
          <p:nvPr/>
        </p:nvSpPr>
        <p:spPr>
          <a:xfrm>
            <a:off x="589788" y="2304288"/>
            <a:ext cx="3246120" cy="274320"/>
          </a:xfrm>
          <a:prstGeom prst="rect">
            <a:avLst/>
          </a:prstGeom>
          <a:noFill/>
          <a:ln/>
        </p:spPr>
        <p:txBody>
          <a:bodyPr wrap="square" lIns="0" tIns="0" rIns="0" bIns="0" rtlCol="0" anchor="ctr"/>
          <a:lstStyle/>
          <a:p>
            <a:pPr indent="0" marL="0">
              <a:buNone/>
            </a:pPr>
            <a:r>
              <a:rPr lang="en-US" sz="1000" spc="300" kern="0" dirty="0">
                <a:solidFill>
                  <a:srgbClr val="5DD39E"/>
                </a:solidFill>
                <a:latin typeface="Consolas" pitchFamily="34" charset="0"/>
                <a:ea typeface="Consolas" pitchFamily="34" charset="-122"/>
                <a:cs typeface="Consolas" pitchFamily="34" charset="-120"/>
              </a:rPr>
              <a:t>50°51'N  ·  4°21'E</a:t>
            </a:r>
            <a:endParaRPr lang="en-US" sz="1000" dirty="0"/>
          </a:p>
        </p:txBody>
      </p:sp>
      <p:sp>
        <p:nvSpPr>
          <p:cNvPr id="28" name="Text 26"/>
          <p:cNvSpPr/>
          <p:nvPr/>
        </p:nvSpPr>
        <p:spPr>
          <a:xfrm>
            <a:off x="589788" y="2743200"/>
            <a:ext cx="3337560" cy="320040"/>
          </a:xfrm>
          <a:prstGeom prst="rect">
            <a:avLst/>
          </a:prstGeom>
          <a:noFill/>
          <a:ln/>
        </p:spPr>
        <p:txBody>
          <a:bodyPr wrap="square" lIns="0" tIns="0" rIns="0" bIns="0" rtlCol="0" anchor="ctr"/>
          <a:lstStyle/>
          <a:p>
            <a:pPr indent="0" marL="0">
              <a:buNone/>
            </a:pPr>
            <a:r>
              <a:rPr lang="en-US" sz="1500" spc="400" kern="0" dirty="0">
                <a:solidFill>
                  <a:srgbClr val="F5B024"/>
                </a:solidFill>
                <a:latin typeface="Arial Black" pitchFamily="34" charset="0"/>
                <a:ea typeface="Arial Black" pitchFamily="34" charset="-122"/>
                <a:cs typeface="Arial Black" pitchFamily="34" charset="-120"/>
              </a:rPr>
              <a:t>BELGIUM</a:t>
            </a:r>
            <a:endParaRPr lang="en-US" sz="1500" dirty="0"/>
          </a:p>
        </p:txBody>
      </p:sp>
      <p:sp>
        <p:nvSpPr>
          <p:cNvPr id="29" name="Text 27"/>
          <p:cNvSpPr/>
          <p:nvPr/>
        </p:nvSpPr>
        <p:spPr>
          <a:xfrm>
            <a:off x="589788" y="3063240"/>
            <a:ext cx="3337560" cy="274320"/>
          </a:xfrm>
          <a:prstGeom prst="rect">
            <a:avLst/>
          </a:prstGeom>
          <a:noFill/>
          <a:ln/>
        </p:spPr>
        <p:txBody>
          <a:bodyPr wrap="square" lIns="0" tIns="0" rIns="0" bIns="0" rtlCol="0" anchor="ctr"/>
          <a:lstStyle/>
          <a:p>
            <a:pPr indent="0" marL="0">
              <a:buNone/>
            </a:pPr>
            <a:r>
              <a:rPr lang="en-US" sz="1000" i="1" spc="200" kern="0" dirty="0">
                <a:solidFill>
                  <a:srgbClr val="8A97AD"/>
                </a:solidFill>
                <a:latin typeface="Consolas" pitchFamily="34" charset="0"/>
                <a:ea typeface="Consolas" pitchFamily="34" charset="-122"/>
                <a:cs typeface="Consolas" pitchFamily="34" charset="-120"/>
              </a:rPr>
              <a:t>1989 — 1990</a:t>
            </a:r>
            <a:endParaRPr lang="en-US" sz="1000" dirty="0"/>
          </a:p>
        </p:txBody>
      </p:sp>
      <p:sp>
        <p:nvSpPr>
          <p:cNvPr id="30" name="Shape 28"/>
          <p:cNvSpPr/>
          <p:nvPr/>
        </p:nvSpPr>
        <p:spPr>
          <a:xfrm>
            <a:off x="589788" y="3429000"/>
            <a:ext cx="3246120" cy="0"/>
          </a:xfrm>
          <a:prstGeom prst="line">
            <a:avLst/>
          </a:prstGeom>
          <a:noFill/>
          <a:ln w="9525">
            <a:solidFill>
              <a:srgbClr val="2B3A55"/>
            </a:solidFill>
            <a:prstDash val="solid"/>
          </a:ln>
        </p:spPr>
      </p:sp>
      <p:sp>
        <p:nvSpPr>
          <p:cNvPr id="31" name="Text 29"/>
          <p:cNvSpPr/>
          <p:nvPr/>
        </p:nvSpPr>
        <p:spPr>
          <a:xfrm>
            <a:off x="589788" y="3566160"/>
            <a:ext cx="3337560" cy="548640"/>
          </a:xfrm>
          <a:prstGeom prst="rect">
            <a:avLst/>
          </a:prstGeom>
          <a:noFill/>
          <a:ln/>
        </p:spPr>
        <p:txBody>
          <a:bodyPr wrap="square" lIns="0" tIns="0" rIns="0" bIns="0" rtlCol="0" anchor="ctr"/>
          <a:lstStyle/>
          <a:p>
            <a:pPr indent="0" marL="0">
              <a:buNone/>
            </a:pPr>
            <a:r>
              <a:rPr lang="en-US" sz="1800" dirty="0">
                <a:solidFill>
                  <a:srgbClr val="ECF1F8"/>
                </a:solidFill>
                <a:latin typeface="Arial Black" pitchFamily="34" charset="0"/>
                <a:ea typeface="Arial Black" pitchFamily="34" charset="-122"/>
                <a:cs typeface="Arial Black" pitchFamily="34" charset="-120"/>
              </a:rPr>
              <a:t>The Belgian Wave</a:t>
            </a:r>
            <a:endParaRPr lang="en-US" sz="1800" dirty="0"/>
          </a:p>
        </p:txBody>
      </p:sp>
      <p:sp>
        <p:nvSpPr>
          <p:cNvPr id="32" name="Text 30"/>
          <p:cNvSpPr/>
          <p:nvPr/>
        </p:nvSpPr>
        <p:spPr>
          <a:xfrm>
            <a:off x="589788" y="4160520"/>
            <a:ext cx="3337560" cy="178308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Thousands of citizens and police officers reported massive, silent black triangles drifting low over the countryside. The Belgian Air Force opened a formal investigation and scrambled F-16 interceptors, publishing photographs and radar returns.</a:t>
            </a:r>
            <a:endParaRPr lang="en-US" sz="1150" dirty="0"/>
          </a:p>
        </p:txBody>
      </p:sp>
      <p:sp>
        <p:nvSpPr>
          <p:cNvPr id="33" name="Shape 31"/>
          <p:cNvSpPr/>
          <p:nvPr/>
        </p:nvSpPr>
        <p:spPr>
          <a:xfrm>
            <a:off x="4229100" y="2240280"/>
            <a:ext cx="3703320" cy="3794760"/>
          </a:xfrm>
          <a:prstGeom prst="rect">
            <a:avLst/>
          </a:prstGeom>
          <a:solidFill>
            <a:srgbClr val="0F1624"/>
          </a:solidFill>
          <a:ln w="9525">
            <a:solidFill>
              <a:srgbClr val="2B3A55"/>
            </a:solidFill>
            <a:prstDash val="solid"/>
          </a:ln>
        </p:spPr>
      </p:sp>
      <p:sp>
        <p:nvSpPr>
          <p:cNvPr id="34" name="Shape 32"/>
          <p:cNvSpPr/>
          <p:nvPr/>
        </p:nvSpPr>
        <p:spPr>
          <a:xfrm>
            <a:off x="4229100" y="2240280"/>
            <a:ext cx="54864" cy="3794760"/>
          </a:xfrm>
          <a:prstGeom prst="rect">
            <a:avLst/>
          </a:prstGeom>
          <a:solidFill>
            <a:srgbClr val="5DD39E"/>
          </a:solidFill>
          <a:ln w="12700">
            <a:solidFill>
              <a:srgbClr val="5DD39E"/>
            </a:solidFill>
            <a:prstDash val="solid"/>
          </a:ln>
        </p:spPr>
      </p:sp>
      <p:sp>
        <p:nvSpPr>
          <p:cNvPr id="35" name="Shape 33"/>
          <p:cNvSpPr/>
          <p:nvPr/>
        </p:nvSpPr>
        <p:spPr>
          <a:xfrm>
            <a:off x="4283964" y="2240280"/>
            <a:ext cx="3648456" cy="365760"/>
          </a:xfrm>
          <a:prstGeom prst="rect">
            <a:avLst/>
          </a:prstGeom>
          <a:solidFill>
            <a:srgbClr val="121B2E"/>
          </a:solidFill>
          <a:ln w="12700">
            <a:solidFill>
              <a:srgbClr val="2B3A55"/>
            </a:solidFill>
            <a:prstDash val="solid"/>
          </a:ln>
        </p:spPr>
      </p:sp>
      <p:sp>
        <p:nvSpPr>
          <p:cNvPr id="36" name="Text 34"/>
          <p:cNvSpPr/>
          <p:nvPr/>
        </p:nvSpPr>
        <p:spPr>
          <a:xfrm>
            <a:off x="4457700" y="2304288"/>
            <a:ext cx="3246120" cy="274320"/>
          </a:xfrm>
          <a:prstGeom prst="rect">
            <a:avLst/>
          </a:prstGeom>
          <a:noFill/>
          <a:ln/>
        </p:spPr>
        <p:txBody>
          <a:bodyPr wrap="square" lIns="0" tIns="0" rIns="0" bIns="0" rtlCol="0" anchor="ctr"/>
          <a:lstStyle/>
          <a:p>
            <a:pPr indent="0" marL="0">
              <a:buNone/>
            </a:pPr>
            <a:r>
              <a:rPr lang="en-US" sz="1000" spc="300" kern="0" dirty="0">
                <a:solidFill>
                  <a:srgbClr val="5DD39E"/>
                </a:solidFill>
                <a:latin typeface="Consolas" pitchFamily="34" charset="0"/>
                <a:ea typeface="Consolas" pitchFamily="34" charset="-122"/>
                <a:cs typeface="Consolas" pitchFamily="34" charset="-120"/>
              </a:rPr>
              <a:t>21°34'S  ·  45°25'W</a:t>
            </a:r>
            <a:endParaRPr lang="en-US" sz="1000" dirty="0"/>
          </a:p>
        </p:txBody>
      </p:sp>
      <p:sp>
        <p:nvSpPr>
          <p:cNvPr id="37" name="Text 35"/>
          <p:cNvSpPr/>
          <p:nvPr/>
        </p:nvSpPr>
        <p:spPr>
          <a:xfrm>
            <a:off x="4457700" y="2743200"/>
            <a:ext cx="3337560" cy="320040"/>
          </a:xfrm>
          <a:prstGeom prst="rect">
            <a:avLst/>
          </a:prstGeom>
          <a:noFill/>
          <a:ln/>
        </p:spPr>
        <p:txBody>
          <a:bodyPr wrap="square" lIns="0" tIns="0" rIns="0" bIns="0" rtlCol="0" anchor="ctr"/>
          <a:lstStyle/>
          <a:p>
            <a:pPr indent="0" marL="0">
              <a:buNone/>
            </a:pPr>
            <a:r>
              <a:rPr lang="en-US" sz="1500" spc="400" kern="0" dirty="0">
                <a:solidFill>
                  <a:srgbClr val="F5B024"/>
                </a:solidFill>
                <a:latin typeface="Arial Black" pitchFamily="34" charset="0"/>
                <a:ea typeface="Arial Black" pitchFamily="34" charset="-122"/>
                <a:cs typeface="Arial Black" pitchFamily="34" charset="-120"/>
              </a:rPr>
              <a:t>VARGINHA, BRAZIL</a:t>
            </a:r>
            <a:endParaRPr lang="en-US" sz="1500" dirty="0"/>
          </a:p>
        </p:txBody>
      </p:sp>
      <p:sp>
        <p:nvSpPr>
          <p:cNvPr id="38" name="Text 36"/>
          <p:cNvSpPr/>
          <p:nvPr/>
        </p:nvSpPr>
        <p:spPr>
          <a:xfrm>
            <a:off x="4457700" y="3063240"/>
            <a:ext cx="3337560" cy="274320"/>
          </a:xfrm>
          <a:prstGeom prst="rect">
            <a:avLst/>
          </a:prstGeom>
          <a:noFill/>
          <a:ln/>
        </p:spPr>
        <p:txBody>
          <a:bodyPr wrap="square" lIns="0" tIns="0" rIns="0" bIns="0" rtlCol="0" anchor="ctr"/>
          <a:lstStyle/>
          <a:p>
            <a:pPr indent="0" marL="0">
              <a:buNone/>
            </a:pPr>
            <a:r>
              <a:rPr lang="en-US" sz="1000" i="1" spc="200" kern="0" dirty="0">
                <a:solidFill>
                  <a:srgbClr val="8A97AD"/>
                </a:solidFill>
                <a:latin typeface="Consolas" pitchFamily="34" charset="0"/>
                <a:ea typeface="Consolas" pitchFamily="34" charset="-122"/>
                <a:cs typeface="Consolas" pitchFamily="34" charset="-120"/>
              </a:rPr>
              <a:t>JANUARY 1996</a:t>
            </a:r>
            <a:endParaRPr lang="en-US" sz="1000" dirty="0"/>
          </a:p>
        </p:txBody>
      </p:sp>
      <p:sp>
        <p:nvSpPr>
          <p:cNvPr id="39" name="Shape 37"/>
          <p:cNvSpPr/>
          <p:nvPr/>
        </p:nvSpPr>
        <p:spPr>
          <a:xfrm>
            <a:off x="4457700" y="3429000"/>
            <a:ext cx="3246120" cy="0"/>
          </a:xfrm>
          <a:prstGeom prst="line">
            <a:avLst/>
          </a:prstGeom>
          <a:noFill/>
          <a:ln w="9525">
            <a:solidFill>
              <a:srgbClr val="2B3A55"/>
            </a:solidFill>
            <a:prstDash val="solid"/>
          </a:ln>
        </p:spPr>
      </p:sp>
      <p:sp>
        <p:nvSpPr>
          <p:cNvPr id="40" name="Text 38"/>
          <p:cNvSpPr/>
          <p:nvPr/>
        </p:nvSpPr>
        <p:spPr>
          <a:xfrm>
            <a:off x="4457700" y="3566160"/>
            <a:ext cx="3337560" cy="548640"/>
          </a:xfrm>
          <a:prstGeom prst="rect">
            <a:avLst/>
          </a:prstGeom>
          <a:noFill/>
          <a:ln/>
        </p:spPr>
        <p:txBody>
          <a:bodyPr wrap="square" lIns="0" tIns="0" rIns="0" bIns="0" rtlCol="0" anchor="ctr"/>
          <a:lstStyle/>
          <a:p>
            <a:pPr indent="0" marL="0">
              <a:buNone/>
            </a:pPr>
            <a:r>
              <a:rPr lang="en-US" sz="1800" dirty="0">
                <a:solidFill>
                  <a:srgbClr val="ECF1F8"/>
                </a:solidFill>
                <a:latin typeface="Arial Black" pitchFamily="34" charset="0"/>
                <a:ea typeface="Arial Black" pitchFamily="34" charset="-122"/>
                <a:cs typeface="Arial Black" pitchFamily="34" charset="-120"/>
              </a:rPr>
              <a:t>The Varginha Incident</a:t>
            </a:r>
            <a:endParaRPr lang="en-US" sz="1800" dirty="0"/>
          </a:p>
        </p:txBody>
      </p:sp>
      <p:sp>
        <p:nvSpPr>
          <p:cNvPr id="41" name="Text 39"/>
          <p:cNvSpPr/>
          <p:nvPr/>
        </p:nvSpPr>
        <p:spPr>
          <a:xfrm>
            <a:off x="4457700" y="4160520"/>
            <a:ext cx="3337560" cy="178308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Often called the 'Roswell of Brazil.' Mass-witness reports described an anomalous craft followed by the recovery of alleged non-human biological entities by military personnel — a landmark case in Latin American UAP discourse.</a:t>
            </a:r>
            <a:endParaRPr lang="en-US" sz="1150" dirty="0"/>
          </a:p>
        </p:txBody>
      </p:sp>
      <p:sp>
        <p:nvSpPr>
          <p:cNvPr id="42" name="Shape 40"/>
          <p:cNvSpPr/>
          <p:nvPr/>
        </p:nvSpPr>
        <p:spPr>
          <a:xfrm>
            <a:off x="8097012" y="2240280"/>
            <a:ext cx="3703320" cy="3794760"/>
          </a:xfrm>
          <a:prstGeom prst="rect">
            <a:avLst/>
          </a:prstGeom>
          <a:solidFill>
            <a:srgbClr val="0F1624"/>
          </a:solidFill>
          <a:ln w="9525">
            <a:solidFill>
              <a:srgbClr val="2B3A55"/>
            </a:solidFill>
            <a:prstDash val="solid"/>
          </a:ln>
        </p:spPr>
      </p:sp>
      <p:sp>
        <p:nvSpPr>
          <p:cNvPr id="43" name="Shape 41"/>
          <p:cNvSpPr/>
          <p:nvPr/>
        </p:nvSpPr>
        <p:spPr>
          <a:xfrm>
            <a:off x="8097012" y="2240280"/>
            <a:ext cx="54864" cy="3794760"/>
          </a:xfrm>
          <a:prstGeom prst="rect">
            <a:avLst/>
          </a:prstGeom>
          <a:solidFill>
            <a:srgbClr val="5DD39E"/>
          </a:solidFill>
          <a:ln w="12700">
            <a:solidFill>
              <a:srgbClr val="5DD39E"/>
            </a:solidFill>
            <a:prstDash val="solid"/>
          </a:ln>
        </p:spPr>
      </p:sp>
      <p:sp>
        <p:nvSpPr>
          <p:cNvPr id="44" name="Shape 42"/>
          <p:cNvSpPr/>
          <p:nvPr/>
        </p:nvSpPr>
        <p:spPr>
          <a:xfrm>
            <a:off x="8151876" y="2240280"/>
            <a:ext cx="3648456" cy="365760"/>
          </a:xfrm>
          <a:prstGeom prst="rect">
            <a:avLst/>
          </a:prstGeom>
          <a:solidFill>
            <a:srgbClr val="121B2E"/>
          </a:solidFill>
          <a:ln w="12700">
            <a:solidFill>
              <a:srgbClr val="2B3A55"/>
            </a:solidFill>
            <a:prstDash val="solid"/>
          </a:ln>
        </p:spPr>
      </p:sp>
      <p:sp>
        <p:nvSpPr>
          <p:cNvPr id="45" name="Text 43"/>
          <p:cNvSpPr/>
          <p:nvPr/>
        </p:nvSpPr>
        <p:spPr>
          <a:xfrm>
            <a:off x="8325612" y="2304288"/>
            <a:ext cx="3246120" cy="274320"/>
          </a:xfrm>
          <a:prstGeom prst="rect">
            <a:avLst/>
          </a:prstGeom>
          <a:noFill/>
          <a:ln/>
        </p:spPr>
        <p:txBody>
          <a:bodyPr wrap="square" lIns="0" tIns="0" rIns="0" bIns="0" rtlCol="0" anchor="ctr"/>
          <a:lstStyle/>
          <a:p>
            <a:pPr indent="0" marL="0">
              <a:buNone/>
            </a:pPr>
            <a:r>
              <a:rPr lang="en-US" sz="1000" spc="300" kern="0" dirty="0">
                <a:solidFill>
                  <a:srgbClr val="5DD39E"/>
                </a:solidFill>
                <a:latin typeface="Consolas" pitchFamily="34" charset="0"/>
                <a:ea typeface="Consolas" pitchFamily="34" charset="-122"/>
                <a:cs typeface="Consolas" pitchFamily="34" charset="-120"/>
              </a:rPr>
              <a:t>33°26'N  ·  112°04'W</a:t>
            </a:r>
            <a:endParaRPr lang="en-US" sz="1000" dirty="0"/>
          </a:p>
        </p:txBody>
      </p:sp>
      <p:sp>
        <p:nvSpPr>
          <p:cNvPr id="46" name="Text 44"/>
          <p:cNvSpPr/>
          <p:nvPr/>
        </p:nvSpPr>
        <p:spPr>
          <a:xfrm>
            <a:off x="8325612" y="2743200"/>
            <a:ext cx="3337560" cy="320040"/>
          </a:xfrm>
          <a:prstGeom prst="rect">
            <a:avLst/>
          </a:prstGeom>
          <a:noFill/>
          <a:ln/>
        </p:spPr>
        <p:txBody>
          <a:bodyPr wrap="square" lIns="0" tIns="0" rIns="0" bIns="0" rtlCol="0" anchor="ctr"/>
          <a:lstStyle/>
          <a:p>
            <a:pPr indent="0" marL="0">
              <a:buNone/>
            </a:pPr>
            <a:r>
              <a:rPr lang="en-US" sz="1500" spc="400" kern="0" dirty="0">
                <a:solidFill>
                  <a:srgbClr val="F5B024"/>
                </a:solidFill>
                <a:latin typeface="Arial Black" pitchFamily="34" charset="0"/>
                <a:ea typeface="Arial Black" pitchFamily="34" charset="-122"/>
                <a:cs typeface="Arial Black" pitchFamily="34" charset="-120"/>
              </a:rPr>
              <a:t>PHOENIX, ARIZONA</a:t>
            </a:r>
            <a:endParaRPr lang="en-US" sz="1500" dirty="0"/>
          </a:p>
        </p:txBody>
      </p:sp>
      <p:sp>
        <p:nvSpPr>
          <p:cNvPr id="47" name="Text 45"/>
          <p:cNvSpPr/>
          <p:nvPr/>
        </p:nvSpPr>
        <p:spPr>
          <a:xfrm>
            <a:off x="8325612" y="3063240"/>
            <a:ext cx="3337560" cy="274320"/>
          </a:xfrm>
          <a:prstGeom prst="rect">
            <a:avLst/>
          </a:prstGeom>
          <a:noFill/>
          <a:ln/>
        </p:spPr>
        <p:txBody>
          <a:bodyPr wrap="square" lIns="0" tIns="0" rIns="0" bIns="0" rtlCol="0" anchor="ctr"/>
          <a:lstStyle/>
          <a:p>
            <a:pPr indent="0" marL="0">
              <a:buNone/>
            </a:pPr>
            <a:r>
              <a:rPr lang="en-US" sz="1000" i="1" spc="200" kern="0" dirty="0">
                <a:solidFill>
                  <a:srgbClr val="8A97AD"/>
                </a:solidFill>
                <a:latin typeface="Consolas" pitchFamily="34" charset="0"/>
                <a:ea typeface="Consolas" pitchFamily="34" charset="-122"/>
                <a:cs typeface="Consolas" pitchFamily="34" charset="-120"/>
              </a:rPr>
              <a:t>13 MAR 1997</a:t>
            </a:r>
            <a:endParaRPr lang="en-US" sz="1000" dirty="0"/>
          </a:p>
        </p:txBody>
      </p:sp>
      <p:sp>
        <p:nvSpPr>
          <p:cNvPr id="48" name="Shape 46"/>
          <p:cNvSpPr/>
          <p:nvPr/>
        </p:nvSpPr>
        <p:spPr>
          <a:xfrm>
            <a:off x="8325612" y="3429000"/>
            <a:ext cx="3246120" cy="0"/>
          </a:xfrm>
          <a:prstGeom prst="line">
            <a:avLst/>
          </a:prstGeom>
          <a:noFill/>
          <a:ln w="9525">
            <a:solidFill>
              <a:srgbClr val="2B3A55"/>
            </a:solidFill>
            <a:prstDash val="solid"/>
          </a:ln>
        </p:spPr>
      </p:sp>
      <p:sp>
        <p:nvSpPr>
          <p:cNvPr id="49" name="Text 47"/>
          <p:cNvSpPr/>
          <p:nvPr/>
        </p:nvSpPr>
        <p:spPr>
          <a:xfrm>
            <a:off x="8325612" y="3566160"/>
            <a:ext cx="3337560" cy="548640"/>
          </a:xfrm>
          <a:prstGeom prst="rect">
            <a:avLst/>
          </a:prstGeom>
          <a:noFill/>
          <a:ln/>
        </p:spPr>
        <p:txBody>
          <a:bodyPr wrap="square" lIns="0" tIns="0" rIns="0" bIns="0" rtlCol="0" anchor="ctr"/>
          <a:lstStyle/>
          <a:p>
            <a:pPr indent="0" marL="0">
              <a:buNone/>
            </a:pPr>
            <a:r>
              <a:rPr lang="en-US" sz="1800" dirty="0">
                <a:solidFill>
                  <a:srgbClr val="ECF1F8"/>
                </a:solidFill>
                <a:latin typeface="Arial Black" pitchFamily="34" charset="0"/>
                <a:ea typeface="Arial Black" pitchFamily="34" charset="-122"/>
                <a:cs typeface="Arial Black" pitchFamily="34" charset="-120"/>
              </a:rPr>
              <a:t>The Phoenix Lights</a:t>
            </a:r>
            <a:endParaRPr lang="en-US" sz="1800" dirty="0"/>
          </a:p>
        </p:txBody>
      </p:sp>
      <p:sp>
        <p:nvSpPr>
          <p:cNvPr id="50" name="Text 48"/>
          <p:cNvSpPr/>
          <p:nvPr/>
        </p:nvSpPr>
        <p:spPr>
          <a:xfrm>
            <a:off x="8325612" y="4160520"/>
            <a:ext cx="3337560" cy="1783080"/>
          </a:xfrm>
          <a:prstGeom prst="rect">
            <a:avLst/>
          </a:prstGeom>
          <a:noFill/>
          <a:ln/>
        </p:spPr>
        <p:txBody>
          <a:bodyPr wrap="square" lIns="0" tIns="0" rIns="0" bIns="0" rtlCol="0" anchor="t"/>
          <a:lstStyle/>
          <a:p>
            <a:pPr indent="0" marL="0">
              <a:buNone/>
            </a:pPr>
            <a:r>
              <a:rPr lang="en-US" sz="1150" dirty="0">
                <a:solidFill>
                  <a:srgbClr val="ECF1F8"/>
                </a:solidFill>
                <a:latin typeface="Calibri" pitchFamily="34" charset="0"/>
                <a:ea typeface="Calibri" pitchFamily="34" charset="-122"/>
                <a:cs typeface="Calibri" pitchFamily="34" charset="-120"/>
              </a:rPr>
              <a:t>A massive V-shaped formation of lights passed silently over Phoenix, witnessed by thousands — including then-Governor Fife Symington, who later publicly confirmed he observed the object and found the official explanation unsatisfactory.</a:t>
            </a:r>
            <a:endParaRPr lang="en-US" sz="1150" dirty="0"/>
          </a:p>
        </p:txBody>
      </p:sp>
      <p:sp>
        <p:nvSpPr>
          <p:cNvPr id="51" name="Text 49"/>
          <p:cNvSpPr/>
          <p:nvPr/>
        </p:nvSpPr>
        <p:spPr>
          <a:xfrm>
            <a:off x="548640" y="6126480"/>
            <a:ext cx="11064240" cy="256032"/>
          </a:xfrm>
          <a:prstGeom prst="rect">
            <a:avLst/>
          </a:prstGeom>
          <a:noFill/>
          <a:ln/>
        </p:spPr>
        <p:txBody>
          <a:bodyPr wrap="square" lIns="0" tIns="0" rIns="0" bIns="0" rtlCol="0" anchor="ctr"/>
          <a:lstStyle/>
          <a:p>
            <a:pPr algn="ctr" indent="0" marL="0">
              <a:buNone/>
            </a:pPr>
            <a:r>
              <a:rPr lang="en-US" sz="900" i="1" spc="200" kern="0" dirty="0">
                <a:solidFill>
                  <a:srgbClr val="5C6A83"/>
                </a:solidFill>
                <a:latin typeface="Consolas" pitchFamily="34" charset="0"/>
                <a:ea typeface="Consolas" pitchFamily="34" charset="-122"/>
                <a:cs typeface="Consolas" pitchFamily="34" charset="-120"/>
              </a:rPr>
              <a:t>// Parallel inquiries — France (COMETA, 1999) and UK (Project Condign, 2000) — confirm UAP as a global concern.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DOC-020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U.S. GOVT</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III · U.S. GOVERNMENT STUDIES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20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III  ·  SECTION 03</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U.S. Government Studies  ·  A Timeline</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Text 22"/>
          <p:cNvSpPr/>
          <p:nvPr/>
        </p:nvSpPr>
        <p:spPr>
          <a:xfrm>
            <a:off x="548640" y="1965960"/>
            <a:ext cx="11064240" cy="274320"/>
          </a:xfrm>
          <a:prstGeom prst="rect">
            <a:avLst/>
          </a:prstGeom>
          <a:noFill/>
          <a:ln/>
        </p:spPr>
        <p:txBody>
          <a:bodyPr wrap="square" lIns="0" tIns="0" rIns="0" bIns="0" rtlCol="0" anchor="ctr"/>
          <a:lstStyle/>
          <a:p>
            <a:pPr indent="0" marL="0">
              <a:buNone/>
            </a:pPr>
            <a:r>
              <a:rPr lang="en-US" sz="1000" b="1" spc="400" kern="0" dirty="0">
                <a:solidFill>
                  <a:srgbClr val="38D9F0"/>
                </a:solidFill>
                <a:latin typeface="Consolas" pitchFamily="34" charset="0"/>
                <a:ea typeface="Consolas" pitchFamily="34" charset="-122"/>
                <a:cs typeface="Consolas" pitchFamily="34" charset="-120"/>
              </a:rPr>
              <a:t>//  SIX DECADES  ·  SIX PROGRAMS  ·  COLD WAR DEBUNKING → CONGRESSIONAL OVERSIGHT</a:t>
            </a:r>
            <a:endParaRPr lang="en-US" sz="1000" dirty="0"/>
          </a:p>
        </p:txBody>
      </p:sp>
      <p:sp>
        <p:nvSpPr>
          <p:cNvPr id="25" name="Shape 23"/>
          <p:cNvSpPr/>
          <p:nvPr/>
        </p:nvSpPr>
        <p:spPr>
          <a:xfrm>
            <a:off x="548640" y="4384548"/>
            <a:ext cx="11064240" cy="27432"/>
          </a:xfrm>
          <a:prstGeom prst="rect">
            <a:avLst/>
          </a:prstGeom>
          <a:solidFill>
            <a:srgbClr val="2B3A55"/>
          </a:solidFill>
          <a:ln w="12700">
            <a:solidFill>
              <a:srgbClr val="2B3A55"/>
            </a:solidFill>
            <a:prstDash val="solid"/>
          </a:ln>
        </p:spPr>
      </p:sp>
      <p:sp>
        <p:nvSpPr>
          <p:cNvPr id="26" name="Shape 24"/>
          <p:cNvSpPr/>
          <p:nvPr/>
        </p:nvSpPr>
        <p:spPr>
          <a:xfrm>
            <a:off x="548640" y="2468880"/>
            <a:ext cx="3553968" cy="1828800"/>
          </a:xfrm>
          <a:prstGeom prst="rect">
            <a:avLst/>
          </a:prstGeom>
          <a:solidFill>
            <a:srgbClr val="0F1624"/>
          </a:solidFill>
          <a:ln w="9525">
            <a:solidFill>
              <a:srgbClr val="2B3A55"/>
            </a:solidFill>
            <a:prstDash val="solid"/>
          </a:ln>
        </p:spPr>
      </p:sp>
      <p:sp>
        <p:nvSpPr>
          <p:cNvPr id="27" name="Shape 25"/>
          <p:cNvSpPr/>
          <p:nvPr/>
        </p:nvSpPr>
        <p:spPr>
          <a:xfrm>
            <a:off x="548640" y="2468880"/>
            <a:ext cx="54864" cy="1828800"/>
          </a:xfrm>
          <a:prstGeom prst="rect">
            <a:avLst/>
          </a:prstGeom>
          <a:solidFill>
            <a:srgbClr val="38D9F0"/>
          </a:solidFill>
          <a:ln w="12700">
            <a:solidFill>
              <a:srgbClr val="38D9F0"/>
            </a:solidFill>
            <a:prstDash val="solid"/>
          </a:ln>
        </p:spPr>
      </p:sp>
      <p:sp>
        <p:nvSpPr>
          <p:cNvPr id="28" name="Text 26"/>
          <p:cNvSpPr/>
          <p:nvPr/>
        </p:nvSpPr>
        <p:spPr>
          <a:xfrm>
            <a:off x="749808" y="2633472"/>
            <a:ext cx="3188208" cy="457200"/>
          </a:xfrm>
          <a:prstGeom prst="rect">
            <a:avLst/>
          </a:prstGeom>
          <a:noFill/>
          <a:ln/>
        </p:spPr>
        <p:txBody>
          <a:bodyPr wrap="square" lIns="0" tIns="0" rIns="0" bIns="0" rtlCol="0" anchor="ctr"/>
          <a:lstStyle/>
          <a:p>
            <a:pPr indent="0" marL="0">
              <a:buNone/>
            </a:pPr>
            <a:r>
              <a:rPr lang="en-US" sz="2400" dirty="0">
                <a:solidFill>
                  <a:srgbClr val="38D9F0"/>
                </a:solidFill>
                <a:latin typeface="Arial Black" pitchFamily="34" charset="0"/>
                <a:ea typeface="Arial Black" pitchFamily="34" charset="-122"/>
                <a:cs typeface="Arial Black" pitchFamily="34" charset="-120"/>
              </a:rPr>
              <a:t>1948</a:t>
            </a:r>
            <a:endParaRPr lang="en-US" sz="2400" dirty="0"/>
          </a:p>
        </p:txBody>
      </p:sp>
      <p:sp>
        <p:nvSpPr>
          <p:cNvPr id="29" name="Text 27"/>
          <p:cNvSpPr/>
          <p:nvPr/>
        </p:nvSpPr>
        <p:spPr>
          <a:xfrm>
            <a:off x="749808" y="3127248"/>
            <a:ext cx="3188208" cy="320040"/>
          </a:xfrm>
          <a:prstGeom prst="rect">
            <a:avLst/>
          </a:prstGeom>
          <a:noFill/>
          <a:ln/>
        </p:spPr>
        <p:txBody>
          <a:bodyPr wrap="square" lIns="0" tIns="0" rIns="0" bIns="0" rtlCol="0" anchor="ctr"/>
          <a:lstStyle/>
          <a:p>
            <a:pPr indent="0" marL="0">
              <a:buNone/>
            </a:pPr>
            <a:r>
              <a:rPr lang="en-US" sz="1300" spc="200" kern="0" dirty="0">
                <a:solidFill>
                  <a:srgbClr val="ECF1F8"/>
                </a:solidFill>
                <a:latin typeface="Arial Black" pitchFamily="34" charset="0"/>
                <a:ea typeface="Arial Black" pitchFamily="34" charset="-122"/>
                <a:cs typeface="Arial Black" pitchFamily="34" charset="-120"/>
              </a:rPr>
              <a:t>PROJECT SIGN</a:t>
            </a:r>
            <a:endParaRPr lang="en-US" sz="1300" dirty="0"/>
          </a:p>
        </p:txBody>
      </p:sp>
      <p:sp>
        <p:nvSpPr>
          <p:cNvPr id="30" name="Shape 28"/>
          <p:cNvSpPr/>
          <p:nvPr/>
        </p:nvSpPr>
        <p:spPr>
          <a:xfrm>
            <a:off x="749808" y="3456432"/>
            <a:ext cx="457200" cy="0"/>
          </a:xfrm>
          <a:prstGeom prst="line">
            <a:avLst/>
          </a:prstGeom>
          <a:noFill/>
          <a:ln w="15875">
            <a:solidFill>
              <a:srgbClr val="F5B024"/>
            </a:solidFill>
            <a:prstDash val="solid"/>
          </a:ln>
        </p:spPr>
      </p:sp>
      <p:sp>
        <p:nvSpPr>
          <p:cNvPr id="31" name="Text 29"/>
          <p:cNvSpPr/>
          <p:nvPr/>
        </p:nvSpPr>
        <p:spPr>
          <a:xfrm>
            <a:off x="749808" y="3547872"/>
            <a:ext cx="3188208" cy="640080"/>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First official U.S. Air Force investigation — collect, evaluate, and distribute UFO reports.</a:t>
            </a:r>
            <a:endParaRPr lang="en-US" sz="1050" dirty="0"/>
          </a:p>
        </p:txBody>
      </p:sp>
      <p:sp>
        <p:nvSpPr>
          <p:cNvPr id="32" name="Shape 30"/>
          <p:cNvSpPr/>
          <p:nvPr/>
        </p:nvSpPr>
        <p:spPr>
          <a:xfrm>
            <a:off x="4303776" y="2468880"/>
            <a:ext cx="3553968" cy="1828800"/>
          </a:xfrm>
          <a:prstGeom prst="rect">
            <a:avLst/>
          </a:prstGeom>
          <a:solidFill>
            <a:srgbClr val="0F1624"/>
          </a:solidFill>
          <a:ln w="9525">
            <a:solidFill>
              <a:srgbClr val="2B3A55"/>
            </a:solidFill>
            <a:prstDash val="solid"/>
          </a:ln>
        </p:spPr>
      </p:sp>
      <p:sp>
        <p:nvSpPr>
          <p:cNvPr id="33" name="Shape 31"/>
          <p:cNvSpPr/>
          <p:nvPr/>
        </p:nvSpPr>
        <p:spPr>
          <a:xfrm>
            <a:off x="4303776" y="2468880"/>
            <a:ext cx="54864" cy="1828800"/>
          </a:xfrm>
          <a:prstGeom prst="rect">
            <a:avLst/>
          </a:prstGeom>
          <a:solidFill>
            <a:srgbClr val="38D9F0"/>
          </a:solidFill>
          <a:ln w="12700">
            <a:solidFill>
              <a:srgbClr val="38D9F0"/>
            </a:solidFill>
            <a:prstDash val="solid"/>
          </a:ln>
        </p:spPr>
      </p:sp>
      <p:sp>
        <p:nvSpPr>
          <p:cNvPr id="34" name="Text 32"/>
          <p:cNvSpPr/>
          <p:nvPr/>
        </p:nvSpPr>
        <p:spPr>
          <a:xfrm>
            <a:off x="4504944" y="2633472"/>
            <a:ext cx="3188208" cy="457200"/>
          </a:xfrm>
          <a:prstGeom prst="rect">
            <a:avLst/>
          </a:prstGeom>
          <a:noFill/>
          <a:ln/>
        </p:spPr>
        <p:txBody>
          <a:bodyPr wrap="square" lIns="0" tIns="0" rIns="0" bIns="0" rtlCol="0" anchor="ctr"/>
          <a:lstStyle/>
          <a:p>
            <a:pPr indent="0" marL="0">
              <a:buNone/>
            </a:pPr>
            <a:r>
              <a:rPr lang="en-US" sz="2400" dirty="0">
                <a:solidFill>
                  <a:srgbClr val="38D9F0"/>
                </a:solidFill>
                <a:latin typeface="Arial Black" pitchFamily="34" charset="0"/>
                <a:ea typeface="Arial Black" pitchFamily="34" charset="-122"/>
                <a:cs typeface="Arial Black" pitchFamily="34" charset="-120"/>
              </a:rPr>
              <a:t>1949</a:t>
            </a:r>
            <a:endParaRPr lang="en-US" sz="2400" dirty="0"/>
          </a:p>
        </p:txBody>
      </p:sp>
      <p:sp>
        <p:nvSpPr>
          <p:cNvPr id="35" name="Text 33"/>
          <p:cNvSpPr/>
          <p:nvPr/>
        </p:nvSpPr>
        <p:spPr>
          <a:xfrm>
            <a:off x="4504944" y="3127248"/>
            <a:ext cx="3188208" cy="320040"/>
          </a:xfrm>
          <a:prstGeom prst="rect">
            <a:avLst/>
          </a:prstGeom>
          <a:noFill/>
          <a:ln/>
        </p:spPr>
        <p:txBody>
          <a:bodyPr wrap="square" lIns="0" tIns="0" rIns="0" bIns="0" rtlCol="0" anchor="ctr"/>
          <a:lstStyle/>
          <a:p>
            <a:pPr indent="0" marL="0">
              <a:buNone/>
            </a:pPr>
            <a:r>
              <a:rPr lang="en-US" sz="1300" spc="200" kern="0" dirty="0">
                <a:solidFill>
                  <a:srgbClr val="ECF1F8"/>
                </a:solidFill>
                <a:latin typeface="Arial Black" pitchFamily="34" charset="0"/>
                <a:ea typeface="Arial Black" pitchFamily="34" charset="-122"/>
                <a:cs typeface="Arial Black" pitchFamily="34" charset="-120"/>
              </a:rPr>
              <a:t>PROJECT GRUDGE</a:t>
            </a:r>
            <a:endParaRPr lang="en-US" sz="1300" dirty="0"/>
          </a:p>
        </p:txBody>
      </p:sp>
      <p:sp>
        <p:nvSpPr>
          <p:cNvPr id="36" name="Shape 34"/>
          <p:cNvSpPr/>
          <p:nvPr/>
        </p:nvSpPr>
        <p:spPr>
          <a:xfrm>
            <a:off x="4504944" y="3456432"/>
            <a:ext cx="457200" cy="0"/>
          </a:xfrm>
          <a:prstGeom prst="line">
            <a:avLst/>
          </a:prstGeom>
          <a:noFill/>
          <a:ln w="15875">
            <a:solidFill>
              <a:srgbClr val="F5B024"/>
            </a:solidFill>
            <a:prstDash val="solid"/>
          </a:ln>
        </p:spPr>
      </p:sp>
      <p:sp>
        <p:nvSpPr>
          <p:cNvPr id="37" name="Text 35"/>
          <p:cNvSpPr/>
          <p:nvPr/>
        </p:nvSpPr>
        <p:spPr>
          <a:xfrm>
            <a:off x="4504944" y="3547872"/>
            <a:ext cx="3188208" cy="640080"/>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Continued investigation with a skeptical posture — focused on debunking and conventional explanations.</a:t>
            </a:r>
            <a:endParaRPr lang="en-US" sz="1050" dirty="0"/>
          </a:p>
        </p:txBody>
      </p:sp>
      <p:sp>
        <p:nvSpPr>
          <p:cNvPr id="38" name="Shape 36"/>
          <p:cNvSpPr/>
          <p:nvPr/>
        </p:nvSpPr>
        <p:spPr>
          <a:xfrm>
            <a:off x="8058912" y="2468880"/>
            <a:ext cx="3553968" cy="1828800"/>
          </a:xfrm>
          <a:prstGeom prst="rect">
            <a:avLst/>
          </a:prstGeom>
          <a:solidFill>
            <a:srgbClr val="0F1624"/>
          </a:solidFill>
          <a:ln w="9525">
            <a:solidFill>
              <a:srgbClr val="2B3A55"/>
            </a:solidFill>
            <a:prstDash val="solid"/>
          </a:ln>
        </p:spPr>
      </p:sp>
      <p:sp>
        <p:nvSpPr>
          <p:cNvPr id="39" name="Shape 37"/>
          <p:cNvSpPr/>
          <p:nvPr/>
        </p:nvSpPr>
        <p:spPr>
          <a:xfrm>
            <a:off x="8058912" y="2468880"/>
            <a:ext cx="54864" cy="1828800"/>
          </a:xfrm>
          <a:prstGeom prst="rect">
            <a:avLst/>
          </a:prstGeom>
          <a:solidFill>
            <a:srgbClr val="38D9F0"/>
          </a:solidFill>
          <a:ln w="12700">
            <a:solidFill>
              <a:srgbClr val="38D9F0"/>
            </a:solidFill>
            <a:prstDash val="solid"/>
          </a:ln>
        </p:spPr>
      </p:sp>
      <p:sp>
        <p:nvSpPr>
          <p:cNvPr id="40" name="Text 38"/>
          <p:cNvSpPr/>
          <p:nvPr/>
        </p:nvSpPr>
        <p:spPr>
          <a:xfrm>
            <a:off x="8260080" y="2633472"/>
            <a:ext cx="3188208" cy="457200"/>
          </a:xfrm>
          <a:prstGeom prst="rect">
            <a:avLst/>
          </a:prstGeom>
          <a:noFill/>
          <a:ln/>
        </p:spPr>
        <p:txBody>
          <a:bodyPr wrap="square" lIns="0" tIns="0" rIns="0" bIns="0" rtlCol="0" anchor="ctr"/>
          <a:lstStyle/>
          <a:p>
            <a:pPr indent="0" marL="0">
              <a:buNone/>
            </a:pPr>
            <a:r>
              <a:rPr lang="en-US" sz="2400" dirty="0">
                <a:solidFill>
                  <a:srgbClr val="38D9F0"/>
                </a:solidFill>
                <a:latin typeface="Arial Black" pitchFamily="34" charset="0"/>
                <a:ea typeface="Arial Black" pitchFamily="34" charset="-122"/>
                <a:cs typeface="Arial Black" pitchFamily="34" charset="-120"/>
              </a:rPr>
              <a:t>1952</a:t>
            </a:r>
            <a:endParaRPr lang="en-US" sz="2400" dirty="0"/>
          </a:p>
        </p:txBody>
      </p:sp>
      <p:sp>
        <p:nvSpPr>
          <p:cNvPr id="41" name="Text 39"/>
          <p:cNvSpPr/>
          <p:nvPr/>
        </p:nvSpPr>
        <p:spPr>
          <a:xfrm>
            <a:off x="8260080" y="3127248"/>
            <a:ext cx="3188208" cy="320040"/>
          </a:xfrm>
          <a:prstGeom prst="rect">
            <a:avLst/>
          </a:prstGeom>
          <a:noFill/>
          <a:ln/>
        </p:spPr>
        <p:txBody>
          <a:bodyPr wrap="square" lIns="0" tIns="0" rIns="0" bIns="0" rtlCol="0" anchor="ctr"/>
          <a:lstStyle/>
          <a:p>
            <a:pPr indent="0" marL="0">
              <a:buNone/>
            </a:pPr>
            <a:r>
              <a:rPr lang="en-US" sz="1300" spc="200" kern="0" dirty="0">
                <a:solidFill>
                  <a:srgbClr val="ECF1F8"/>
                </a:solidFill>
                <a:latin typeface="Arial Black" pitchFamily="34" charset="0"/>
                <a:ea typeface="Arial Black" pitchFamily="34" charset="-122"/>
                <a:cs typeface="Arial Black" pitchFamily="34" charset="-120"/>
              </a:rPr>
              <a:t>PROJECT BLUE BOOK</a:t>
            </a:r>
            <a:endParaRPr lang="en-US" sz="1300" dirty="0"/>
          </a:p>
        </p:txBody>
      </p:sp>
      <p:sp>
        <p:nvSpPr>
          <p:cNvPr id="42" name="Shape 40"/>
          <p:cNvSpPr/>
          <p:nvPr/>
        </p:nvSpPr>
        <p:spPr>
          <a:xfrm>
            <a:off x="8260080" y="3456432"/>
            <a:ext cx="457200" cy="0"/>
          </a:xfrm>
          <a:prstGeom prst="line">
            <a:avLst/>
          </a:prstGeom>
          <a:noFill/>
          <a:ln w="15875">
            <a:solidFill>
              <a:srgbClr val="F5B024"/>
            </a:solidFill>
            <a:prstDash val="solid"/>
          </a:ln>
        </p:spPr>
      </p:sp>
      <p:sp>
        <p:nvSpPr>
          <p:cNvPr id="43" name="Text 41"/>
          <p:cNvSpPr/>
          <p:nvPr/>
        </p:nvSpPr>
        <p:spPr>
          <a:xfrm>
            <a:off x="8260080" y="3547872"/>
            <a:ext cx="3188208" cy="640080"/>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Most extensive Air Force UFO program, 1952–1969. Thousands of cases — a minority remained unexplained.</a:t>
            </a:r>
            <a:endParaRPr lang="en-US" sz="1050" dirty="0"/>
          </a:p>
        </p:txBody>
      </p:sp>
      <p:sp>
        <p:nvSpPr>
          <p:cNvPr id="44" name="Shape 42"/>
          <p:cNvSpPr/>
          <p:nvPr/>
        </p:nvSpPr>
        <p:spPr>
          <a:xfrm>
            <a:off x="548640" y="4498848"/>
            <a:ext cx="3553968" cy="1828800"/>
          </a:xfrm>
          <a:prstGeom prst="rect">
            <a:avLst/>
          </a:prstGeom>
          <a:solidFill>
            <a:srgbClr val="0F1624"/>
          </a:solidFill>
          <a:ln w="9525">
            <a:solidFill>
              <a:srgbClr val="2B3A55"/>
            </a:solidFill>
            <a:prstDash val="solid"/>
          </a:ln>
        </p:spPr>
      </p:sp>
      <p:sp>
        <p:nvSpPr>
          <p:cNvPr id="45" name="Shape 43"/>
          <p:cNvSpPr/>
          <p:nvPr/>
        </p:nvSpPr>
        <p:spPr>
          <a:xfrm>
            <a:off x="548640" y="4498848"/>
            <a:ext cx="54864" cy="1828800"/>
          </a:xfrm>
          <a:prstGeom prst="rect">
            <a:avLst/>
          </a:prstGeom>
          <a:solidFill>
            <a:srgbClr val="38D9F0"/>
          </a:solidFill>
          <a:ln w="12700">
            <a:solidFill>
              <a:srgbClr val="38D9F0"/>
            </a:solidFill>
            <a:prstDash val="solid"/>
          </a:ln>
        </p:spPr>
      </p:sp>
      <p:sp>
        <p:nvSpPr>
          <p:cNvPr id="46" name="Text 44"/>
          <p:cNvSpPr/>
          <p:nvPr/>
        </p:nvSpPr>
        <p:spPr>
          <a:xfrm>
            <a:off x="749808" y="4663440"/>
            <a:ext cx="3188208" cy="457200"/>
          </a:xfrm>
          <a:prstGeom prst="rect">
            <a:avLst/>
          </a:prstGeom>
          <a:noFill/>
          <a:ln/>
        </p:spPr>
        <p:txBody>
          <a:bodyPr wrap="square" lIns="0" tIns="0" rIns="0" bIns="0" rtlCol="0" anchor="ctr"/>
          <a:lstStyle/>
          <a:p>
            <a:pPr indent="0" marL="0">
              <a:buNone/>
            </a:pPr>
            <a:r>
              <a:rPr lang="en-US" sz="2400" dirty="0">
                <a:solidFill>
                  <a:srgbClr val="38D9F0"/>
                </a:solidFill>
                <a:latin typeface="Arial Black" pitchFamily="34" charset="0"/>
                <a:ea typeface="Arial Black" pitchFamily="34" charset="-122"/>
                <a:cs typeface="Arial Black" pitchFamily="34" charset="-120"/>
              </a:rPr>
              <a:t>2007</a:t>
            </a:r>
            <a:endParaRPr lang="en-US" sz="2400" dirty="0"/>
          </a:p>
        </p:txBody>
      </p:sp>
      <p:sp>
        <p:nvSpPr>
          <p:cNvPr id="47" name="Text 45"/>
          <p:cNvSpPr/>
          <p:nvPr/>
        </p:nvSpPr>
        <p:spPr>
          <a:xfrm>
            <a:off x="749808" y="5157216"/>
            <a:ext cx="3188208" cy="320040"/>
          </a:xfrm>
          <a:prstGeom prst="rect">
            <a:avLst/>
          </a:prstGeom>
          <a:noFill/>
          <a:ln/>
        </p:spPr>
        <p:txBody>
          <a:bodyPr wrap="square" lIns="0" tIns="0" rIns="0" bIns="0" rtlCol="0" anchor="ctr"/>
          <a:lstStyle/>
          <a:p>
            <a:pPr indent="0" marL="0">
              <a:buNone/>
            </a:pPr>
            <a:r>
              <a:rPr lang="en-US" sz="1300" spc="200" kern="0" dirty="0">
                <a:solidFill>
                  <a:srgbClr val="ECF1F8"/>
                </a:solidFill>
                <a:latin typeface="Arial Black" pitchFamily="34" charset="0"/>
                <a:ea typeface="Arial Black" pitchFamily="34" charset="-122"/>
                <a:cs typeface="Arial Black" pitchFamily="34" charset="-120"/>
              </a:rPr>
              <a:t>AATIP</a:t>
            </a:r>
            <a:endParaRPr lang="en-US" sz="1300" dirty="0"/>
          </a:p>
        </p:txBody>
      </p:sp>
      <p:sp>
        <p:nvSpPr>
          <p:cNvPr id="48" name="Shape 46"/>
          <p:cNvSpPr/>
          <p:nvPr/>
        </p:nvSpPr>
        <p:spPr>
          <a:xfrm>
            <a:off x="749808" y="5486400"/>
            <a:ext cx="457200" cy="0"/>
          </a:xfrm>
          <a:prstGeom prst="line">
            <a:avLst/>
          </a:prstGeom>
          <a:noFill/>
          <a:ln w="15875">
            <a:solidFill>
              <a:srgbClr val="F5B024"/>
            </a:solidFill>
            <a:prstDash val="solid"/>
          </a:ln>
        </p:spPr>
      </p:sp>
      <p:sp>
        <p:nvSpPr>
          <p:cNvPr id="49" name="Text 47"/>
          <p:cNvSpPr/>
          <p:nvPr/>
        </p:nvSpPr>
        <p:spPr>
          <a:xfrm>
            <a:off x="749808" y="5577840"/>
            <a:ext cx="3188208" cy="640080"/>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Advanced Aerospace Threat Identification Program — DoD-funded, publicly revealed in 2017.</a:t>
            </a:r>
            <a:endParaRPr lang="en-US" sz="1050" dirty="0"/>
          </a:p>
        </p:txBody>
      </p:sp>
      <p:sp>
        <p:nvSpPr>
          <p:cNvPr id="50" name="Shape 48"/>
          <p:cNvSpPr/>
          <p:nvPr/>
        </p:nvSpPr>
        <p:spPr>
          <a:xfrm>
            <a:off x="4303776" y="4498848"/>
            <a:ext cx="3553968" cy="1828800"/>
          </a:xfrm>
          <a:prstGeom prst="rect">
            <a:avLst/>
          </a:prstGeom>
          <a:solidFill>
            <a:srgbClr val="0F1624"/>
          </a:solidFill>
          <a:ln w="9525">
            <a:solidFill>
              <a:srgbClr val="2B3A55"/>
            </a:solidFill>
            <a:prstDash val="solid"/>
          </a:ln>
        </p:spPr>
      </p:sp>
      <p:sp>
        <p:nvSpPr>
          <p:cNvPr id="51" name="Shape 49"/>
          <p:cNvSpPr/>
          <p:nvPr/>
        </p:nvSpPr>
        <p:spPr>
          <a:xfrm>
            <a:off x="4303776" y="4498848"/>
            <a:ext cx="54864" cy="1828800"/>
          </a:xfrm>
          <a:prstGeom prst="rect">
            <a:avLst/>
          </a:prstGeom>
          <a:solidFill>
            <a:srgbClr val="38D9F0"/>
          </a:solidFill>
          <a:ln w="12700">
            <a:solidFill>
              <a:srgbClr val="38D9F0"/>
            </a:solidFill>
            <a:prstDash val="solid"/>
          </a:ln>
        </p:spPr>
      </p:sp>
      <p:sp>
        <p:nvSpPr>
          <p:cNvPr id="52" name="Text 50"/>
          <p:cNvSpPr/>
          <p:nvPr/>
        </p:nvSpPr>
        <p:spPr>
          <a:xfrm>
            <a:off x="4504944" y="4663440"/>
            <a:ext cx="3188208" cy="457200"/>
          </a:xfrm>
          <a:prstGeom prst="rect">
            <a:avLst/>
          </a:prstGeom>
          <a:noFill/>
          <a:ln/>
        </p:spPr>
        <p:txBody>
          <a:bodyPr wrap="square" lIns="0" tIns="0" rIns="0" bIns="0" rtlCol="0" anchor="ctr"/>
          <a:lstStyle/>
          <a:p>
            <a:pPr indent="0" marL="0">
              <a:buNone/>
            </a:pPr>
            <a:r>
              <a:rPr lang="en-US" sz="2400" dirty="0">
                <a:solidFill>
                  <a:srgbClr val="38D9F0"/>
                </a:solidFill>
                <a:latin typeface="Arial Black" pitchFamily="34" charset="0"/>
                <a:ea typeface="Arial Black" pitchFamily="34" charset="-122"/>
                <a:cs typeface="Arial Black" pitchFamily="34" charset="-120"/>
              </a:rPr>
              <a:t>2020</a:t>
            </a:r>
            <a:endParaRPr lang="en-US" sz="2400" dirty="0"/>
          </a:p>
        </p:txBody>
      </p:sp>
      <p:sp>
        <p:nvSpPr>
          <p:cNvPr id="53" name="Text 51"/>
          <p:cNvSpPr/>
          <p:nvPr/>
        </p:nvSpPr>
        <p:spPr>
          <a:xfrm>
            <a:off x="4504944" y="5157216"/>
            <a:ext cx="3188208" cy="320040"/>
          </a:xfrm>
          <a:prstGeom prst="rect">
            <a:avLst/>
          </a:prstGeom>
          <a:noFill/>
          <a:ln/>
        </p:spPr>
        <p:txBody>
          <a:bodyPr wrap="square" lIns="0" tIns="0" rIns="0" bIns="0" rtlCol="0" anchor="ctr"/>
          <a:lstStyle/>
          <a:p>
            <a:pPr indent="0" marL="0">
              <a:buNone/>
            </a:pPr>
            <a:r>
              <a:rPr lang="en-US" sz="1300" spc="200" kern="0" dirty="0">
                <a:solidFill>
                  <a:srgbClr val="ECF1F8"/>
                </a:solidFill>
                <a:latin typeface="Arial Black" pitchFamily="34" charset="0"/>
                <a:ea typeface="Arial Black" pitchFamily="34" charset="-122"/>
                <a:cs typeface="Arial Black" pitchFamily="34" charset="-120"/>
              </a:rPr>
              <a:t>UAP TASK FORCE</a:t>
            </a:r>
            <a:endParaRPr lang="en-US" sz="1300" dirty="0"/>
          </a:p>
        </p:txBody>
      </p:sp>
      <p:sp>
        <p:nvSpPr>
          <p:cNvPr id="54" name="Shape 52"/>
          <p:cNvSpPr/>
          <p:nvPr/>
        </p:nvSpPr>
        <p:spPr>
          <a:xfrm>
            <a:off x="4504944" y="5486400"/>
            <a:ext cx="457200" cy="0"/>
          </a:xfrm>
          <a:prstGeom prst="line">
            <a:avLst/>
          </a:prstGeom>
          <a:noFill/>
          <a:ln w="15875">
            <a:solidFill>
              <a:srgbClr val="F5B024"/>
            </a:solidFill>
            <a:prstDash val="solid"/>
          </a:ln>
        </p:spPr>
      </p:sp>
      <p:sp>
        <p:nvSpPr>
          <p:cNvPr id="55" name="Text 53"/>
          <p:cNvSpPr/>
          <p:nvPr/>
        </p:nvSpPr>
        <p:spPr>
          <a:xfrm>
            <a:off x="4504944" y="5577840"/>
            <a:ext cx="3188208" cy="640080"/>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DoD body formed to improve UAP understanding and assess potential threats to national security.</a:t>
            </a:r>
            <a:endParaRPr lang="en-US" sz="1050" dirty="0"/>
          </a:p>
        </p:txBody>
      </p:sp>
      <p:sp>
        <p:nvSpPr>
          <p:cNvPr id="56" name="Shape 54"/>
          <p:cNvSpPr/>
          <p:nvPr/>
        </p:nvSpPr>
        <p:spPr>
          <a:xfrm>
            <a:off x="8058912" y="4498848"/>
            <a:ext cx="3553968" cy="1828800"/>
          </a:xfrm>
          <a:prstGeom prst="rect">
            <a:avLst/>
          </a:prstGeom>
          <a:solidFill>
            <a:srgbClr val="0F1624"/>
          </a:solidFill>
          <a:ln w="9525">
            <a:solidFill>
              <a:srgbClr val="2B3A55"/>
            </a:solidFill>
            <a:prstDash val="solid"/>
          </a:ln>
        </p:spPr>
      </p:sp>
      <p:sp>
        <p:nvSpPr>
          <p:cNvPr id="57" name="Shape 55"/>
          <p:cNvSpPr/>
          <p:nvPr/>
        </p:nvSpPr>
        <p:spPr>
          <a:xfrm>
            <a:off x="8058912" y="4498848"/>
            <a:ext cx="54864" cy="1828800"/>
          </a:xfrm>
          <a:prstGeom prst="rect">
            <a:avLst/>
          </a:prstGeom>
          <a:solidFill>
            <a:srgbClr val="38D9F0"/>
          </a:solidFill>
          <a:ln w="12700">
            <a:solidFill>
              <a:srgbClr val="38D9F0"/>
            </a:solidFill>
            <a:prstDash val="solid"/>
          </a:ln>
        </p:spPr>
      </p:sp>
      <p:sp>
        <p:nvSpPr>
          <p:cNvPr id="58" name="Text 56"/>
          <p:cNvSpPr/>
          <p:nvPr/>
        </p:nvSpPr>
        <p:spPr>
          <a:xfrm>
            <a:off x="8260080" y="4663440"/>
            <a:ext cx="3188208" cy="457200"/>
          </a:xfrm>
          <a:prstGeom prst="rect">
            <a:avLst/>
          </a:prstGeom>
          <a:noFill/>
          <a:ln/>
        </p:spPr>
        <p:txBody>
          <a:bodyPr wrap="square" lIns="0" tIns="0" rIns="0" bIns="0" rtlCol="0" anchor="ctr"/>
          <a:lstStyle/>
          <a:p>
            <a:pPr indent="0" marL="0">
              <a:buNone/>
            </a:pPr>
            <a:r>
              <a:rPr lang="en-US" sz="2400" dirty="0">
                <a:solidFill>
                  <a:srgbClr val="38D9F0"/>
                </a:solidFill>
                <a:latin typeface="Arial Black" pitchFamily="34" charset="0"/>
                <a:ea typeface="Arial Black" pitchFamily="34" charset="-122"/>
                <a:cs typeface="Arial Black" pitchFamily="34" charset="-120"/>
              </a:rPr>
              <a:t>2022</a:t>
            </a:r>
            <a:endParaRPr lang="en-US" sz="2400" dirty="0"/>
          </a:p>
        </p:txBody>
      </p:sp>
      <p:sp>
        <p:nvSpPr>
          <p:cNvPr id="59" name="Text 57"/>
          <p:cNvSpPr/>
          <p:nvPr/>
        </p:nvSpPr>
        <p:spPr>
          <a:xfrm>
            <a:off x="8260080" y="5157216"/>
            <a:ext cx="3188208" cy="320040"/>
          </a:xfrm>
          <a:prstGeom prst="rect">
            <a:avLst/>
          </a:prstGeom>
          <a:noFill/>
          <a:ln/>
        </p:spPr>
        <p:txBody>
          <a:bodyPr wrap="square" lIns="0" tIns="0" rIns="0" bIns="0" rtlCol="0" anchor="ctr"/>
          <a:lstStyle/>
          <a:p>
            <a:pPr indent="0" marL="0">
              <a:buNone/>
            </a:pPr>
            <a:r>
              <a:rPr lang="en-US" sz="1300" spc="200" kern="0" dirty="0">
                <a:solidFill>
                  <a:srgbClr val="ECF1F8"/>
                </a:solidFill>
                <a:latin typeface="Arial Black" pitchFamily="34" charset="0"/>
                <a:ea typeface="Arial Black" pitchFamily="34" charset="-122"/>
                <a:cs typeface="Arial Black" pitchFamily="34" charset="-120"/>
              </a:rPr>
              <a:t>AARO</a:t>
            </a:r>
            <a:endParaRPr lang="en-US" sz="1300" dirty="0"/>
          </a:p>
        </p:txBody>
      </p:sp>
      <p:sp>
        <p:nvSpPr>
          <p:cNvPr id="60" name="Shape 58"/>
          <p:cNvSpPr/>
          <p:nvPr/>
        </p:nvSpPr>
        <p:spPr>
          <a:xfrm>
            <a:off x="8260080" y="5486400"/>
            <a:ext cx="457200" cy="0"/>
          </a:xfrm>
          <a:prstGeom prst="line">
            <a:avLst/>
          </a:prstGeom>
          <a:noFill/>
          <a:ln w="15875">
            <a:solidFill>
              <a:srgbClr val="F5B024"/>
            </a:solidFill>
            <a:prstDash val="solid"/>
          </a:ln>
        </p:spPr>
      </p:sp>
      <p:sp>
        <p:nvSpPr>
          <p:cNvPr id="61" name="Text 59"/>
          <p:cNvSpPr/>
          <p:nvPr/>
        </p:nvSpPr>
        <p:spPr>
          <a:xfrm>
            <a:off x="8260080" y="5577840"/>
            <a:ext cx="3188208" cy="640080"/>
          </a:xfrm>
          <a:prstGeom prst="rect">
            <a:avLst/>
          </a:prstGeom>
          <a:noFill/>
          <a:ln/>
        </p:spPr>
        <p:txBody>
          <a:bodyPr wrap="square" lIns="0" tIns="0" rIns="0" bIns="0" rtlCol="0" anchor="t"/>
          <a:lstStyle/>
          <a:p>
            <a:pPr indent="0" marL="0">
              <a:buNone/>
            </a:pPr>
            <a:r>
              <a:rPr lang="en-US" sz="1050" dirty="0">
                <a:solidFill>
                  <a:srgbClr val="ECF1F8"/>
                </a:solidFill>
                <a:latin typeface="Calibri" pitchFamily="34" charset="0"/>
                <a:ea typeface="Calibri" pitchFamily="34" charset="-122"/>
                <a:cs typeface="Calibri" pitchFamily="34" charset="-120"/>
              </a:rPr>
              <a:t>All-domain Anomaly Resolution Office — detect, analyze, and catalog UAPs across air, sea, and space.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DOC-021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PRESENT DAY</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III · INVESTIGATION MATRIX</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21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III  ·  SECTION 04</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Modern Investigation Matrix</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Text 22"/>
          <p:cNvSpPr/>
          <p:nvPr/>
        </p:nvSpPr>
        <p:spPr>
          <a:xfrm>
            <a:off x="548640" y="2194560"/>
            <a:ext cx="11064240" cy="365760"/>
          </a:xfrm>
          <a:prstGeom prst="rect">
            <a:avLst/>
          </a:prstGeom>
          <a:noFill/>
          <a:ln/>
        </p:spPr>
        <p:txBody>
          <a:bodyPr wrap="square" lIns="0" tIns="0" rIns="0" bIns="0" rtlCol="0" anchor="ctr"/>
          <a:lstStyle/>
          <a:p>
            <a:pPr indent="0" marL="0">
              <a:buNone/>
            </a:pPr>
            <a:r>
              <a:rPr lang="en-US" sz="1100" b="1" spc="500" kern="0" dirty="0">
                <a:solidFill>
                  <a:srgbClr val="38D9F0"/>
                </a:solidFill>
                <a:latin typeface="Consolas" pitchFamily="34" charset="0"/>
                <a:ea typeface="Consolas" pitchFamily="34" charset="-122"/>
                <a:cs typeface="Consolas" pitchFamily="34" charset="-120"/>
              </a:rPr>
              <a:t>INSTITUTIONALIZING THE UNKNOWN</a:t>
            </a:r>
            <a:endParaRPr lang="en-US" sz="1100" dirty="0"/>
          </a:p>
        </p:txBody>
      </p:sp>
      <p:sp>
        <p:nvSpPr>
          <p:cNvPr id="25" name="Text 23"/>
          <p:cNvSpPr/>
          <p:nvPr/>
        </p:nvSpPr>
        <p:spPr>
          <a:xfrm>
            <a:off x="548640" y="2514600"/>
            <a:ext cx="11064240" cy="411480"/>
          </a:xfrm>
          <a:prstGeom prst="rect">
            <a:avLst/>
          </a:prstGeom>
          <a:noFill/>
          <a:ln/>
        </p:spPr>
        <p:txBody>
          <a:bodyPr wrap="square" lIns="0" tIns="0" rIns="0" bIns="0" rtlCol="0" anchor="ctr"/>
          <a:lstStyle/>
          <a:p>
            <a:pPr indent="0" marL="0">
              <a:buNone/>
            </a:pPr>
            <a:r>
              <a:rPr lang="en-US" sz="1400" i="1" dirty="0">
                <a:solidFill>
                  <a:srgbClr val="8A97AD"/>
                </a:solidFill>
                <a:latin typeface="Calibri" pitchFamily="34" charset="0"/>
                <a:ea typeface="Calibri" pitchFamily="34" charset="-122"/>
                <a:cs typeface="Calibri" pitchFamily="34" charset="-120"/>
              </a:rPr>
              <a:t>A generational shift: from collecting civilian reports to active, congressionally-mandated aerospace-safety research.</a:t>
            </a:r>
            <a:endParaRPr lang="en-US" sz="1400" dirty="0"/>
          </a:p>
        </p:txBody>
      </p:sp>
      <p:sp>
        <p:nvSpPr>
          <p:cNvPr id="26" name="Shape 24"/>
          <p:cNvSpPr/>
          <p:nvPr/>
        </p:nvSpPr>
        <p:spPr>
          <a:xfrm>
            <a:off x="548640" y="3063240"/>
            <a:ext cx="11064240" cy="914400"/>
          </a:xfrm>
          <a:prstGeom prst="rect">
            <a:avLst/>
          </a:prstGeom>
          <a:solidFill>
            <a:srgbClr val="0F1624"/>
          </a:solidFill>
          <a:ln w="9525">
            <a:solidFill>
              <a:srgbClr val="2B3A55"/>
            </a:solidFill>
            <a:prstDash val="solid"/>
          </a:ln>
        </p:spPr>
      </p:sp>
      <p:sp>
        <p:nvSpPr>
          <p:cNvPr id="27" name="Shape 25"/>
          <p:cNvSpPr/>
          <p:nvPr/>
        </p:nvSpPr>
        <p:spPr>
          <a:xfrm>
            <a:off x="548640" y="3063240"/>
            <a:ext cx="54864" cy="914400"/>
          </a:xfrm>
          <a:prstGeom prst="rect">
            <a:avLst/>
          </a:prstGeom>
          <a:solidFill>
            <a:srgbClr val="F5B024"/>
          </a:solidFill>
          <a:ln w="12700">
            <a:solidFill>
              <a:srgbClr val="F5B024"/>
            </a:solidFill>
            <a:prstDash val="solid"/>
          </a:ln>
        </p:spPr>
      </p:sp>
      <p:sp>
        <p:nvSpPr>
          <p:cNvPr id="28" name="Shape 26"/>
          <p:cNvSpPr/>
          <p:nvPr/>
        </p:nvSpPr>
        <p:spPr>
          <a:xfrm>
            <a:off x="603504" y="3108960"/>
            <a:ext cx="2468880" cy="822960"/>
          </a:xfrm>
          <a:prstGeom prst="rect">
            <a:avLst/>
          </a:prstGeom>
          <a:solidFill>
            <a:srgbClr val="121B2E"/>
          </a:solidFill>
          <a:ln w="12700">
            <a:solidFill>
              <a:srgbClr val="2B3A55"/>
            </a:solidFill>
            <a:prstDash val="solid"/>
          </a:ln>
        </p:spPr>
      </p:sp>
      <p:sp>
        <p:nvSpPr>
          <p:cNvPr id="29" name="Text 27"/>
          <p:cNvSpPr/>
          <p:nvPr/>
        </p:nvSpPr>
        <p:spPr>
          <a:xfrm>
            <a:off x="777240" y="3200400"/>
            <a:ext cx="2286000" cy="365760"/>
          </a:xfrm>
          <a:prstGeom prst="rect">
            <a:avLst/>
          </a:prstGeom>
          <a:noFill/>
          <a:ln/>
        </p:spPr>
        <p:txBody>
          <a:bodyPr wrap="square" lIns="0" tIns="0" rIns="0" bIns="0" rtlCol="0" anchor="ctr"/>
          <a:lstStyle/>
          <a:p>
            <a:pPr indent="0" marL="0">
              <a:buNone/>
            </a:pPr>
            <a:r>
              <a:rPr lang="en-US" sz="1700" spc="200" kern="0" dirty="0">
                <a:solidFill>
                  <a:srgbClr val="F5B024"/>
                </a:solidFill>
                <a:latin typeface="Arial Black" pitchFamily="34" charset="0"/>
                <a:ea typeface="Arial Black" pitchFamily="34" charset="-122"/>
                <a:cs typeface="Arial Black" pitchFamily="34" charset="-120"/>
              </a:rPr>
              <a:t>AAWSAP &amp; AATIP</a:t>
            </a:r>
            <a:endParaRPr lang="en-US" sz="1700" dirty="0"/>
          </a:p>
        </p:txBody>
      </p:sp>
      <p:sp>
        <p:nvSpPr>
          <p:cNvPr id="30" name="Text 28"/>
          <p:cNvSpPr/>
          <p:nvPr/>
        </p:nvSpPr>
        <p:spPr>
          <a:xfrm>
            <a:off x="777240" y="3611880"/>
            <a:ext cx="2286000" cy="274320"/>
          </a:xfrm>
          <a:prstGeom prst="rect">
            <a:avLst/>
          </a:prstGeom>
          <a:noFill/>
          <a:ln/>
        </p:spPr>
        <p:txBody>
          <a:bodyPr wrap="square" lIns="0" tIns="0" rIns="0" bIns="0" rtlCol="0" anchor="ctr"/>
          <a:lstStyle/>
          <a:p>
            <a:pPr indent="0" marL="0">
              <a:buNone/>
            </a:pPr>
            <a:r>
              <a:rPr lang="en-US" sz="950" spc="400" kern="0" dirty="0">
                <a:solidFill>
                  <a:srgbClr val="8A97AD"/>
                </a:solidFill>
                <a:latin typeface="Consolas" pitchFamily="34" charset="0"/>
                <a:ea typeface="Consolas" pitchFamily="34" charset="-122"/>
                <a:cs typeface="Consolas" pitchFamily="34" charset="-120"/>
              </a:rPr>
              <a:t>THEORETICAL PHYSICS</a:t>
            </a:r>
            <a:endParaRPr lang="en-US" sz="950" dirty="0"/>
          </a:p>
        </p:txBody>
      </p:sp>
      <p:sp>
        <p:nvSpPr>
          <p:cNvPr id="31" name="Text 29"/>
          <p:cNvSpPr/>
          <p:nvPr/>
        </p:nvSpPr>
        <p:spPr>
          <a:xfrm>
            <a:off x="3246120" y="3200400"/>
            <a:ext cx="8321040" cy="640080"/>
          </a:xfrm>
          <a:prstGeom prst="rect">
            <a:avLst/>
          </a:prstGeom>
          <a:noFill/>
          <a:ln/>
        </p:spPr>
        <p:txBody>
          <a:bodyPr wrap="square" lIns="0" tIns="0" rIns="0" bIns="0" rtlCol="0" anchor="ctr"/>
          <a:lstStyle/>
          <a:p>
            <a:pPr indent="0" marL="0">
              <a:buNone/>
            </a:pPr>
            <a:r>
              <a:rPr lang="en-US" sz="1200" dirty="0">
                <a:solidFill>
                  <a:srgbClr val="ECF1F8"/>
                </a:solidFill>
                <a:latin typeface="Calibri" pitchFamily="34" charset="0"/>
                <a:ea typeface="Calibri" pitchFamily="34" charset="-122"/>
                <a:cs typeface="Calibri" pitchFamily="34" charset="-120"/>
              </a:rPr>
              <a:t>Advanced Aerospace Weapon System Applications Program and its successor AATIP moved beyond Blue Book-era cataloging. Commissioned contractor studies of advanced propulsion, exotic metamaterials, and crash-retrieval theories, with input from physicists such as Dr. Eric Davis.</a:t>
            </a:r>
            <a:endParaRPr lang="en-US" sz="1200" dirty="0"/>
          </a:p>
        </p:txBody>
      </p:sp>
      <p:sp>
        <p:nvSpPr>
          <p:cNvPr id="32" name="Shape 30"/>
          <p:cNvSpPr/>
          <p:nvPr/>
        </p:nvSpPr>
        <p:spPr>
          <a:xfrm>
            <a:off x="548640" y="4114800"/>
            <a:ext cx="11064240" cy="914400"/>
          </a:xfrm>
          <a:prstGeom prst="rect">
            <a:avLst/>
          </a:prstGeom>
          <a:solidFill>
            <a:srgbClr val="0F1624"/>
          </a:solidFill>
          <a:ln w="9525">
            <a:solidFill>
              <a:srgbClr val="2B3A55"/>
            </a:solidFill>
            <a:prstDash val="solid"/>
          </a:ln>
        </p:spPr>
      </p:sp>
      <p:sp>
        <p:nvSpPr>
          <p:cNvPr id="33" name="Shape 31"/>
          <p:cNvSpPr/>
          <p:nvPr/>
        </p:nvSpPr>
        <p:spPr>
          <a:xfrm>
            <a:off x="548640" y="4114800"/>
            <a:ext cx="54864" cy="914400"/>
          </a:xfrm>
          <a:prstGeom prst="rect">
            <a:avLst/>
          </a:prstGeom>
          <a:solidFill>
            <a:srgbClr val="38D9F0"/>
          </a:solidFill>
          <a:ln w="12700">
            <a:solidFill>
              <a:srgbClr val="38D9F0"/>
            </a:solidFill>
            <a:prstDash val="solid"/>
          </a:ln>
        </p:spPr>
      </p:sp>
      <p:sp>
        <p:nvSpPr>
          <p:cNvPr id="34" name="Shape 32"/>
          <p:cNvSpPr/>
          <p:nvPr/>
        </p:nvSpPr>
        <p:spPr>
          <a:xfrm>
            <a:off x="603504" y="4160520"/>
            <a:ext cx="2468880" cy="822960"/>
          </a:xfrm>
          <a:prstGeom prst="rect">
            <a:avLst/>
          </a:prstGeom>
          <a:solidFill>
            <a:srgbClr val="121B2E"/>
          </a:solidFill>
          <a:ln w="12700">
            <a:solidFill>
              <a:srgbClr val="2B3A55"/>
            </a:solidFill>
            <a:prstDash val="solid"/>
          </a:ln>
        </p:spPr>
      </p:sp>
      <p:sp>
        <p:nvSpPr>
          <p:cNvPr id="35" name="Text 33"/>
          <p:cNvSpPr/>
          <p:nvPr/>
        </p:nvSpPr>
        <p:spPr>
          <a:xfrm>
            <a:off x="777240" y="4251960"/>
            <a:ext cx="2286000" cy="365760"/>
          </a:xfrm>
          <a:prstGeom prst="rect">
            <a:avLst/>
          </a:prstGeom>
          <a:noFill/>
          <a:ln/>
        </p:spPr>
        <p:txBody>
          <a:bodyPr wrap="square" lIns="0" tIns="0" rIns="0" bIns="0" rtlCol="0" anchor="ctr"/>
          <a:lstStyle/>
          <a:p>
            <a:pPr indent="0" marL="0">
              <a:buNone/>
            </a:pPr>
            <a:r>
              <a:rPr lang="en-US" sz="1700" spc="200" kern="0" dirty="0">
                <a:solidFill>
                  <a:srgbClr val="38D9F0"/>
                </a:solidFill>
                <a:latin typeface="Arial Black" pitchFamily="34" charset="0"/>
                <a:ea typeface="Arial Black" pitchFamily="34" charset="-122"/>
                <a:cs typeface="Arial Black" pitchFamily="34" charset="-120"/>
              </a:rPr>
              <a:t>UAP TASK FORCE</a:t>
            </a:r>
            <a:endParaRPr lang="en-US" sz="1700" dirty="0"/>
          </a:p>
        </p:txBody>
      </p:sp>
      <p:sp>
        <p:nvSpPr>
          <p:cNvPr id="36" name="Text 34"/>
          <p:cNvSpPr/>
          <p:nvPr/>
        </p:nvSpPr>
        <p:spPr>
          <a:xfrm>
            <a:off x="777240" y="4663440"/>
            <a:ext cx="2286000" cy="274320"/>
          </a:xfrm>
          <a:prstGeom prst="rect">
            <a:avLst/>
          </a:prstGeom>
          <a:noFill/>
          <a:ln/>
        </p:spPr>
        <p:txBody>
          <a:bodyPr wrap="square" lIns="0" tIns="0" rIns="0" bIns="0" rtlCol="0" anchor="ctr"/>
          <a:lstStyle/>
          <a:p>
            <a:pPr indent="0" marL="0">
              <a:buNone/>
            </a:pPr>
            <a:r>
              <a:rPr lang="en-US" sz="950" spc="400" kern="0" dirty="0">
                <a:solidFill>
                  <a:srgbClr val="8A97AD"/>
                </a:solidFill>
                <a:latin typeface="Consolas" pitchFamily="34" charset="0"/>
                <a:ea typeface="Consolas" pitchFamily="34" charset="-122"/>
                <a:cs typeface="Consolas" pitchFamily="34" charset="-120"/>
              </a:rPr>
              <a:t>REPORTING INFRASTRUCTURE</a:t>
            </a:r>
            <a:endParaRPr lang="en-US" sz="950" dirty="0"/>
          </a:p>
        </p:txBody>
      </p:sp>
      <p:sp>
        <p:nvSpPr>
          <p:cNvPr id="37" name="Text 35"/>
          <p:cNvSpPr/>
          <p:nvPr/>
        </p:nvSpPr>
        <p:spPr>
          <a:xfrm>
            <a:off x="3246120" y="4251960"/>
            <a:ext cx="8321040" cy="640080"/>
          </a:xfrm>
          <a:prstGeom prst="rect">
            <a:avLst/>
          </a:prstGeom>
          <a:noFill/>
          <a:ln/>
        </p:spPr>
        <p:txBody>
          <a:bodyPr wrap="square" lIns="0" tIns="0" rIns="0" bIns="0" rtlCol="0" anchor="ctr"/>
          <a:lstStyle/>
          <a:p>
            <a:pPr indent="0" marL="0">
              <a:buNone/>
            </a:pPr>
            <a:r>
              <a:rPr lang="en-US" sz="1200" dirty="0">
                <a:solidFill>
                  <a:srgbClr val="ECF1F8"/>
                </a:solidFill>
                <a:latin typeface="Calibri" pitchFamily="34" charset="0"/>
                <a:ea typeface="Calibri" pitchFamily="34" charset="-122"/>
                <a:cs typeface="Calibri" pitchFamily="34" charset="-120"/>
              </a:rPr>
              <a:t>The transitional body that began formalizing the reporting process for military personnel — producing the 2021 Preliminary Assessment of 144 cases, of which only one was positively identified.</a:t>
            </a:r>
            <a:endParaRPr lang="en-US" sz="1200" dirty="0"/>
          </a:p>
        </p:txBody>
      </p:sp>
      <p:sp>
        <p:nvSpPr>
          <p:cNvPr id="38" name="Shape 36"/>
          <p:cNvSpPr/>
          <p:nvPr/>
        </p:nvSpPr>
        <p:spPr>
          <a:xfrm>
            <a:off x="548640" y="5166360"/>
            <a:ext cx="11064240" cy="914400"/>
          </a:xfrm>
          <a:prstGeom prst="rect">
            <a:avLst/>
          </a:prstGeom>
          <a:solidFill>
            <a:srgbClr val="0F1624"/>
          </a:solidFill>
          <a:ln w="9525">
            <a:solidFill>
              <a:srgbClr val="2B3A55"/>
            </a:solidFill>
            <a:prstDash val="solid"/>
          </a:ln>
        </p:spPr>
      </p:sp>
      <p:sp>
        <p:nvSpPr>
          <p:cNvPr id="39" name="Shape 37"/>
          <p:cNvSpPr/>
          <p:nvPr/>
        </p:nvSpPr>
        <p:spPr>
          <a:xfrm>
            <a:off x="548640" y="5166360"/>
            <a:ext cx="54864" cy="914400"/>
          </a:xfrm>
          <a:prstGeom prst="rect">
            <a:avLst/>
          </a:prstGeom>
          <a:solidFill>
            <a:srgbClr val="5DD39E"/>
          </a:solidFill>
          <a:ln w="12700">
            <a:solidFill>
              <a:srgbClr val="5DD39E"/>
            </a:solidFill>
            <a:prstDash val="solid"/>
          </a:ln>
        </p:spPr>
      </p:sp>
      <p:sp>
        <p:nvSpPr>
          <p:cNvPr id="40" name="Shape 38"/>
          <p:cNvSpPr/>
          <p:nvPr/>
        </p:nvSpPr>
        <p:spPr>
          <a:xfrm>
            <a:off x="603504" y="5212080"/>
            <a:ext cx="2468880" cy="822960"/>
          </a:xfrm>
          <a:prstGeom prst="rect">
            <a:avLst/>
          </a:prstGeom>
          <a:solidFill>
            <a:srgbClr val="121B2E"/>
          </a:solidFill>
          <a:ln w="12700">
            <a:solidFill>
              <a:srgbClr val="2B3A55"/>
            </a:solidFill>
            <a:prstDash val="solid"/>
          </a:ln>
        </p:spPr>
      </p:sp>
      <p:sp>
        <p:nvSpPr>
          <p:cNvPr id="41" name="Text 39"/>
          <p:cNvSpPr/>
          <p:nvPr/>
        </p:nvSpPr>
        <p:spPr>
          <a:xfrm>
            <a:off x="777240" y="5303520"/>
            <a:ext cx="2286000" cy="365760"/>
          </a:xfrm>
          <a:prstGeom prst="rect">
            <a:avLst/>
          </a:prstGeom>
          <a:noFill/>
          <a:ln/>
        </p:spPr>
        <p:txBody>
          <a:bodyPr wrap="square" lIns="0" tIns="0" rIns="0" bIns="0" rtlCol="0" anchor="ctr"/>
          <a:lstStyle/>
          <a:p>
            <a:pPr indent="0" marL="0">
              <a:buNone/>
            </a:pPr>
            <a:r>
              <a:rPr lang="en-US" sz="1700" spc="200" kern="0" dirty="0">
                <a:solidFill>
                  <a:srgbClr val="5DD39E"/>
                </a:solidFill>
                <a:latin typeface="Arial Black" pitchFamily="34" charset="0"/>
                <a:ea typeface="Arial Black" pitchFamily="34" charset="-122"/>
                <a:cs typeface="Arial Black" pitchFamily="34" charset="-120"/>
              </a:rPr>
              <a:t>AARO</a:t>
            </a:r>
            <a:endParaRPr lang="en-US" sz="1700" dirty="0"/>
          </a:p>
        </p:txBody>
      </p:sp>
      <p:sp>
        <p:nvSpPr>
          <p:cNvPr id="42" name="Text 40"/>
          <p:cNvSpPr/>
          <p:nvPr/>
        </p:nvSpPr>
        <p:spPr>
          <a:xfrm>
            <a:off x="777240" y="5715000"/>
            <a:ext cx="2286000" cy="274320"/>
          </a:xfrm>
          <a:prstGeom prst="rect">
            <a:avLst/>
          </a:prstGeom>
          <a:noFill/>
          <a:ln/>
        </p:spPr>
        <p:txBody>
          <a:bodyPr wrap="square" lIns="0" tIns="0" rIns="0" bIns="0" rtlCol="0" anchor="ctr"/>
          <a:lstStyle/>
          <a:p>
            <a:pPr indent="0" marL="0">
              <a:buNone/>
            </a:pPr>
            <a:r>
              <a:rPr lang="en-US" sz="950" spc="400" kern="0" dirty="0">
                <a:solidFill>
                  <a:srgbClr val="8A97AD"/>
                </a:solidFill>
                <a:latin typeface="Consolas" pitchFamily="34" charset="0"/>
                <a:ea typeface="Consolas" pitchFamily="34" charset="-122"/>
                <a:cs typeface="Consolas" pitchFamily="34" charset="-120"/>
              </a:rPr>
              <a:t>CONGRESSIONAL MANDATE</a:t>
            </a:r>
            <a:endParaRPr lang="en-US" sz="950" dirty="0"/>
          </a:p>
        </p:txBody>
      </p:sp>
      <p:sp>
        <p:nvSpPr>
          <p:cNvPr id="43" name="Text 41"/>
          <p:cNvSpPr/>
          <p:nvPr/>
        </p:nvSpPr>
        <p:spPr>
          <a:xfrm>
            <a:off x="3246120" y="5303520"/>
            <a:ext cx="8321040" cy="640080"/>
          </a:xfrm>
          <a:prstGeom prst="rect">
            <a:avLst/>
          </a:prstGeom>
          <a:noFill/>
          <a:ln/>
        </p:spPr>
        <p:txBody>
          <a:bodyPr wrap="square" lIns="0" tIns="0" rIns="0" bIns="0" rtlCol="0" anchor="ctr"/>
          <a:lstStyle/>
          <a:p>
            <a:pPr indent="0" marL="0">
              <a:buNone/>
            </a:pPr>
            <a:r>
              <a:rPr lang="en-US" sz="1200" dirty="0">
                <a:solidFill>
                  <a:srgbClr val="ECF1F8"/>
                </a:solidFill>
                <a:latin typeface="Calibri" pitchFamily="34" charset="0"/>
                <a:ea typeface="Calibri" pitchFamily="34" charset="-122"/>
                <a:cs typeface="Calibri" pitchFamily="34" charset="-120"/>
              </a:rPr>
              <a:t>All-domain Anomaly Resolution Office: treats UAPs not as a fringe topic, but as an urgent aerospace-safety and national-security domain. Reports directly to the Office of the Secretary of Defense and Congress.</a:t>
            </a:r>
            <a:endParaRPr lang="en-US" sz="1200" dirty="0"/>
          </a:p>
        </p:txBody>
      </p:sp>
      <p:sp>
        <p:nvSpPr>
          <p:cNvPr id="44" name="Text 42"/>
          <p:cNvSpPr/>
          <p:nvPr/>
        </p:nvSpPr>
        <p:spPr>
          <a:xfrm>
            <a:off x="548640" y="6126480"/>
            <a:ext cx="11064240" cy="256032"/>
          </a:xfrm>
          <a:prstGeom prst="rect">
            <a:avLst/>
          </a:prstGeom>
          <a:noFill/>
          <a:ln/>
        </p:spPr>
        <p:txBody>
          <a:bodyPr wrap="square" lIns="0" tIns="0" rIns="0" bIns="0" rtlCol="0" anchor="ctr"/>
          <a:lstStyle/>
          <a:p>
            <a:pPr algn="ctr" indent="0" marL="0">
              <a:buNone/>
            </a:pPr>
            <a:r>
              <a:rPr lang="en-US" sz="1000" i="1" spc="200" kern="0" dirty="0">
                <a:solidFill>
                  <a:srgbClr val="F5B024"/>
                </a:solidFill>
                <a:latin typeface="Consolas" pitchFamily="34" charset="0"/>
                <a:ea typeface="Consolas" pitchFamily="34" charset="-122"/>
                <a:cs typeface="Consolas" pitchFamily="34" charset="-120"/>
              </a:rPr>
              <a:t>// The question has moved from 'are they real?' to 'what do we do with them?'</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201168" y="201168"/>
            <a:ext cx="201168" cy="25603"/>
          </a:xfrm>
          <a:prstGeom prst="rect">
            <a:avLst/>
          </a:prstGeom>
          <a:solidFill>
            <a:srgbClr val="38D9F0"/>
          </a:solidFill>
          <a:ln w="12700">
            <a:solidFill>
              <a:srgbClr val="38D9F0"/>
            </a:solidFill>
            <a:prstDash val="solid"/>
          </a:ln>
        </p:spPr>
      </p:sp>
      <p:sp>
        <p:nvSpPr>
          <p:cNvPr id="3" name="Shape 1"/>
          <p:cNvSpPr/>
          <p:nvPr/>
        </p:nvSpPr>
        <p:spPr>
          <a:xfrm>
            <a:off x="201168" y="201168"/>
            <a:ext cx="25603" cy="201168"/>
          </a:xfrm>
          <a:prstGeom prst="rect">
            <a:avLst/>
          </a:prstGeom>
          <a:solidFill>
            <a:srgbClr val="38D9F0"/>
          </a:solidFill>
          <a:ln w="12700">
            <a:solidFill>
              <a:srgbClr val="38D9F0"/>
            </a:solidFill>
            <a:prstDash val="solid"/>
          </a:ln>
        </p:spPr>
      </p:sp>
      <p:sp>
        <p:nvSpPr>
          <p:cNvPr id="4" name="Shape 2"/>
          <p:cNvSpPr/>
          <p:nvPr/>
        </p:nvSpPr>
        <p:spPr>
          <a:xfrm>
            <a:off x="11759184" y="201168"/>
            <a:ext cx="201168" cy="25603"/>
          </a:xfrm>
          <a:prstGeom prst="rect">
            <a:avLst/>
          </a:prstGeom>
          <a:solidFill>
            <a:srgbClr val="38D9F0"/>
          </a:solidFill>
          <a:ln w="12700">
            <a:solidFill>
              <a:srgbClr val="38D9F0"/>
            </a:solidFill>
            <a:prstDash val="solid"/>
          </a:ln>
        </p:spPr>
      </p:sp>
      <p:sp>
        <p:nvSpPr>
          <p:cNvPr id="5" name="Shape 3"/>
          <p:cNvSpPr/>
          <p:nvPr/>
        </p:nvSpPr>
        <p:spPr>
          <a:xfrm>
            <a:off x="11934749" y="201168"/>
            <a:ext cx="25603" cy="201168"/>
          </a:xfrm>
          <a:prstGeom prst="rect">
            <a:avLst/>
          </a:prstGeom>
          <a:solidFill>
            <a:srgbClr val="38D9F0"/>
          </a:solidFill>
          <a:ln w="12700">
            <a:solidFill>
              <a:srgbClr val="38D9F0"/>
            </a:solidFill>
            <a:prstDash val="solid"/>
          </a:ln>
        </p:spPr>
      </p:sp>
      <p:sp>
        <p:nvSpPr>
          <p:cNvPr id="6" name="Shape 4"/>
          <p:cNvSpPr/>
          <p:nvPr/>
        </p:nvSpPr>
        <p:spPr>
          <a:xfrm>
            <a:off x="201168" y="6631229"/>
            <a:ext cx="201168" cy="25603"/>
          </a:xfrm>
          <a:prstGeom prst="rect">
            <a:avLst/>
          </a:prstGeom>
          <a:solidFill>
            <a:srgbClr val="38D9F0"/>
          </a:solidFill>
          <a:ln w="12700">
            <a:solidFill>
              <a:srgbClr val="38D9F0"/>
            </a:solidFill>
            <a:prstDash val="solid"/>
          </a:ln>
        </p:spPr>
      </p:sp>
      <p:sp>
        <p:nvSpPr>
          <p:cNvPr id="7" name="Shape 5"/>
          <p:cNvSpPr/>
          <p:nvPr/>
        </p:nvSpPr>
        <p:spPr>
          <a:xfrm>
            <a:off x="201168" y="6455664"/>
            <a:ext cx="25603" cy="201168"/>
          </a:xfrm>
          <a:prstGeom prst="rect">
            <a:avLst/>
          </a:prstGeom>
          <a:solidFill>
            <a:srgbClr val="38D9F0"/>
          </a:solidFill>
          <a:ln w="12700">
            <a:solidFill>
              <a:srgbClr val="38D9F0"/>
            </a:solidFill>
            <a:prstDash val="solid"/>
          </a:ln>
        </p:spPr>
      </p:sp>
      <p:sp>
        <p:nvSpPr>
          <p:cNvPr id="8" name="Shape 6"/>
          <p:cNvSpPr/>
          <p:nvPr/>
        </p:nvSpPr>
        <p:spPr>
          <a:xfrm>
            <a:off x="11759184" y="6631229"/>
            <a:ext cx="201168" cy="25603"/>
          </a:xfrm>
          <a:prstGeom prst="rect">
            <a:avLst/>
          </a:prstGeom>
          <a:solidFill>
            <a:srgbClr val="38D9F0"/>
          </a:solidFill>
          <a:ln w="12700">
            <a:solidFill>
              <a:srgbClr val="38D9F0"/>
            </a:solidFill>
            <a:prstDash val="solid"/>
          </a:ln>
        </p:spPr>
      </p:sp>
      <p:sp>
        <p:nvSpPr>
          <p:cNvPr id="9" name="Shape 7"/>
          <p:cNvSpPr/>
          <p:nvPr/>
        </p:nvSpPr>
        <p:spPr>
          <a:xfrm>
            <a:off x="11934749" y="6455664"/>
            <a:ext cx="25603" cy="201168"/>
          </a:xfrm>
          <a:prstGeom prst="rect">
            <a:avLst/>
          </a:prstGeom>
          <a:solidFill>
            <a:srgbClr val="38D9F0"/>
          </a:solidFill>
          <a:ln w="12700">
            <a:solidFill>
              <a:srgbClr val="38D9F0"/>
            </a:solidFill>
            <a:prstDash val="solid"/>
          </a:ln>
        </p:spPr>
      </p:sp>
      <p:sp>
        <p:nvSpPr>
          <p:cNvPr id="10" name="Text 8"/>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DOC-022  //  UAP ARCHIVE  //  VOL. I</a:t>
            </a:r>
            <a:endParaRPr lang="en-US" sz="900" dirty="0"/>
          </a:p>
        </p:txBody>
      </p:sp>
      <p:sp>
        <p:nvSpPr>
          <p:cNvPr id="11" name="Text 9"/>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SECTION MARKER</a:t>
            </a:r>
            <a:endParaRPr lang="en-US" sz="900" dirty="0"/>
          </a:p>
        </p:txBody>
      </p:sp>
      <p:sp>
        <p:nvSpPr>
          <p:cNvPr id="12" name="Text 10"/>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THE DISCLOSURE ERA</a:t>
            </a:r>
            <a:endParaRPr lang="en-US" sz="850" dirty="0"/>
          </a:p>
        </p:txBody>
      </p:sp>
      <p:sp>
        <p:nvSpPr>
          <p:cNvPr id="13" name="Text 11"/>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22 / 40</a:t>
            </a:r>
            <a:endParaRPr lang="en-US" sz="850" dirty="0"/>
          </a:p>
        </p:txBody>
      </p:sp>
      <p:sp>
        <p:nvSpPr>
          <p:cNvPr id="14" name="Text 12"/>
          <p:cNvSpPr/>
          <p:nvPr/>
        </p:nvSpPr>
        <p:spPr>
          <a:xfrm>
            <a:off x="7589520" y="1920240"/>
            <a:ext cx="4206240" cy="3291840"/>
          </a:xfrm>
          <a:prstGeom prst="rect">
            <a:avLst/>
          </a:prstGeom>
          <a:noFill/>
          <a:ln/>
        </p:spPr>
        <p:txBody>
          <a:bodyPr wrap="square" lIns="0" tIns="0" rIns="0" bIns="0" rtlCol="0" anchor="ctr"/>
          <a:lstStyle/>
          <a:p>
            <a:pPr algn="r" indent="0" marL="0">
              <a:buNone/>
            </a:pPr>
            <a:r>
              <a:rPr lang="en-US" sz="22000" dirty="0">
                <a:solidFill>
                  <a:srgbClr val="0F1624"/>
                </a:solidFill>
                <a:latin typeface="Arial Black" pitchFamily="34" charset="0"/>
                <a:ea typeface="Arial Black" pitchFamily="34" charset="-122"/>
                <a:cs typeface="Arial Black" pitchFamily="34" charset="-120"/>
              </a:rPr>
              <a:t>04</a:t>
            </a:r>
            <a:endParaRPr lang="en-US" sz="22000" dirty="0"/>
          </a:p>
        </p:txBody>
      </p:sp>
      <p:sp>
        <p:nvSpPr>
          <p:cNvPr id="15" name="Shape 13"/>
          <p:cNvSpPr/>
          <p:nvPr/>
        </p:nvSpPr>
        <p:spPr>
          <a:xfrm>
            <a:off x="7589520" y="2103120"/>
            <a:ext cx="4069080" cy="2971800"/>
          </a:xfrm>
          <a:prstGeom prst="rect">
            <a:avLst/>
          </a:prstGeom>
          <a:solidFill>
            <a:srgbClr val="070B14">
              <a:alpha val="0"/>
            </a:srgbClr>
          </a:solidFill>
          <a:ln w="6350">
            <a:solidFill>
              <a:srgbClr val="1C2840"/>
            </a:solidFill>
            <a:prstDash val="solid"/>
          </a:ln>
        </p:spPr>
      </p:sp>
      <p:sp>
        <p:nvSpPr>
          <p:cNvPr id="16" name="Text 14"/>
          <p:cNvSpPr/>
          <p:nvPr/>
        </p:nvSpPr>
        <p:spPr>
          <a:xfrm>
            <a:off x="7589520" y="5166360"/>
            <a:ext cx="4069080" cy="274320"/>
          </a:xfrm>
          <a:prstGeom prst="rect">
            <a:avLst/>
          </a:prstGeom>
          <a:noFill/>
          <a:ln/>
        </p:spPr>
        <p:txBody>
          <a:bodyPr wrap="square" lIns="0" tIns="0" rIns="0" bIns="0" rtlCol="0" anchor="ctr"/>
          <a:lstStyle/>
          <a:p>
            <a:pPr algn="r" indent="0" marL="0">
              <a:buNone/>
            </a:pPr>
            <a:r>
              <a:rPr lang="en-US" sz="1000" b="1" spc="400" kern="0" dirty="0">
                <a:solidFill>
                  <a:srgbClr val="E8434C"/>
                </a:solidFill>
                <a:latin typeface="Consolas" pitchFamily="34" charset="0"/>
                <a:ea typeface="Consolas" pitchFamily="34" charset="-122"/>
                <a:cs typeface="Consolas" pitchFamily="34" charset="-120"/>
              </a:rPr>
              <a:t>SECTION 04  //  ACT IV</a:t>
            </a:r>
            <a:endParaRPr lang="en-US" sz="1000" dirty="0"/>
          </a:p>
        </p:txBody>
      </p:sp>
      <p:sp>
        <p:nvSpPr>
          <p:cNvPr id="17" name="Shape 15"/>
          <p:cNvSpPr/>
          <p:nvPr/>
        </p:nvSpPr>
        <p:spPr>
          <a:xfrm>
            <a:off x="777240" y="2560320"/>
            <a:ext cx="73152" cy="2103120"/>
          </a:xfrm>
          <a:prstGeom prst="rect">
            <a:avLst/>
          </a:prstGeom>
          <a:solidFill>
            <a:srgbClr val="E8434C"/>
          </a:solidFill>
          <a:ln w="12700">
            <a:solidFill>
              <a:srgbClr val="E8434C"/>
            </a:solidFill>
            <a:prstDash val="solid"/>
          </a:ln>
        </p:spPr>
      </p:sp>
      <p:sp>
        <p:nvSpPr>
          <p:cNvPr id="18" name="Text 16"/>
          <p:cNvSpPr/>
          <p:nvPr/>
        </p:nvSpPr>
        <p:spPr>
          <a:xfrm>
            <a:off x="1051560" y="2514600"/>
            <a:ext cx="6217920" cy="365760"/>
          </a:xfrm>
          <a:prstGeom prst="rect">
            <a:avLst/>
          </a:prstGeom>
          <a:noFill/>
          <a:ln/>
        </p:spPr>
        <p:txBody>
          <a:bodyPr wrap="square" lIns="0" tIns="0" rIns="0" bIns="0" rtlCol="0" anchor="ctr"/>
          <a:lstStyle/>
          <a:p>
            <a:pPr indent="0" marL="0">
              <a:buNone/>
            </a:pPr>
            <a:r>
              <a:rPr lang="en-US" sz="1300" b="1" spc="700" kern="0" dirty="0">
                <a:solidFill>
                  <a:srgbClr val="E8434C"/>
                </a:solidFill>
                <a:latin typeface="Consolas" pitchFamily="34" charset="0"/>
                <a:ea typeface="Consolas" pitchFamily="34" charset="-122"/>
                <a:cs typeface="Consolas" pitchFamily="34" charset="-120"/>
              </a:rPr>
              <a:t>ACT IV</a:t>
            </a:r>
            <a:endParaRPr lang="en-US" sz="1300" dirty="0"/>
          </a:p>
        </p:txBody>
      </p:sp>
      <p:sp>
        <p:nvSpPr>
          <p:cNvPr id="19" name="Text 17"/>
          <p:cNvSpPr/>
          <p:nvPr/>
        </p:nvSpPr>
        <p:spPr>
          <a:xfrm>
            <a:off x="1051560" y="2880360"/>
            <a:ext cx="6492240" cy="1097280"/>
          </a:xfrm>
          <a:prstGeom prst="rect">
            <a:avLst/>
          </a:prstGeom>
          <a:noFill/>
          <a:ln/>
        </p:spPr>
        <p:txBody>
          <a:bodyPr wrap="square" lIns="0" tIns="0" rIns="0" bIns="0" rtlCol="0" anchor="ctr"/>
          <a:lstStyle/>
          <a:p>
            <a:pPr indent="0" marL="0">
              <a:buNone/>
            </a:pPr>
            <a:r>
              <a:rPr lang="en-US" sz="4200" dirty="0">
                <a:solidFill>
                  <a:srgbClr val="ECF1F8"/>
                </a:solidFill>
                <a:latin typeface="Arial Black" pitchFamily="34" charset="0"/>
                <a:ea typeface="Arial Black" pitchFamily="34" charset="-122"/>
                <a:cs typeface="Arial Black" pitchFamily="34" charset="-120"/>
              </a:rPr>
              <a:t>The Disclosure Era</a:t>
            </a:r>
            <a:endParaRPr lang="en-US" sz="4200" dirty="0"/>
          </a:p>
        </p:txBody>
      </p:sp>
      <p:sp>
        <p:nvSpPr>
          <p:cNvPr id="20" name="Text 18"/>
          <p:cNvSpPr/>
          <p:nvPr/>
        </p:nvSpPr>
        <p:spPr>
          <a:xfrm>
            <a:off x="1051560" y="4114800"/>
            <a:ext cx="6400800" cy="1188720"/>
          </a:xfrm>
          <a:prstGeom prst="rect">
            <a:avLst/>
          </a:prstGeom>
          <a:noFill/>
          <a:ln/>
        </p:spPr>
        <p:txBody>
          <a:bodyPr wrap="square" lIns="0" tIns="0" rIns="0" bIns="0" rtlCol="0" anchor="ctr"/>
          <a:lstStyle/>
          <a:p>
            <a:pPr indent="0" marL="0">
              <a:buNone/>
            </a:pPr>
            <a:r>
              <a:rPr lang="en-US" sz="1600" i="1" dirty="0">
                <a:solidFill>
                  <a:srgbClr val="8A97AD"/>
                </a:solidFill>
                <a:latin typeface="Calibri" pitchFamily="34" charset="0"/>
                <a:ea typeface="Calibri" pitchFamily="34" charset="-122"/>
                <a:cs typeface="Calibri" pitchFamily="34" charset="-120"/>
              </a:rPr>
              <a:t>2017–2026. Classified programs surface, pilots speak on the record, and UAP moves from the tabloid to the hearing room.</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DOC-023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MEDIA EVENT</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THE 2017 BREAK</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23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01</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2017 Break  ·  The Story Goes Public</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5303520" cy="388620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86200"/>
          </a:xfrm>
          <a:prstGeom prst="rect">
            <a:avLst/>
          </a:prstGeom>
          <a:solidFill>
            <a:srgbClr val="E8434C"/>
          </a:solidFill>
          <a:ln w="12700">
            <a:solidFill>
              <a:srgbClr val="E8434C"/>
            </a:solidFill>
            <a:prstDash val="solid"/>
          </a:ln>
        </p:spPr>
      </p:sp>
      <p:sp>
        <p:nvSpPr>
          <p:cNvPr id="26" name="Text 24"/>
          <p:cNvSpPr/>
          <p:nvPr/>
        </p:nvSpPr>
        <p:spPr>
          <a:xfrm>
            <a:off x="777240" y="2377440"/>
            <a:ext cx="4846320" cy="274320"/>
          </a:xfrm>
          <a:prstGeom prst="rect">
            <a:avLst/>
          </a:prstGeom>
          <a:noFill/>
          <a:ln/>
        </p:spPr>
        <p:txBody>
          <a:bodyPr wrap="square" lIns="0" tIns="0" rIns="0" bIns="0" rtlCol="0" anchor="ctr"/>
          <a:lstStyle/>
          <a:p>
            <a:pPr indent="0" marL="0">
              <a:buNone/>
            </a:pPr>
            <a:r>
              <a:rPr lang="en-US" sz="1000" b="1" spc="500" kern="0" dirty="0">
                <a:solidFill>
                  <a:srgbClr val="E8434C"/>
                </a:solidFill>
                <a:latin typeface="Consolas" pitchFamily="34" charset="0"/>
                <a:ea typeface="Consolas" pitchFamily="34" charset="-122"/>
                <a:cs typeface="Consolas" pitchFamily="34" charset="-120"/>
              </a:rPr>
              <a:t>16 DEC 2017</a:t>
            </a:r>
            <a:endParaRPr lang="en-US" sz="1000" dirty="0"/>
          </a:p>
        </p:txBody>
      </p:sp>
      <p:sp>
        <p:nvSpPr>
          <p:cNvPr id="27" name="Text 25"/>
          <p:cNvSpPr/>
          <p:nvPr/>
        </p:nvSpPr>
        <p:spPr>
          <a:xfrm>
            <a:off x="777240" y="2697480"/>
            <a:ext cx="4846320" cy="411480"/>
          </a:xfrm>
          <a:prstGeom prst="rect">
            <a:avLst/>
          </a:prstGeom>
          <a:noFill/>
          <a:ln/>
        </p:spPr>
        <p:txBody>
          <a:bodyPr wrap="square" lIns="0" tIns="0" rIns="0" bIns="0" rtlCol="0" anchor="ctr"/>
          <a:lstStyle/>
          <a:p>
            <a:pPr indent="0" marL="0">
              <a:buNone/>
            </a:pPr>
            <a:r>
              <a:rPr lang="en-US" sz="2000" dirty="0">
                <a:solidFill>
                  <a:srgbClr val="ECF1F8"/>
                </a:solidFill>
                <a:latin typeface="Arial Black" pitchFamily="34" charset="0"/>
                <a:ea typeface="Arial Black" pitchFamily="34" charset="-122"/>
                <a:cs typeface="Arial Black" pitchFamily="34" charset="-120"/>
              </a:rPr>
              <a:t>THE NEW YORK TIMES</a:t>
            </a:r>
            <a:endParaRPr lang="en-US" sz="2000" dirty="0"/>
          </a:p>
        </p:txBody>
      </p:sp>
      <p:sp>
        <p:nvSpPr>
          <p:cNvPr id="28" name="Text 26"/>
          <p:cNvSpPr/>
          <p:nvPr/>
        </p:nvSpPr>
        <p:spPr>
          <a:xfrm>
            <a:off x="777240" y="3200400"/>
            <a:ext cx="4846320" cy="1097280"/>
          </a:xfrm>
          <a:prstGeom prst="rect">
            <a:avLst/>
          </a:prstGeom>
          <a:noFill/>
          <a:ln/>
        </p:spPr>
        <p:txBody>
          <a:bodyPr wrap="square" lIns="0" tIns="0" rIns="0" bIns="0" rtlCol="0" anchor="ctr"/>
          <a:lstStyle/>
          <a:p>
            <a:pPr indent="0" marL="0">
              <a:buNone/>
            </a:pPr>
            <a:r>
              <a:rPr lang="en-US" sz="1500" i="1" dirty="0">
                <a:solidFill>
                  <a:srgbClr val="8A97AD"/>
                </a:solidFill>
                <a:latin typeface="Calibri" pitchFamily="34" charset="0"/>
                <a:ea typeface="Calibri" pitchFamily="34" charset="-122"/>
                <a:cs typeface="Calibri" pitchFamily="34" charset="-120"/>
              </a:rPr>
              <a:t>“Glowing Auras and ‘Black Money’: The Pentagon’s Mysterious U.F.O. Program”</a:t>
            </a:r>
            <a:endParaRPr lang="en-US" sz="1500" dirty="0"/>
          </a:p>
        </p:txBody>
      </p:sp>
      <p:sp>
        <p:nvSpPr>
          <p:cNvPr id="29" name="Shape 27"/>
          <p:cNvSpPr/>
          <p:nvPr/>
        </p:nvSpPr>
        <p:spPr>
          <a:xfrm>
            <a:off x="777240" y="4297680"/>
            <a:ext cx="4846320" cy="0"/>
          </a:xfrm>
          <a:prstGeom prst="line">
            <a:avLst/>
          </a:prstGeom>
          <a:noFill/>
          <a:ln w="9525">
            <a:solidFill>
              <a:srgbClr val="2B3A55"/>
            </a:solidFill>
            <a:prstDash val="solid"/>
          </a:ln>
        </p:spPr>
      </p:sp>
      <p:sp>
        <p:nvSpPr>
          <p:cNvPr id="30" name="Text 28"/>
          <p:cNvSpPr/>
          <p:nvPr/>
        </p:nvSpPr>
        <p:spPr>
          <a:xfrm>
            <a:off x="777240" y="4434840"/>
            <a:ext cx="4846320" cy="1645920"/>
          </a:xfrm>
          <a:prstGeom prst="rect">
            <a:avLst/>
          </a:prstGeom>
          <a:noFill/>
          <a:ln/>
        </p:spPr>
        <p:txBody>
          <a:bodyPr wrap="square" lIns="0" tIns="0" rIns="0" bIns="0" rtlCol="0" anchor="ctr"/>
          <a:lstStyle/>
          <a:p>
            <a:pPr indent="0" marL="0">
              <a:buNone/>
            </a:pPr>
            <a:r>
              <a:rPr lang="en-US" sz="1300" dirty="0">
                <a:solidFill>
                  <a:srgbClr val="ECF1F8"/>
                </a:solidFill>
                <a:latin typeface="Calibri" pitchFamily="34" charset="0"/>
                <a:ea typeface="Calibri" pitchFamily="34" charset="-122"/>
                <a:cs typeface="Calibri" pitchFamily="34" charset="-120"/>
              </a:rPr>
              <a:t>Kean, Blumenthal &amp; Cooper broke a sixty-year silence — revealing AATIP, the Advanced Aerospace Threat Identification Program, and publishing the Nimitz “FLIR1” video to a global audience.</a:t>
            </a:r>
            <a:endParaRPr lang="en-US" sz="1300" dirty="0"/>
          </a:p>
        </p:txBody>
      </p:sp>
      <p:sp>
        <p:nvSpPr>
          <p:cNvPr id="31" name="Shape 29"/>
          <p:cNvSpPr/>
          <p:nvPr/>
        </p:nvSpPr>
        <p:spPr>
          <a:xfrm>
            <a:off x="6126480" y="2194560"/>
            <a:ext cx="5486400" cy="914400"/>
          </a:xfrm>
          <a:prstGeom prst="rect">
            <a:avLst/>
          </a:prstGeom>
          <a:solidFill>
            <a:srgbClr val="0F1624"/>
          </a:solidFill>
          <a:ln w="9525">
            <a:solidFill>
              <a:srgbClr val="2B3A55"/>
            </a:solidFill>
            <a:prstDash val="solid"/>
          </a:ln>
        </p:spPr>
      </p:sp>
      <p:sp>
        <p:nvSpPr>
          <p:cNvPr id="32" name="Shape 30"/>
          <p:cNvSpPr/>
          <p:nvPr/>
        </p:nvSpPr>
        <p:spPr>
          <a:xfrm>
            <a:off x="6126480" y="2194560"/>
            <a:ext cx="54864" cy="914400"/>
          </a:xfrm>
          <a:prstGeom prst="rect">
            <a:avLst/>
          </a:prstGeom>
          <a:solidFill>
            <a:srgbClr val="38D9F0"/>
          </a:solidFill>
          <a:ln w="12700">
            <a:solidFill>
              <a:srgbClr val="38D9F0"/>
            </a:solidFill>
            <a:prstDash val="solid"/>
          </a:ln>
        </p:spPr>
      </p:sp>
      <p:sp>
        <p:nvSpPr>
          <p:cNvPr id="33" name="Text 31"/>
          <p:cNvSpPr/>
          <p:nvPr/>
        </p:nvSpPr>
        <p:spPr>
          <a:xfrm>
            <a:off x="6355080" y="2304288"/>
            <a:ext cx="20116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PROGRAM</a:t>
            </a:r>
            <a:endParaRPr lang="en-US" sz="900" dirty="0"/>
          </a:p>
        </p:txBody>
      </p:sp>
      <p:sp>
        <p:nvSpPr>
          <p:cNvPr id="34" name="Text 32"/>
          <p:cNvSpPr/>
          <p:nvPr/>
        </p:nvSpPr>
        <p:spPr>
          <a:xfrm>
            <a:off x="6355080" y="2523744"/>
            <a:ext cx="5120640" cy="384048"/>
          </a:xfrm>
          <a:prstGeom prst="rect">
            <a:avLst/>
          </a:prstGeom>
          <a:noFill/>
          <a:ln/>
        </p:spPr>
        <p:txBody>
          <a:bodyPr wrap="square" lIns="0" tIns="0" rIns="0" bIns="0" rtlCol="0" anchor="ctr"/>
          <a:lstStyle/>
          <a:p>
            <a:pPr indent="0" marL="0">
              <a:buNone/>
            </a:pPr>
            <a:r>
              <a:rPr lang="en-US" sz="2000" dirty="0">
                <a:solidFill>
                  <a:srgbClr val="38D9F0"/>
                </a:solidFill>
                <a:latin typeface="Arial Black" pitchFamily="34" charset="0"/>
                <a:ea typeface="Arial Black" pitchFamily="34" charset="-122"/>
                <a:cs typeface="Arial Black" pitchFamily="34" charset="-120"/>
              </a:rPr>
              <a:t>AATIP</a:t>
            </a:r>
            <a:endParaRPr lang="en-US" sz="2000" dirty="0"/>
          </a:p>
        </p:txBody>
      </p:sp>
      <p:sp>
        <p:nvSpPr>
          <p:cNvPr id="35" name="Text 33"/>
          <p:cNvSpPr/>
          <p:nvPr/>
        </p:nvSpPr>
        <p:spPr>
          <a:xfrm>
            <a:off x="6355080" y="2852928"/>
            <a:ext cx="5120640" cy="219456"/>
          </a:xfrm>
          <a:prstGeom prst="rect">
            <a:avLst/>
          </a:prstGeom>
          <a:noFill/>
          <a:ln/>
        </p:spPr>
        <p:txBody>
          <a:bodyPr wrap="square" lIns="0" tIns="0" rIns="0" bIns="0" rtlCol="0" anchor="ctr"/>
          <a:lstStyle/>
          <a:p>
            <a:pPr indent="0" marL="0">
              <a:buNone/>
            </a:pPr>
            <a:r>
              <a:rPr lang="en-US" sz="900" spc="200" kern="0" dirty="0">
                <a:solidFill>
                  <a:srgbClr val="8A97AD"/>
                </a:solidFill>
                <a:latin typeface="Consolas" pitchFamily="34" charset="0"/>
                <a:ea typeface="Consolas" pitchFamily="34" charset="-122"/>
                <a:cs typeface="Consolas" pitchFamily="34" charset="-120"/>
              </a:rPr>
              <a:t>Advanced Aerospace Threat ID Program</a:t>
            </a:r>
            <a:endParaRPr lang="en-US" sz="900" dirty="0"/>
          </a:p>
        </p:txBody>
      </p:sp>
      <p:sp>
        <p:nvSpPr>
          <p:cNvPr id="36" name="Shape 34"/>
          <p:cNvSpPr/>
          <p:nvPr/>
        </p:nvSpPr>
        <p:spPr>
          <a:xfrm>
            <a:off x="6126480" y="3200400"/>
            <a:ext cx="5486400" cy="914400"/>
          </a:xfrm>
          <a:prstGeom prst="rect">
            <a:avLst/>
          </a:prstGeom>
          <a:solidFill>
            <a:srgbClr val="0F1624"/>
          </a:solidFill>
          <a:ln w="9525">
            <a:solidFill>
              <a:srgbClr val="2B3A55"/>
            </a:solidFill>
            <a:prstDash val="solid"/>
          </a:ln>
        </p:spPr>
      </p:sp>
      <p:sp>
        <p:nvSpPr>
          <p:cNvPr id="37" name="Shape 35"/>
          <p:cNvSpPr/>
          <p:nvPr/>
        </p:nvSpPr>
        <p:spPr>
          <a:xfrm>
            <a:off x="6126480" y="3200400"/>
            <a:ext cx="54864" cy="914400"/>
          </a:xfrm>
          <a:prstGeom prst="rect">
            <a:avLst/>
          </a:prstGeom>
          <a:solidFill>
            <a:srgbClr val="38D9F0"/>
          </a:solidFill>
          <a:ln w="12700">
            <a:solidFill>
              <a:srgbClr val="38D9F0"/>
            </a:solidFill>
            <a:prstDash val="solid"/>
          </a:ln>
        </p:spPr>
      </p:sp>
      <p:sp>
        <p:nvSpPr>
          <p:cNvPr id="38" name="Text 36"/>
          <p:cNvSpPr/>
          <p:nvPr/>
        </p:nvSpPr>
        <p:spPr>
          <a:xfrm>
            <a:off x="6355080" y="3310128"/>
            <a:ext cx="20116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APPROPRIATION</a:t>
            </a:r>
            <a:endParaRPr lang="en-US" sz="900" dirty="0"/>
          </a:p>
        </p:txBody>
      </p:sp>
      <p:sp>
        <p:nvSpPr>
          <p:cNvPr id="39" name="Text 37"/>
          <p:cNvSpPr/>
          <p:nvPr/>
        </p:nvSpPr>
        <p:spPr>
          <a:xfrm>
            <a:off x="6355080" y="3529584"/>
            <a:ext cx="5120640" cy="384048"/>
          </a:xfrm>
          <a:prstGeom prst="rect">
            <a:avLst/>
          </a:prstGeom>
          <a:noFill/>
          <a:ln/>
        </p:spPr>
        <p:txBody>
          <a:bodyPr wrap="square" lIns="0" tIns="0" rIns="0" bIns="0" rtlCol="0" anchor="ctr"/>
          <a:lstStyle/>
          <a:p>
            <a:pPr indent="0" marL="0">
              <a:buNone/>
            </a:pPr>
            <a:r>
              <a:rPr lang="en-US" sz="2000" dirty="0">
                <a:solidFill>
                  <a:srgbClr val="38D9F0"/>
                </a:solidFill>
                <a:latin typeface="Arial Black" pitchFamily="34" charset="0"/>
                <a:ea typeface="Arial Black" pitchFamily="34" charset="-122"/>
                <a:cs typeface="Arial Black" pitchFamily="34" charset="-120"/>
              </a:rPr>
              <a:t>$22.5M</a:t>
            </a:r>
            <a:endParaRPr lang="en-US" sz="2000" dirty="0"/>
          </a:p>
        </p:txBody>
      </p:sp>
      <p:sp>
        <p:nvSpPr>
          <p:cNvPr id="40" name="Text 38"/>
          <p:cNvSpPr/>
          <p:nvPr/>
        </p:nvSpPr>
        <p:spPr>
          <a:xfrm>
            <a:off x="6355080" y="3858768"/>
            <a:ext cx="5120640" cy="219456"/>
          </a:xfrm>
          <a:prstGeom prst="rect">
            <a:avLst/>
          </a:prstGeom>
          <a:noFill/>
          <a:ln/>
        </p:spPr>
        <p:txBody>
          <a:bodyPr wrap="square" lIns="0" tIns="0" rIns="0" bIns="0" rtlCol="0" anchor="ctr"/>
          <a:lstStyle/>
          <a:p>
            <a:pPr indent="0" marL="0">
              <a:buNone/>
            </a:pPr>
            <a:r>
              <a:rPr lang="en-US" sz="900" spc="200" kern="0" dirty="0">
                <a:solidFill>
                  <a:srgbClr val="8A97AD"/>
                </a:solidFill>
                <a:latin typeface="Consolas" pitchFamily="34" charset="0"/>
                <a:ea typeface="Consolas" pitchFamily="34" charset="-122"/>
                <a:cs typeface="Consolas" pitchFamily="34" charset="-120"/>
              </a:rPr>
              <a:t>FY2008–2012 · buried in DoD budget</a:t>
            </a:r>
            <a:endParaRPr lang="en-US" sz="900" dirty="0"/>
          </a:p>
        </p:txBody>
      </p:sp>
      <p:sp>
        <p:nvSpPr>
          <p:cNvPr id="41" name="Shape 39"/>
          <p:cNvSpPr/>
          <p:nvPr/>
        </p:nvSpPr>
        <p:spPr>
          <a:xfrm>
            <a:off x="6126480" y="4206240"/>
            <a:ext cx="5486400" cy="914400"/>
          </a:xfrm>
          <a:prstGeom prst="rect">
            <a:avLst/>
          </a:prstGeom>
          <a:solidFill>
            <a:srgbClr val="0F1624"/>
          </a:solidFill>
          <a:ln w="9525">
            <a:solidFill>
              <a:srgbClr val="2B3A55"/>
            </a:solidFill>
            <a:prstDash val="solid"/>
          </a:ln>
        </p:spPr>
      </p:sp>
      <p:sp>
        <p:nvSpPr>
          <p:cNvPr id="42" name="Shape 40"/>
          <p:cNvSpPr/>
          <p:nvPr/>
        </p:nvSpPr>
        <p:spPr>
          <a:xfrm>
            <a:off x="6126480" y="4206240"/>
            <a:ext cx="54864" cy="914400"/>
          </a:xfrm>
          <a:prstGeom prst="rect">
            <a:avLst/>
          </a:prstGeom>
          <a:solidFill>
            <a:srgbClr val="38D9F0"/>
          </a:solidFill>
          <a:ln w="12700">
            <a:solidFill>
              <a:srgbClr val="38D9F0"/>
            </a:solidFill>
            <a:prstDash val="solid"/>
          </a:ln>
        </p:spPr>
      </p:sp>
      <p:sp>
        <p:nvSpPr>
          <p:cNvPr id="43" name="Text 41"/>
          <p:cNvSpPr/>
          <p:nvPr/>
        </p:nvSpPr>
        <p:spPr>
          <a:xfrm>
            <a:off x="6355080" y="4315968"/>
            <a:ext cx="20116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CHAMPIONS</a:t>
            </a:r>
            <a:endParaRPr lang="en-US" sz="900" dirty="0"/>
          </a:p>
        </p:txBody>
      </p:sp>
      <p:sp>
        <p:nvSpPr>
          <p:cNvPr id="44" name="Text 42"/>
          <p:cNvSpPr/>
          <p:nvPr/>
        </p:nvSpPr>
        <p:spPr>
          <a:xfrm>
            <a:off x="6355080" y="4535424"/>
            <a:ext cx="5120640" cy="384048"/>
          </a:xfrm>
          <a:prstGeom prst="rect">
            <a:avLst/>
          </a:prstGeom>
          <a:noFill/>
          <a:ln/>
        </p:spPr>
        <p:txBody>
          <a:bodyPr wrap="square" lIns="0" tIns="0" rIns="0" bIns="0" rtlCol="0" anchor="ctr"/>
          <a:lstStyle/>
          <a:p>
            <a:pPr indent="0" marL="0">
              <a:buNone/>
            </a:pPr>
            <a:r>
              <a:rPr lang="en-US" sz="2000" dirty="0">
                <a:solidFill>
                  <a:srgbClr val="38D9F0"/>
                </a:solidFill>
                <a:latin typeface="Arial Black" pitchFamily="34" charset="0"/>
                <a:ea typeface="Arial Black" pitchFamily="34" charset="-122"/>
                <a:cs typeface="Arial Black" pitchFamily="34" charset="-120"/>
              </a:rPr>
              <a:t>REID · STEVENS · INOUYE</a:t>
            </a:r>
            <a:endParaRPr lang="en-US" sz="2000" dirty="0"/>
          </a:p>
        </p:txBody>
      </p:sp>
      <p:sp>
        <p:nvSpPr>
          <p:cNvPr id="45" name="Text 43"/>
          <p:cNvSpPr/>
          <p:nvPr/>
        </p:nvSpPr>
        <p:spPr>
          <a:xfrm>
            <a:off x="6355080" y="4864608"/>
            <a:ext cx="5120640" cy="219456"/>
          </a:xfrm>
          <a:prstGeom prst="rect">
            <a:avLst/>
          </a:prstGeom>
          <a:noFill/>
          <a:ln/>
        </p:spPr>
        <p:txBody>
          <a:bodyPr wrap="square" lIns="0" tIns="0" rIns="0" bIns="0" rtlCol="0" anchor="ctr"/>
          <a:lstStyle/>
          <a:p>
            <a:pPr indent="0" marL="0">
              <a:buNone/>
            </a:pPr>
            <a:r>
              <a:rPr lang="en-US" sz="900" spc="200" kern="0" dirty="0">
                <a:solidFill>
                  <a:srgbClr val="8A97AD"/>
                </a:solidFill>
                <a:latin typeface="Consolas" pitchFamily="34" charset="0"/>
                <a:ea typeface="Consolas" pitchFamily="34" charset="-122"/>
                <a:cs typeface="Consolas" pitchFamily="34" charset="-120"/>
              </a:rPr>
              <a:t>Senate appropriators</a:t>
            </a:r>
            <a:endParaRPr lang="en-US" sz="900" dirty="0"/>
          </a:p>
        </p:txBody>
      </p:sp>
      <p:sp>
        <p:nvSpPr>
          <p:cNvPr id="46" name="Shape 44"/>
          <p:cNvSpPr/>
          <p:nvPr/>
        </p:nvSpPr>
        <p:spPr>
          <a:xfrm>
            <a:off x="6126480" y="5212080"/>
            <a:ext cx="5486400" cy="914400"/>
          </a:xfrm>
          <a:prstGeom prst="rect">
            <a:avLst/>
          </a:prstGeom>
          <a:solidFill>
            <a:srgbClr val="0F1624"/>
          </a:solidFill>
          <a:ln w="9525">
            <a:solidFill>
              <a:srgbClr val="2B3A55"/>
            </a:solidFill>
            <a:prstDash val="solid"/>
          </a:ln>
        </p:spPr>
      </p:sp>
      <p:sp>
        <p:nvSpPr>
          <p:cNvPr id="47" name="Shape 45"/>
          <p:cNvSpPr/>
          <p:nvPr/>
        </p:nvSpPr>
        <p:spPr>
          <a:xfrm>
            <a:off x="6126480" y="5212080"/>
            <a:ext cx="54864" cy="914400"/>
          </a:xfrm>
          <a:prstGeom prst="rect">
            <a:avLst/>
          </a:prstGeom>
          <a:solidFill>
            <a:srgbClr val="38D9F0"/>
          </a:solidFill>
          <a:ln w="12700">
            <a:solidFill>
              <a:srgbClr val="38D9F0"/>
            </a:solidFill>
            <a:prstDash val="solid"/>
          </a:ln>
        </p:spPr>
      </p:sp>
      <p:sp>
        <p:nvSpPr>
          <p:cNvPr id="48" name="Text 46"/>
          <p:cNvSpPr/>
          <p:nvPr/>
        </p:nvSpPr>
        <p:spPr>
          <a:xfrm>
            <a:off x="6355080" y="5321808"/>
            <a:ext cx="20116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LEAD</a:t>
            </a:r>
            <a:endParaRPr lang="en-US" sz="900" dirty="0"/>
          </a:p>
        </p:txBody>
      </p:sp>
      <p:sp>
        <p:nvSpPr>
          <p:cNvPr id="49" name="Text 47"/>
          <p:cNvSpPr/>
          <p:nvPr/>
        </p:nvSpPr>
        <p:spPr>
          <a:xfrm>
            <a:off x="6355080" y="5541264"/>
            <a:ext cx="5120640" cy="384048"/>
          </a:xfrm>
          <a:prstGeom prst="rect">
            <a:avLst/>
          </a:prstGeom>
          <a:noFill/>
          <a:ln/>
        </p:spPr>
        <p:txBody>
          <a:bodyPr wrap="square" lIns="0" tIns="0" rIns="0" bIns="0" rtlCol="0" anchor="ctr"/>
          <a:lstStyle/>
          <a:p>
            <a:pPr indent="0" marL="0">
              <a:buNone/>
            </a:pPr>
            <a:r>
              <a:rPr lang="en-US" sz="2000" dirty="0">
                <a:solidFill>
                  <a:srgbClr val="38D9F0"/>
                </a:solidFill>
                <a:latin typeface="Arial Black" pitchFamily="34" charset="0"/>
                <a:ea typeface="Arial Black" pitchFamily="34" charset="-122"/>
                <a:cs typeface="Arial Black" pitchFamily="34" charset="-120"/>
              </a:rPr>
              <a:t>LUIS ELIZONDO</a:t>
            </a:r>
            <a:endParaRPr lang="en-US" sz="2000" dirty="0"/>
          </a:p>
        </p:txBody>
      </p:sp>
      <p:sp>
        <p:nvSpPr>
          <p:cNvPr id="50" name="Text 48"/>
          <p:cNvSpPr/>
          <p:nvPr/>
        </p:nvSpPr>
        <p:spPr>
          <a:xfrm>
            <a:off x="6355080" y="5870448"/>
            <a:ext cx="5120640" cy="219456"/>
          </a:xfrm>
          <a:prstGeom prst="rect">
            <a:avLst/>
          </a:prstGeom>
          <a:noFill/>
          <a:ln/>
        </p:spPr>
        <p:txBody>
          <a:bodyPr wrap="square" lIns="0" tIns="0" rIns="0" bIns="0" rtlCol="0" anchor="ctr"/>
          <a:lstStyle/>
          <a:p>
            <a:pPr indent="0" marL="0">
              <a:buNone/>
            </a:pPr>
            <a:r>
              <a:rPr lang="en-US" sz="900" spc="200" kern="0" dirty="0">
                <a:solidFill>
                  <a:srgbClr val="8A97AD"/>
                </a:solidFill>
                <a:latin typeface="Consolas" pitchFamily="34" charset="0"/>
                <a:ea typeface="Consolas" pitchFamily="34" charset="-122"/>
                <a:cs typeface="Consolas" pitchFamily="34" charset="-120"/>
              </a:rPr>
              <a:t>Resigned Oct 2017 in protest</a:t>
            </a:r>
            <a:endParaRPr lang="en-US" sz="900" dirty="0"/>
          </a:p>
        </p:txBody>
      </p:sp>
      <p:sp>
        <p:nvSpPr>
          <p:cNvPr id="51" name="Text 49"/>
          <p:cNvSpPr/>
          <p:nvPr/>
        </p:nvSpPr>
        <p:spPr>
          <a:xfrm>
            <a:off x="548640" y="6144768"/>
            <a:ext cx="1097280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Elizondo’s exit letter accused the Pentagon of excessive secrecy and mismanagement of the UAP threat.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DOC-024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CASE FILE · NIMITZ 14 NOV 2004</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CASE FILE: TIC TAC</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24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02</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Case File  ·  The Tic Tac, 2004</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5120640" cy="388620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86200"/>
          </a:xfrm>
          <a:prstGeom prst="rect">
            <a:avLst/>
          </a:prstGeom>
          <a:solidFill>
            <a:srgbClr val="38D9F0"/>
          </a:solidFill>
          <a:ln w="12700">
            <a:solidFill>
              <a:srgbClr val="38D9F0"/>
            </a:solidFill>
            <a:prstDash val="solid"/>
          </a:ln>
        </p:spPr>
      </p:sp>
      <p:sp>
        <p:nvSpPr>
          <p:cNvPr id="26" name="Text 24"/>
          <p:cNvSpPr/>
          <p:nvPr/>
        </p:nvSpPr>
        <p:spPr>
          <a:xfrm>
            <a:off x="777240" y="2377440"/>
            <a:ext cx="4663440" cy="274320"/>
          </a:xfrm>
          <a:prstGeom prst="rect">
            <a:avLst/>
          </a:prstGeom>
          <a:noFill/>
          <a:ln/>
        </p:spPr>
        <p:txBody>
          <a:bodyPr wrap="square" lIns="0" tIns="0" rIns="0" bIns="0" rtlCol="0" anchor="ctr"/>
          <a:lstStyle/>
          <a:p>
            <a:pPr indent="0" marL="0">
              <a:buNone/>
            </a:pPr>
            <a:r>
              <a:rPr lang="en-US" sz="1000" b="1" spc="500" kern="0" dirty="0">
                <a:solidFill>
                  <a:srgbClr val="38D9F0"/>
                </a:solidFill>
                <a:latin typeface="Consolas" pitchFamily="34" charset="0"/>
                <a:ea typeface="Consolas" pitchFamily="34" charset="-122"/>
                <a:cs typeface="Consolas" pitchFamily="34" charset="-120"/>
              </a:rPr>
              <a:t>ENGAGEMENT LOG</a:t>
            </a:r>
            <a:endParaRPr lang="en-US" sz="1000" dirty="0"/>
          </a:p>
        </p:txBody>
      </p:sp>
      <p:sp>
        <p:nvSpPr>
          <p:cNvPr id="27" name="Shape 25"/>
          <p:cNvSpPr/>
          <p:nvPr/>
        </p:nvSpPr>
        <p:spPr>
          <a:xfrm>
            <a:off x="777240" y="3063240"/>
            <a:ext cx="4663440" cy="0"/>
          </a:xfrm>
          <a:prstGeom prst="line">
            <a:avLst/>
          </a:prstGeom>
          <a:noFill/>
          <a:ln w="6350">
            <a:solidFill>
              <a:srgbClr val="1C2840"/>
            </a:solidFill>
            <a:prstDash val="solid"/>
          </a:ln>
        </p:spPr>
      </p:sp>
      <p:sp>
        <p:nvSpPr>
          <p:cNvPr id="28" name="Text 26"/>
          <p:cNvSpPr/>
          <p:nvPr/>
        </p:nvSpPr>
        <p:spPr>
          <a:xfrm>
            <a:off x="777240" y="2697480"/>
            <a:ext cx="1463040" cy="32004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PLATFORM</a:t>
            </a:r>
            <a:endParaRPr lang="en-US" sz="900" dirty="0"/>
          </a:p>
        </p:txBody>
      </p:sp>
      <p:sp>
        <p:nvSpPr>
          <p:cNvPr id="29" name="Text 27"/>
          <p:cNvSpPr/>
          <p:nvPr/>
        </p:nvSpPr>
        <p:spPr>
          <a:xfrm>
            <a:off x="2286000" y="2697480"/>
            <a:ext cx="3200400" cy="320040"/>
          </a:xfrm>
          <a:prstGeom prst="rect">
            <a:avLst/>
          </a:prstGeom>
          <a:noFill/>
          <a:ln/>
        </p:spPr>
        <p:txBody>
          <a:bodyPr wrap="square" lIns="0" tIns="0" rIns="0" bIns="0" rtlCol="0" anchor="ctr"/>
          <a:lstStyle/>
          <a:p>
            <a:pPr indent="0" marL="0">
              <a:buNone/>
            </a:pPr>
            <a:r>
              <a:rPr lang="en-US" sz="1000" b="1" dirty="0">
                <a:solidFill>
                  <a:srgbClr val="ECF1F8"/>
                </a:solidFill>
                <a:latin typeface="Consolas" pitchFamily="34" charset="0"/>
                <a:ea typeface="Consolas" pitchFamily="34" charset="-122"/>
                <a:cs typeface="Consolas" pitchFamily="34" charset="-120"/>
              </a:rPr>
              <a:t>F/A-18F  ·  VFA-41 'BLACK ACES'</a:t>
            </a:r>
            <a:endParaRPr lang="en-US" sz="1000" dirty="0"/>
          </a:p>
        </p:txBody>
      </p:sp>
      <p:sp>
        <p:nvSpPr>
          <p:cNvPr id="30" name="Shape 28"/>
          <p:cNvSpPr/>
          <p:nvPr/>
        </p:nvSpPr>
        <p:spPr>
          <a:xfrm>
            <a:off x="777240" y="3474720"/>
            <a:ext cx="4663440" cy="0"/>
          </a:xfrm>
          <a:prstGeom prst="line">
            <a:avLst/>
          </a:prstGeom>
          <a:noFill/>
          <a:ln w="6350">
            <a:solidFill>
              <a:srgbClr val="1C2840"/>
            </a:solidFill>
            <a:prstDash val="solid"/>
          </a:ln>
        </p:spPr>
      </p:sp>
      <p:sp>
        <p:nvSpPr>
          <p:cNvPr id="31" name="Text 29"/>
          <p:cNvSpPr/>
          <p:nvPr/>
        </p:nvSpPr>
        <p:spPr>
          <a:xfrm>
            <a:off x="777240" y="3108960"/>
            <a:ext cx="1463040" cy="32004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CARRIER</a:t>
            </a:r>
            <a:endParaRPr lang="en-US" sz="900" dirty="0"/>
          </a:p>
        </p:txBody>
      </p:sp>
      <p:sp>
        <p:nvSpPr>
          <p:cNvPr id="32" name="Text 30"/>
          <p:cNvSpPr/>
          <p:nvPr/>
        </p:nvSpPr>
        <p:spPr>
          <a:xfrm>
            <a:off x="2286000" y="3108960"/>
            <a:ext cx="3200400" cy="320040"/>
          </a:xfrm>
          <a:prstGeom prst="rect">
            <a:avLst/>
          </a:prstGeom>
          <a:noFill/>
          <a:ln/>
        </p:spPr>
        <p:txBody>
          <a:bodyPr wrap="square" lIns="0" tIns="0" rIns="0" bIns="0" rtlCol="0" anchor="ctr"/>
          <a:lstStyle/>
          <a:p>
            <a:pPr indent="0" marL="0">
              <a:buNone/>
            </a:pPr>
            <a:r>
              <a:rPr lang="en-US" sz="1000" b="1" dirty="0">
                <a:solidFill>
                  <a:srgbClr val="ECF1F8"/>
                </a:solidFill>
                <a:latin typeface="Consolas" pitchFamily="34" charset="0"/>
                <a:ea typeface="Consolas" pitchFamily="34" charset="-122"/>
                <a:cs typeface="Consolas" pitchFamily="34" charset="-120"/>
              </a:rPr>
              <a:t>USS NIMITZ  ·  CSG-11</a:t>
            </a:r>
            <a:endParaRPr lang="en-US" sz="1000" dirty="0"/>
          </a:p>
        </p:txBody>
      </p:sp>
      <p:sp>
        <p:nvSpPr>
          <p:cNvPr id="33" name="Shape 31"/>
          <p:cNvSpPr/>
          <p:nvPr/>
        </p:nvSpPr>
        <p:spPr>
          <a:xfrm>
            <a:off x="777240" y="3886200"/>
            <a:ext cx="4663440" cy="0"/>
          </a:xfrm>
          <a:prstGeom prst="line">
            <a:avLst/>
          </a:prstGeom>
          <a:noFill/>
          <a:ln w="6350">
            <a:solidFill>
              <a:srgbClr val="1C2840"/>
            </a:solidFill>
            <a:prstDash val="solid"/>
          </a:ln>
        </p:spPr>
      </p:sp>
      <p:sp>
        <p:nvSpPr>
          <p:cNvPr id="34" name="Text 32"/>
          <p:cNvSpPr/>
          <p:nvPr/>
        </p:nvSpPr>
        <p:spPr>
          <a:xfrm>
            <a:off x="777240" y="3520440"/>
            <a:ext cx="1463040" cy="32004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LOCATION</a:t>
            </a:r>
            <a:endParaRPr lang="en-US" sz="900" dirty="0"/>
          </a:p>
        </p:txBody>
      </p:sp>
      <p:sp>
        <p:nvSpPr>
          <p:cNvPr id="35" name="Text 33"/>
          <p:cNvSpPr/>
          <p:nvPr/>
        </p:nvSpPr>
        <p:spPr>
          <a:xfrm>
            <a:off x="2286000" y="3520440"/>
            <a:ext cx="3200400" cy="320040"/>
          </a:xfrm>
          <a:prstGeom prst="rect">
            <a:avLst/>
          </a:prstGeom>
          <a:noFill/>
          <a:ln/>
        </p:spPr>
        <p:txBody>
          <a:bodyPr wrap="square" lIns="0" tIns="0" rIns="0" bIns="0" rtlCol="0" anchor="ctr"/>
          <a:lstStyle/>
          <a:p>
            <a:pPr indent="0" marL="0">
              <a:buNone/>
            </a:pPr>
            <a:r>
              <a:rPr lang="en-US" sz="1000" b="1" dirty="0">
                <a:solidFill>
                  <a:srgbClr val="ECF1F8"/>
                </a:solidFill>
                <a:latin typeface="Consolas" pitchFamily="34" charset="0"/>
                <a:ea typeface="Consolas" pitchFamily="34" charset="-122"/>
                <a:cs typeface="Consolas" pitchFamily="34" charset="-120"/>
              </a:rPr>
              <a:t>OFF BAJA CALIFORNIA</a:t>
            </a:r>
            <a:endParaRPr lang="en-US" sz="1000" dirty="0"/>
          </a:p>
        </p:txBody>
      </p:sp>
      <p:sp>
        <p:nvSpPr>
          <p:cNvPr id="36" name="Shape 34"/>
          <p:cNvSpPr/>
          <p:nvPr/>
        </p:nvSpPr>
        <p:spPr>
          <a:xfrm>
            <a:off x="777240" y="4297680"/>
            <a:ext cx="4663440" cy="0"/>
          </a:xfrm>
          <a:prstGeom prst="line">
            <a:avLst/>
          </a:prstGeom>
          <a:noFill/>
          <a:ln w="6350">
            <a:solidFill>
              <a:srgbClr val="1C2840"/>
            </a:solidFill>
            <a:prstDash val="solid"/>
          </a:ln>
        </p:spPr>
      </p:sp>
      <p:sp>
        <p:nvSpPr>
          <p:cNvPr id="37" name="Text 35"/>
          <p:cNvSpPr/>
          <p:nvPr/>
        </p:nvSpPr>
        <p:spPr>
          <a:xfrm>
            <a:off x="777240" y="3931920"/>
            <a:ext cx="1463040" cy="32004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DATE</a:t>
            </a:r>
            <a:endParaRPr lang="en-US" sz="900" dirty="0"/>
          </a:p>
        </p:txBody>
      </p:sp>
      <p:sp>
        <p:nvSpPr>
          <p:cNvPr id="38" name="Text 36"/>
          <p:cNvSpPr/>
          <p:nvPr/>
        </p:nvSpPr>
        <p:spPr>
          <a:xfrm>
            <a:off x="2286000" y="3931920"/>
            <a:ext cx="3200400" cy="320040"/>
          </a:xfrm>
          <a:prstGeom prst="rect">
            <a:avLst/>
          </a:prstGeom>
          <a:noFill/>
          <a:ln/>
        </p:spPr>
        <p:txBody>
          <a:bodyPr wrap="square" lIns="0" tIns="0" rIns="0" bIns="0" rtlCol="0" anchor="ctr"/>
          <a:lstStyle/>
          <a:p>
            <a:pPr indent="0" marL="0">
              <a:buNone/>
            </a:pPr>
            <a:r>
              <a:rPr lang="en-US" sz="1000" b="1" dirty="0">
                <a:solidFill>
                  <a:srgbClr val="ECF1F8"/>
                </a:solidFill>
                <a:latin typeface="Consolas" pitchFamily="34" charset="0"/>
                <a:ea typeface="Consolas" pitchFamily="34" charset="-122"/>
                <a:cs typeface="Consolas" pitchFamily="34" charset="-120"/>
              </a:rPr>
              <a:t>14 NOV 2004  ·  ~1100 PST</a:t>
            </a:r>
            <a:endParaRPr lang="en-US" sz="1000" dirty="0"/>
          </a:p>
        </p:txBody>
      </p:sp>
      <p:sp>
        <p:nvSpPr>
          <p:cNvPr id="39" name="Shape 37"/>
          <p:cNvSpPr/>
          <p:nvPr/>
        </p:nvSpPr>
        <p:spPr>
          <a:xfrm>
            <a:off x="777240" y="4709160"/>
            <a:ext cx="4663440" cy="0"/>
          </a:xfrm>
          <a:prstGeom prst="line">
            <a:avLst/>
          </a:prstGeom>
          <a:noFill/>
          <a:ln w="6350">
            <a:solidFill>
              <a:srgbClr val="1C2840"/>
            </a:solidFill>
            <a:prstDash val="solid"/>
          </a:ln>
        </p:spPr>
      </p:sp>
      <p:sp>
        <p:nvSpPr>
          <p:cNvPr id="40" name="Text 38"/>
          <p:cNvSpPr/>
          <p:nvPr/>
        </p:nvSpPr>
        <p:spPr>
          <a:xfrm>
            <a:off x="777240" y="4343400"/>
            <a:ext cx="1463040" cy="32004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RADAR CONTACT</a:t>
            </a:r>
            <a:endParaRPr lang="en-US" sz="900" dirty="0"/>
          </a:p>
        </p:txBody>
      </p:sp>
      <p:sp>
        <p:nvSpPr>
          <p:cNvPr id="41" name="Text 39"/>
          <p:cNvSpPr/>
          <p:nvPr/>
        </p:nvSpPr>
        <p:spPr>
          <a:xfrm>
            <a:off x="2286000" y="4343400"/>
            <a:ext cx="3200400" cy="320040"/>
          </a:xfrm>
          <a:prstGeom prst="rect">
            <a:avLst/>
          </a:prstGeom>
          <a:noFill/>
          <a:ln/>
        </p:spPr>
        <p:txBody>
          <a:bodyPr wrap="square" lIns="0" tIns="0" rIns="0" bIns="0" rtlCol="0" anchor="ctr"/>
          <a:lstStyle/>
          <a:p>
            <a:pPr indent="0" marL="0">
              <a:buNone/>
            </a:pPr>
            <a:r>
              <a:rPr lang="en-US" sz="1000" b="1" dirty="0">
                <a:solidFill>
                  <a:srgbClr val="ECF1F8"/>
                </a:solidFill>
                <a:latin typeface="Consolas" pitchFamily="34" charset="0"/>
                <a:ea typeface="Consolas" pitchFamily="34" charset="-122"/>
                <a:cs typeface="Consolas" pitchFamily="34" charset="-120"/>
              </a:rPr>
              <a:t>USS PRINCETON (CG-59)</a:t>
            </a:r>
            <a:endParaRPr lang="en-US" sz="1000" dirty="0"/>
          </a:p>
        </p:txBody>
      </p:sp>
      <p:sp>
        <p:nvSpPr>
          <p:cNvPr id="42" name="Shape 40"/>
          <p:cNvSpPr/>
          <p:nvPr/>
        </p:nvSpPr>
        <p:spPr>
          <a:xfrm>
            <a:off x="777240" y="5120640"/>
            <a:ext cx="4663440" cy="0"/>
          </a:xfrm>
          <a:prstGeom prst="line">
            <a:avLst/>
          </a:prstGeom>
          <a:noFill/>
          <a:ln w="6350">
            <a:solidFill>
              <a:srgbClr val="1C2840"/>
            </a:solidFill>
            <a:prstDash val="solid"/>
          </a:ln>
        </p:spPr>
      </p:sp>
      <p:sp>
        <p:nvSpPr>
          <p:cNvPr id="43" name="Text 41"/>
          <p:cNvSpPr/>
          <p:nvPr/>
        </p:nvSpPr>
        <p:spPr>
          <a:xfrm>
            <a:off x="777240" y="4754880"/>
            <a:ext cx="1463040" cy="32004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PILOT A</a:t>
            </a:r>
            <a:endParaRPr lang="en-US" sz="900" dirty="0"/>
          </a:p>
        </p:txBody>
      </p:sp>
      <p:sp>
        <p:nvSpPr>
          <p:cNvPr id="44" name="Text 42"/>
          <p:cNvSpPr/>
          <p:nvPr/>
        </p:nvSpPr>
        <p:spPr>
          <a:xfrm>
            <a:off x="2286000" y="4754880"/>
            <a:ext cx="3200400" cy="320040"/>
          </a:xfrm>
          <a:prstGeom prst="rect">
            <a:avLst/>
          </a:prstGeom>
          <a:noFill/>
          <a:ln/>
        </p:spPr>
        <p:txBody>
          <a:bodyPr wrap="square" lIns="0" tIns="0" rIns="0" bIns="0" rtlCol="0" anchor="ctr"/>
          <a:lstStyle/>
          <a:p>
            <a:pPr indent="0" marL="0">
              <a:buNone/>
            </a:pPr>
            <a:r>
              <a:rPr lang="en-US" sz="1000" b="1" dirty="0">
                <a:solidFill>
                  <a:srgbClr val="ECF1F8"/>
                </a:solidFill>
                <a:latin typeface="Consolas" pitchFamily="34" charset="0"/>
                <a:ea typeface="Consolas" pitchFamily="34" charset="-122"/>
                <a:cs typeface="Consolas" pitchFamily="34" charset="-120"/>
              </a:rPr>
              <a:t>CMDR DAVID FRAVOR</a:t>
            </a:r>
            <a:endParaRPr lang="en-US" sz="1000" dirty="0"/>
          </a:p>
        </p:txBody>
      </p:sp>
      <p:sp>
        <p:nvSpPr>
          <p:cNvPr id="45" name="Shape 43"/>
          <p:cNvSpPr/>
          <p:nvPr/>
        </p:nvSpPr>
        <p:spPr>
          <a:xfrm>
            <a:off x="777240" y="5532120"/>
            <a:ext cx="4663440" cy="0"/>
          </a:xfrm>
          <a:prstGeom prst="line">
            <a:avLst/>
          </a:prstGeom>
          <a:noFill/>
          <a:ln w="6350">
            <a:solidFill>
              <a:srgbClr val="1C2840"/>
            </a:solidFill>
            <a:prstDash val="solid"/>
          </a:ln>
        </p:spPr>
      </p:sp>
      <p:sp>
        <p:nvSpPr>
          <p:cNvPr id="46" name="Text 44"/>
          <p:cNvSpPr/>
          <p:nvPr/>
        </p:nvSpPr>
        <p:spPr>
          <a:xfrm>
            <a:off x="777240" y="5166360"/>
            <a:ext cx="1463040" cy="32004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PILOT B</a:t>
            </a:r>
            <a:endParaRPr lang="en-US" sz="900" dirty="0"/>
          </a:p>
        </p:txBody>
      </p:sp>
      <p:sp>
        <p:nvSpPr>
          <p:cNvPr id="47" name="Text 45"/>
          <p:cNvSpPr/>
          <p:nvPr/>
        </p:nvSpPr>
        <p:spPr>
          <a:xfrm>
            <a:off x="2286000" y="5166360"/>
            <a:ext cx="3200400" cy="320040"/>
          </a:xfrm>
          <a:prstGeom prst="rect">
            <a:avLst/>
          </a:prstGeom>
          <a:noFill/>
          <a:ln/>
        </p:spPr>
        <p:txBody>
          <a:bodyPr wrap="square" lIns="0" tIns="0" rIns="0" bIns="0" rtlCol="0" anchor="ctr"/>
          <a:lstStyle/>
          <a:p>
            <a:pPr indent="0" marL="0">
              <a:buNone/>
            </a:pPr>
            <a:r>
              <a:rPr lang="en-US" sz="1000" b="1" dirty="0">
                <a:solidFill>
                  <a:srgbClr val="ECF1F8"/>
                </a:solidFill>
                <a:latin typeface="Consolas" pitchFamily="34" charset="0"/>
                <a:ea typeface="Consolas" pitchFamily="34" charset="-122"/>
                <a:cs typeface="Consolas" pitchFamily="34" charset="-120"/>
              </a:rPr>
              <a:t>LT COL ALEX DIETRICH</a:t>
            </a:r>
            <a:endParaRPr lang="en-US" sz="1000" dirty="0"/>
          </a:p>
        </p:txBody>
      </p:sp>
      <p:sp>
        <p:nvSpPr>
          <p:cNvPr id="48" name="Shape 46"/>
          <p:cNvSpPr/>
          <p:nvPr/>
        </p:nvSpPr>
        <p:spPr>
          <a:xfrm>
            <a:off x="777240" y="5943600"/>
            <a:ext cx="4663440" cy="0"/>
          </a:xfrm>
          <a:prstGeom prst="line">
            <a:avLst/>
          </a:prstGeom>
          <a:noFill/>
          <a:ln w="6350">
            <a:solidFill>
              <a:srgbClr val="1C2840"/>
            </a:solidFill>
            <a:prstDash val="solid"/>
          </a:ln>
        </p:spPr>
      </p:sp>
      <p:sp>
        <p:nvSpPr>
          <p:cNvPr id="49" name="Text 47"/>
          <p:cNvSpPr/>
          <p:nvPr/>
        </p:nvSpPr>
        <p:spPr>
          <a:xfrm>
            <a:off x="777240" y="5577840"/>
            <a:ext cx="1463040" cy="32004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SENSOR CAP</a:t>
            </a:r>
            <a:endParaRPr lang="en-US" sz="900" dirty="0"/>
          </a:p>
        </p:txBody>
      </p:sp>
      <p:sp>
        <p:nvSpPr>
          <p:cNvPr id="50" name="Text 48"/>
          <p:cNvSpPr/>
          <p:nvPr/>
        </p:nvSpPr>
        <p:spPr>
          <a:xfrm>
            <a:off x="2286000" y="5577840"/>
            <a:ext cx="3200400" cy="320040"/>
          </a:xfrm>
          <a:prstGeom prst="rect">
            <a:avLst/>
          </a:prstGeom>
          <a:noFill/>
          <a:ln/>
        </p:spPr>
        <p:txBody>
          <a:bodyPr wrap="square" lIns="0" tIns="0" rIns="0" bIns="0" rtlCol="0" anchor="ctr"/>
          <a:lstStyle/>
          <a:p>
            <a:pPr indent="0" marL="0">
              <a:buNone/>
            </a:pPr>
            <a:r>
              <a:rPr lang="en-US" sz="1000" b="1" dirty="0">
                <a:solidFill>
                  <a:srgbClr val="ECF1F8"/>
                </a:solidFill>
                <a:latin typeface="Consolas" pitchFamily="34" charset="0"/>
                <a:ea typeface="Consolas" pitchFamily="34" charset="-122"/>
                <a:cs typeface="Consolas" pitchFamily="34" charset="-120"/>
              </a:rPr>
              <a:t>LT CHAD UNDERWOOD</a:t>
            </a:r>
            <a:endParaRPr lang="en-US" sz="1000" dirty="0"/>
          </a:p>
        </p:txBody>
      </p:sp>
      <p:sp>
        <p:nvSpPr>
          <p:cNvPr id="51" name="Shape 49"/>
          <p:cNvSpPr/>
          <p:nvPr/>
        </p:nvSpPr>
        <p:spPr>
          <a:xfrm>
            <a:off x="5852160" y="2194560"/>
            <a:ext cx="5760720" cy="1965960"/>
          </a:xfrm>
          <a:prstGeom prst="rect">
            <a:avLst/>
          </a:prstGeom>
          <a:solidFill>
            <a:srgbClr val="0F1624"/>
          </a:solidFill>
          <a:ln w="9525">
            <a:solidFill>
              <a:srgbClr val="2B3A55"/>
            </a:solidFill>
            <a:prstDash val="solid"/>
          </a:ln>
        </p:spPr>
      </p:sp>
      <p:sp>
        <p:nvSpPr>
          <p:cNvPr id="52" name="Shape 50"/>
          <p:cNvSpPr/>
          <p:nvPr/>
        </p:nvSpPr>
        <p:spPr>
          <a:xfrm>
            <a:off x="5852160" y="2194560"/>
            <a:ext cx="54864" cy="1965960"/>
          </a:xfrm>
          <a:prstGeom prst="rect">
            <a:avLst/>
          </a:prstGeom>
          <a:solidFill>
            <a:srgbClr val="F5B024"/>
          </a:solidFill>
          <a:ln w="12700">
            <a:solidFill>
              <a:srgbClr val="F5B024"/>
            </a:solidFill>
            <a:prstDash val="solid"/>
          </a:ln>
        </p:spPr>
      </p:sp>
      <p:sp>
        <p:nvSpPr>
          <p:cNvPr id="53" name="Text 51"/>
          <p:cNvSpPr/>
          <p:nvPr/>
        </p:nvSpPr>
        <p:spPr>
          <a:xfrm>
            <a:off x="6080760" y="2377440"/>
            <a:ext cx="5303520" cy="274320"/>
          </a:xfrm>
          <a:prstGeom prst="rect">
            <a:avLst/>
          </a:prstGeom>
          <a:noFill/>
          <a:ln/>
        </p:spPr>
        <p:txBody>
          <a:bodyPr wrap="square" lIns="0" tIns="0" rIns="0" bIns="0" rtlCol="0" anchor="ctr"/>
          <a:lstStyle/>
          <a:p>
            <a:pPr indent="0" marL="0">
              <a:buNone/>
            </a:pPr>
            <a:r>
              <a:rPr lang="en-US" sz="1000" b="1" spc="500" kern="0" dirty="0">
                <a:solidFill>
                  <a:srgbClr val="F5B024"/>
                </a:solidFill>
                <a:latin typeface="Consolas" pitchFamily="34" charset="0"/>
                <a:ea typeface="Consolas" pitchFamily="34" charset="-122"/>
                <a:cs typeface="Consolas" pitchFamily="34" charset="-120"/>
              </a:rPr>
              <a:t>OBSERVED BEHAVIOR</a:t>
            </a:r>
            <a:endParaRPr lang="en-US" sz="1000" dirty="0"/>
          </a:p>
        </p:txBody>
      </p:sp>
      <p:sp>
        <p:nvSpPr>
          <p:cNvPr id="54" name="Text 52"/>
          <p:cNvSpPr/>
          <p:nvPr/>
        </p:nvSpPr>
        <p:spPr>
          <a:xfrm>
            <a:off x="6080760" y="2697480"/>
            <a:ext cx="5303520" cy="1371600"/>
          </a:xfrm>
          <a:prstGeom prst="rect">
            <a:avLst/>
          </a:prstGeom>
          <a:noFill/>
          <a:ln/>
        </p:spPr>
        <p:txBody>
          <a:bodyPr wrap="square" lIns="0" tIns="0" rIns="0" bIns="0" rtlCol="0" anchor="ctr"/>
          <a:lstStyle/>
          <a:p>
            <a:pPr indent="0" marL="0">
              <a:buNone/>
            </a:pPr>
            <a:r>
              <a:rPr lang="en-US" sz="1300" dirty="0">
                <a:solidFill>
                  <a:srgbClr val="ECF1F8"/>
                </a:solidFill>
                <a:latin typeface="Calibri" pitchFamily="34" charset="0"/>
                <a:ea typeface="Calibri" pitchFamily="34" charset="-122"/>
                <a:cs typeface="Calibri" pitchFamily="34" charset="-120"/>
              </a:rPr>
              <a:t>~40 ft oblong object, white, “like a Tic Tac.” No wings, no exhaust, no apparent propulsion. Mimicked Fravor’s descent, then accelerated out of view in under two seconds.</a:t>
            </a:r>
            <a:endParaRPr lang="en-US" sz="1300" dirty="0"/>
          </a:p>
        </p:txBody>
      </p:sp>
      <p:sp>
        <p:nvSpPr>
          <p:cNvPr id="55" name="Shape 53"/>
          <p:cNvSpPr/>
          <p:nvPr/>
        </p:nvSpPr>
        <p:spPr>
          <a:xfrm>
            <a:off x="5852160" y="4160520"/>
            <a:ext cx="2788920" cy="1920240"/>
          </a:xfrm>
          <a:prstGeom prst="rect">
            <a:avLst/>
          </a:prstGeom>
          <a:solidFill>
            <a:srgbClr val="0F1624"/>
          </a:solidFill>
          <a:ln w="9525">
            <a:solidFill>
              <a:srgbClr val="2B3A55"/>
            </a:solidFill>
            <a:prstDash val="solid"/>
          </a:ln>
        </p:spPr>
      </p:sp>
      <p:sp>
        <p:nvSpPr>
          <p:cNvPr id="56" name="Shape 54"/>
          <p:cNvSpPr/>
          <p:nvPr/>
        </p:nvSpPr>
        <p:spPr>
          <a:xfrm>
            <a:off x="5852160" y="4160520"/>
            <a:ext cx="54864" cy="1920240"/>
          </a:xfrm>
          <a:prstGeom prst="rect">
            <a:avLst/>
          </a:prstGeom>
          <a:solidFill>
            <a:srgbClr val="E8434C"/>
          </a:solidFill>
          <a:ln w="12700">
            <a:solidFill>
              <a:srgbClr val="E8434C"/>
            </a:solidFill>
            <a:prstDash val="solid"/>
          </a:ln>
        </p:spPr>
      </p:sp>
      <p:sp>
        <p:nvSpPr>
          <p:cNvPr id="57" name="Text 55"/>
          <p:cNvSpPr/>
          <p:nvPr/>
        </p:nvSpPr>
        <p:spPr>
          <a:xfrm>
            <a:off x="6035040" y="4297680"/>
            <a:ext cx="24688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DESCENT</a:t>
            </a:r>
            <a:endParaRPr lang="en-US" sz="900" dirty="0"/>
          </a:p>
        </p:txBody>
      </p:sp>
      <p:sp>
        <p:nvSpPr>
          <p:cNvPr id="58" name="Text 56"/>
          <p:cNvSpPr/>
          <p:nvPr/>
        </p:nvSpPr>
        <p:spPr>
          <a:xfrm>
            <a:off x="6035040" y="4526280"/>
            <a:ext cx="2468880" cy="640080"/>
          </a:xfrm>
          <a:prstGeom prst="rect">
            <a:avLst/>
          </a:prstGeom>
          <a:noFill/>
          <a:ln/>
        </p:spPr>
        <p:txBody>
          <a:bodyPr wrap="square" lIns="0" tIns="0" rIns="0" bIns="0" rtlCol="0" anchor="ctr"/>
          <a:lstStyle/>
          <a:p>
            <a:pPr indent="0" marL="0">
              <a:buNone/>
            </a:pPr>
            <a:r>
              <a:rPr lang="en-US" sz="3000" dirty="0">
                <a:solidFill>
                  <a:srgbClr val="E8434C"/>
                </a:solidFill>
                <a:latin typeface="Arial Black" pitchFamily="34" charset="0"/>
                <a:ea typeface="Arial Black" pitchFamily="34" charset="-122"/>
                <a:cs typeface="Arial Black" pitchFamily="34" charset="-120"/>
              </a:rPr>
              <a:t>80,000 ft</a:t>
            </a:r>
            <a:endParaRPr lang="en-US" sz="3000" dirty="0"/>
          </a:p>
        </p:txBody>
      </p:sp>
      <p:sp>
        <p:nvSpPr>
          <p:cNvPr id="59" name="Text 57"/>
          <p:cNvSpPr/>
          <p:nvPr/>
        </p:nvSpPr>
        <p:spPr>
          <a:xfrm>
            <a:off x="6035040" y="5120640"/>
            <a:ext cx="2468880" cy="274320"/>
          </a:xfrm>
          <a:prstGeom prst="rect">
            <a:avLst/>
          </a:prstGeom>
          <a:noFill/>
          <a:ln/>
        </p:spPr>
        <p:txBody>
          <a:bodyPr wrap="square" lIns="0" tIns="0" rIns="0" bIns="0" rtlCol="0" anchor="ctr"/>
          <a:lstStyle/>
          <a:p>
            <a:pPr indent="0" marL="0">
              <a:buNone/>
            </a:pPr>
            <a:r>
              <a:rPr lang="en-US" sz="1000" spc="200" kern="0" dirty="0">
                <a:solidFill>
                  <a:srgbClr val="8A97AD"/>
                </a:solidFill>
                <a:latin typeface="Consolas" pitchFamily="34" charset="0"/>
                <a:ea typeface="Consolas" pitchFamily="34" charset="-122"/>
                <a:cs typeface="Consolas" pitchFamily="34" charset="-120"/>
              </a:rPr>
              <a:t>to sea level</a:t>
            </a:r>
            <a:endParaRPr lang="en-US" sz="1000" dirty="0"/>
          </a:p>
        </p:txBody>
      </p:sp>
      <p:sp>
        <p:nvSpPr>
          <p:cNvPr id="60" name="Text 58"/>
          <p:cNvSpPr/>
          <p:nvPr/>
        </p:nvSpPr>
        <p:spPr>
          <a:xfrm>
            <a:off x="6035040" y="5413248"/>
            <a:ext cx="2468880" cy="594360"/>
          </a:xfrm>
          <a:prstGeom prst="rect">
            <a:avLst/>
          </a:prstGeom>
          <a:noFill/>
          <a:ln/>
        </p:spPr>
        <p:txBody>
          <a:bodyPr wrap="square" lIns="0" tIns="0" rIns="0" bIns="0" rtlCol="0" anchor="ctr"/>
          <a:lstStyle/>
          <a:p>
            <a:pPr indent="0" marL="0">
              <a:buNone/>
            </a:pPr>
            <a:r>
              <a:rPr lang="en-US" sz="1100" i="1" dirty="0">
                <a:solidFill>
                  <a:srgbClr val="ECF1F8"/>
                </a:solidFill>
                <a:latin typeface="Calibri" pitchFamily="34" charset="0"/>
                <a:ea typeface="Calibri" pitchFamily="34" charset="-122"/>
                <a:cs typeface="Calibri" pitchFamily="34" charset="-120"/>
              </a:rPr>
              <a:t>in seconds  ·  ~100x human tolerance.</a:t>
            </a:r>
            <a:endParaRPr lang="en-US" sz="1100" dirty="0"/>
          </a:p>
        </p:txBody>
      </p:sp>
      <p:sp>
        <p:nvSpPr>
          <p:cNvPr id="61" name="Shape 59"/>
          <p:cNvSpPr/>
          <p:nvPr/>
        </p:nvSpPr>
        <p:spPr>
          <a:xfrm>
            <a:off x="8732520" y="4160520"/>
            <a:ext cx="2880360" cy="1920240"/>
          </a:xfrm>
          <a:prstGeom prst="rect">
            <a:avLst/>
          </a:prstGeom>
          <a:solidFill>
            <a:srgbClr val="0F1624"/>
          </a:solidFill>
          <a:ln w="9525">
            <a:solidFill>
              <a:srgbClr val="2B3A55"/>
            </a:solidFill>
            <a:prstDash val="solid"/>
          </a:ln>
        </p:spPr>
      </p:sp>
      <p:sp>
        <p:nvSpPr>
          <p:cNvPr id="62" name="Shape 60"/>
          <p:cNvSpPr/>
          <p:nvPr/>
        </p:nvSpPr>
        <p:spPr>
          <a:xfrm>
            <a:off x="8732520" y="4160520"/>
            <a:ext cx="54864" cy="1920240"/>
          </a:xfrm>
          <a:prstGeom prst="rect">
            <a:avLst/>
          </a:prstGeom>
          <a:solidFill>
            <a:srgbClr val="5DD39E"/>
          </a:solidFill>
          <a:ln w="12700">
            <a:solidFill>
              <a:srgbClr val="5DD39E"/>
            </a:solidFill>
            <a:prstDash val="solid"/>
          </a:ln>
        </p:spPr>
      </p:sp>
      <p:sp>
        <p:nvSpPr>
          <p:cNvPr id="63" name="Text 61"/>
          <p:cNvSpPr/>
          <p:nvPr/>
        </p:nvSpPr>
        <p:spPr>
          <a:xfrm>
            <a:off x="8915400" y="4297680"/>
            <a:ext cx="256032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SENSOR CONFIRMED</a:t>
            </a:r>
            <a:endParaRPr lang="en-US" sz="900" dirty="0"/>
          </a:p>
        </p:txBody>
      </p:sp>
      <p:sp>
        <p:nvSpPr>
          <p:cNvPr id="64" name="Text 62"/>
          <p:cNvSpPr/>
          <p:nvPr/>
        </p:nvSpPr>
        <p:spPr>
          <a:xfrm>
            <a:off x="8915400" y="4526280"/>
            <a:ext cx="2560320" cy="640080"/>
          </a:xfrm>
          <a:prstGeom prst="rect">
            <a:avLst/>
          </a:prstGeom>
          <a:noFill/>
          <a:ln/>
        </p:spPr>
        <p:txBody>
          <a:bodyPr wrap="square" lIns="0" tIns="0" rIns="0" bIns="0" rtlCol="0" anchor="ctr"/>
          <a:lstStyle/>
          <a:p>
            <a:pPr indent="0" marL="0">
              <a:buNone/>
            </a:pPr>
            <a:r>
              <a:rPr lang="en-US" sz="3000" dirty="0">
                <a:solidFill>
                  <a:srgbClr val="5DD39E"/>
                </a:solidFill>
                <a:latin typeface="Arial Black" pitchFamily="34" charset="0"/>
                <a:ea typeface="Arial Black" pitchFamily="34" charset="-122"/>
                <a:cs typeface="Arial Black" pitchFamily="34" charset="-120"/>
              </a:rPr>
              <a:t>FLIR1</a:t>
            </a:r>
            <a:endParaRPr lang="en-US" sz="3000" dirty="0"/>
          </a:p>
        </p:txBody>
      </p:sp>
      <p:sp>
        <p:nvSpPr>
          <p:cNvPr id="65" name="Text 63"/>
          <p:cNvSpPr/>
          <p:nvPr/>
        </p:nvSpPr>
        <p:spPr>
          <a:xfrm>
            <a:off x="8915400" y="5120640"/>
            <a:ext cx="2560320" cy="274320"/>
          </a:xfrm>
          <a:prstGeom prst="rect">
            <a:avLst/>
          </a:prstGeom>
          <a:noFill/>
          <a:ln/>
        </p:spPr>
        <p:txBody>
          <a:bodyPr wrap="square" lIns="0" tIns="0" rIns="0" bIns="0" rtlCol="0" anchor="ctr"/>
          <a:lstStyle/>
          <a:p>
            <a:pPr indent="0" marL="0">
              <a:buNone/>
            </a:pPr>
            <a:r>
              <a:rPr lang="en-US" sz="1000" spc="200" kern="0" dirty="0">
                <a:solidFill>
                  <a:srgbClr val="8A97AD"/>
                </a:solidFill>
                <a:latin typeface="Consolas" pitchFamily="34" charset="0"/>
                <a:ea typeface="Consolas" pitchFamily="34" charset="-122"/>
                <a:cs typeface="Consolas" pitchFamily="34" charset="-120"/>
              </a:rPr>
              <a:t>Raytheon ATFLIR pod</a:t>
            </a:r>
            <a:endParaRPr lang="en-US" sz="1000" dirty="0"/>
          </a:p>
        </p:txBody>
      </p:sp>
      <p:sp>
        <p:nvSpPr>
          <p:cNvPr id="66" name="Text 64"/>
          <p:cNvSpPr/>
          <p:nvPr/>
        </p:nvSpPr>
        <p:spPr>
          <a:xfrm>
            <a:off x="8915400" y="5413248"/>
            <a:ext cx="2560320" cy="594360"/>
          </a:xfrm>
          <a:prstGeom prst="rect">
            <a:avLst/>
          </a:prstGeom>
          <a:noFill/>
          <a:ln/>
        </p:spPr>
        <p:txBody>
          <a:bodyPr wrap="square" lIns="0" tIns="0" rIns="0" bIns="0" rtlCol="0" anchor="ctr"/>
          <a:lstStyle/>
          <a:p>
            <a:pPr indent="0" marL="0">
              <a:buNone/>
            </a:pPr>
            <a:r>
              <a:rPr lang="en-US" sz="1100" i="1" dirty="0">
                <a:solidFill>
                  <a:srgbClr val="ECF1F8"/>
                </a:solidFill>
                <a:latin typeface="Calibri" pitchFamily="34" charset="0"/>
                <a:ea typeface="Calibri" pitchFamily="34" charset="-122"/>
                <a:cs typeface="Calibri" pitchFamily="34" charset="-120"/>
              </a:rPr>
              <a:t>Captured by LT Underwood, declassified 2017.</a:t>
            </a:r>
            <a:endParaRPr lang="en-US" sz="1100" dirty="0"/>
          </a:p>
        </p:txBody>
      </p:sp>
      <p:sp>
        <p:nvSpPr>
          <p:cNvPr id="67" name="Text 65"/>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Fravor, 2019: “In my 18 years as a naval officer, I’ve never seen anything that, fast, that agile, that was able to fly the way it did.”</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DOC-025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CASE FILE · ATLANTIC 2015</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GIMBAL &amp; GOFAST</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25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03</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Case Files  ·  Gimbal &amp; GoFast, 2015</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457200" y="2194560"/>
            <a:ext cx="5486400" cy="3886200"/>
          </a:xfrm>
          <a:prstGeom prst="rect">
            <a:avLst/>
          </a:prstGeom>
          <a:solidFill>
            <a:srgbClr val="0F1624"/>
          </a:solidFill>
          <a:ln w="9525">
            <a:solidFill>
              <a:srgbClr val="2B3A55"/>
            </a:solidFill>
            <a:prstDash val="solid"/>
          </a:ln>
        </p:spPr>
      </p:sp>
      <p:sp>
        <p:nvSpPr>
          <p:cNvPr id="25" name="Shape 23"/>
          <p:cNvSpPr/>
          <p:nvPr/>
        </p:nvSpPr>
        <p:spPr>
          <a:xfrm>
            <a:off x="457200" y="2194560"/>
            <a:ext cx="54864" cy="3886200"/>
          </a:xfrm>
          <a:prstGeom prst="rect">
            <a:avLst/>
          </a:prstGeom>
          <a:solidFill>
            <a:srgbClr val="38D9F0"/>
          </a:solidFill>
          <a:ln w="12700">
            <a:solidFill>
              <a:srgbClr val="38D9F0"/>
            </a:solidFill>
            <a:prstDash val="solid"/>
          </a:ln>
        </p:spPr>
      </p:sp>
      <p:sp>
        <p:nvSpPr>
          <p:cNvPr id="26" name="Text 24"/>
          <p:cNvSpPr/>
          <p:nvPr/>
        </p:nvSpPr>
        <p:spPr>
          <a:xfrm>
            <a:off x="731520" y="2468880"/>
            <a:ext cx="5029200" cy="685800"/>
          </a:xfrm>
          <a:prstGeom prst="rect">
            <a:avLst/>
          </a:prstGeom>
          <a:noFill/>
          <a:ln/>
        </p:spPr>
        <p:txBody>
          <a:bodyPr wrap="square" lIns="0" tIns="0" rIns="0" bIns="0" rtlCol="0" anchor="ctr"/>
          <a:lstStyle/>
          <a:p>
            <a:pPr indent="0" marL="0">
              <a:buNone/>
            </a:pPr>
            <a:r>
              <a:rPr lang="en-US" sz="3800" dirty="0">
                <a:solidFill>
                  <a:srgbClr val="38D9F0"/>
                </a:solidFill>
                <a:latin typeface="Arial Black" pitchFamily="34" charset="0"/>
                <a:ea typeface="Arial Black" pitchFamily="34" charset="-122"/>
                <a:cs typeface="Arial Black" pitchFamily="34" charset="-120"/>
              </a:rPr>
              <a:t>GIMBAL</a:t>
            </a:r>
            <a:endParaRPr lang="en-US" sz="3800" dirty="0"/>
          </a:p>
        </p:txBody>
      </p:sp>
      <p:sp>
        <p:nvSpPr>
          <p:cNvPr id="27" name="Text 25"/>
          <p:cNvSpPr/>
          <p:nvPr/>
        </p:nvSpPr>
        <p:spPr>
          <a:xfrm>
            <a:off x="731520" y="3154680"/>
            <a:ext cx="5029200" cy="274320"/>
          </a:xfrm>
          <a:prstGeom prst="rect">
            <a:avLst/>
          </a:prstGeom>
          <a:noFill/>
          <a:ln/>
        </p:spPr>
        <p:txBody>
          <a:bodyPr wrap="square" lIns="0" tIns="0" rIns="0" bIns="0" rtlCol="0" anchor="ctr"/>
          <a:lstStyle/>
          <a:p>
            <a:pPr indent="0" marL="0">
              <a:buNone/>
            </a:pPr>
            <a:r>
              <a:rPr lang="en-US" sz="1000" b="1" spc="500" kern="0" dirty="0">
                <a:solidFill>
                  <a:srgbClr val="8A97AD"/>
                </a:solidFill>
                <a:latin typeface="Consolas" pitchFamily="34" charset="0"/>
                <a:ea typeface="Consolas" pitchFamily="34" charset="-122"/>
                <a:cs typeface="Consolas" pitchFamily="34" charset="-120"/>
              </a:rPr>
              <a:t>21 JAN 2015</a:t>
            </a:r>
            <a:endParaRPr lang="en-US" sz="1000" dirty="0"/>
          </a:p>
        </p:txBody>
      </p:sp>
      <p:sp>
        <p:nvSpPr>
          <p:cNvPr id="28" name="Shape 26"/>
          <p:cNvSpPr/>
          <p:nvPr/>
        </p:nvSpPr>
        <p:spPr>
          <a:xfrm>
            <a:off x="731520" y="3474720"/>
            <a:ext cx="4937760" cy="0"/>
          </a:xfrm>
          <a:prstGeom prst="line">
            <a:avLst/>
          </a:prstGeom>
          <a:noFill/>
          <a:ln w="9525">
            <a:solidFill>
              <a:srgbClr val="2B3A55"/>
            </a:solidFill>
            <a:prstDash val="solid"/>
          </a:ln>
        </p:spPr>
      </p:sp>
      <p:sp>
        <p:nvSpPr>
          <p:cNvPr id="29" name="Text 27"/>
          <p:cNvSpPr/>
          <p:nvPr/>
        </p:nvSpPr>
        <p:spPr>
          <a:xfrm>
            <a:off x="731520" y="3566160"/>
            <a:ext cx="5029200" cy="274320"/>
          </a:xfrm>
          <a:prstGeom prst="rect">
            <a:avLst/>
          </a:prstGeom>
          <a:noFill/>
          <a:ln/>
        </p:spPr>
        <p:txBody>
          <a:bodyPr wrap="square" lIns="0" tIns="0" rIns="0" bIns="0" rtlCol="0" anchor="ctr"/>
          <a:lstStyle/>
          <a:p>
            <a:pPr indent="0" marL="0">
              <a:buNone/>
            </a:pPr>
            <a:r>
              <a:rPr lang="en-US" sz="1000" spc="200" kern="0" dirty="0">
                <a:solidFill>
                  <a:srgbClr val="ECF1F8"/>
                </a:solidFill>
                <a:latin typeface="Consolas" pitchFamily="34" charset="0"/>
                <a:ea typeface="Consolas" pitchFamily="34" charset="-122"/>
                <a:cs typeface="Consolas" pitchFamily="34" charset="-120"/>
              </a:rPr>
              <a:t>F/A-18F  ·  USS THEODORE ROOSEVELT</a:t>
            </a:r>
            <a:endParaRPr lang="en-US" sz="1000" dirty="0"/>
          </a:p>
        </p:txBody>
      </p:sp>
      <p:sp>
        <p:nvSpPr>
          <p:cNvPr id="30" name="Text 28"/>
          <p:cNvSpPr/>
          <p:nvPr/>
        </p:nvSpPr>
        <p:spPr>
          <a:xfrm>
            <a:off x="731520" y="3931920"/>
            <a:ext cx="5029200" cy="1463040"/>
          </a:xfrm>
          <a:prstGeom prst="rect">
            <a:avLst/>
          </a:prstGeom>
          <a:noFill/>
          <a:ln/>
        </p:spPr>
        <p:txBody>
          <a:bodyPr wrap="square" lIns="0" tIns="0" rIns="0" bIns="0" rtlCol="0" anchor="ctr"/>
          <a:lstStyle/>
          <a:p>
            <a:pPr indent="0" marL="0">
              <a:buNone/>
            </a:pPr>
            <a:r>
              <a:rPr lang="en-US" sz="1300" dirty="0">
                <a:solidFill>
                  <a:srgbClr val="ECF1F8"/>
                </a:solidFill>
                <a:latin typeface="Calibri" pitchFamily="34" charset="0"/>
                <a:ea typeface="Calibri" pitchFamily="34" charset="-122"/>
                <a:cs typeface="Calibri" pitchFamily="34" charset="-120"/>
              </a:rPr>
              <a:t>A saucer-shaped object flying against a 120-kt wind, rotating slowly on its axis. Audible pilot reaction: “There’s a whole fleet of them.”</a:t>
            </a:r>
            <a:endParaRPr lang="en-US" sz="1300" dirty="0"/>
          </a:p>
        </p:txBody>
      </p:sp>
      <p:sp>
        <p:nvSpPr>
          <p:cNvPr id="31" name="Shape 29"/>
          <p:cNvSpPr/>
          <p:nvPr/>
        </p:nvSpPr>
        <p:spPr>
          <a:xfrm>
            <a:off x="731520" y="5440680"/>
            <a:ext cx="4937760" cy="685800"/>
          </a:xfrm>
          <a:prstGeom prst="rect">
            <a:avLst/>
          </a:prstGeom>
          <a:solidFill>
            <a:srgbClr val="121B2E"/>
          </a:solidFill>
          <a:ln w="6350">
            <a:solidFill>
              <a:srgbClr val="2B3A55"/>
            </a:solidFill>
            <a:prstDash val="solid"/>
          </a:ln>
        </p:spPr>
      </p:sp>
      <p:sp>
        <p:nvSpPr>
          <p:cNvPr id="32" name="Text 30"/>
          <p:cNvSpPr/>
          <p:nvPr/>
        </p:nvSpPr>
        <p:spPr>
          <a:xfrm>
            <a:off x="868680" y="5532120"/>
            <a:ext cx="182880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ROTATION</a:t>
            </a:r>
            <a:endParaRPr lang="en-US" sz="900" dirty="0"/>
          </a:p>
        </p:txBody>
      </p:sp>
      <p:sp>
        <p:nvSpPr>
          <p:cNvPr id="33" name="Text 31"/>
          <p:cNvSpPr/>
          <p:nvPr/>
        </p:nvSpPr>
        <p:spPr>
          <a:xfrm>
            <a:off x="868680" y="5742432"/>
            <a:ext cx="4663440" cy="365760"/>
          </a:xfrm>
          <a:prstGeom prst="rect">
            <a:avLst/>
          </a:prstGeom>
          <a:noFill/>
          <a:ln/>
        </p:spPr>
        <p:txBody>
          <a:bodyPr wrap="square" lIns="0" tIns="0" rIns="0" bIns="0" rtlCol="0" anchor="ctr"/>
          <a:lstStyle/>
          <a:p>
            <a:pPr indent="0" marL="0">
              <a:buNone/>
            </a:pPr>
            <a:r>
              <a:rPr lang="en-US" sz="1800" dirty="0">
                <a:solidFill>
                  <a:srgbClr val="38D9F0"/>
                </a:solidFill>
                <a:latin typeface="Arial Black" pitchFamily="34" charset="0"/>
                <a:ea typeface="Arial Black" pitchFamily="34" charset="-122"/>
                <a:cs typeface="Arial Black" pitchFamily="34" charset="-120"/>
              </a:rPr>
              <a:t>mid-air</a:t>
            </a:r>
            <a:endParaRPr lang="en-US" sz="1800" dirty="0"/>
          </a:p>
        </p:txBody>
      </p:sp>
      <p:sp>
        <p:nvSpPr>
          <p:cNvPr id="34" name="Shape 32"/>
          <p:cNvSpPr/>
          <p:nvPr/>
        </p:nvSpPr>
        <p:spPr>
          <a:xfrm>
            <a:off x="6217920" y="2194560"/>
            <a:ext cx="5486400" cy="3886200"/>
          </a:xfrm>
          <a:prstGeom prst="rect">
            <a:avLst/>
          </a:prstGeom>
          <a:solidFill>
            <a:srgbClr val="0F1624"/>
          </a:solidFill>
          <a:ln w="9525">
            <a:solidFill>
              <a:srgbClr val="2B3A55"/>
            </a:solidFill>
            <a:prstDash val="solid"/>
          </a:ln>
        </p:spPr>
      </p:sp>
      <p:sp>
        <p:nvSpPr>
          <p:cNvPr id="35" name="Shape 33"/>
          <p:cNvSpPr/>
          <p:nvPr/>
        </p:nvSpPr>
        <p:spPr>
          <a:xfrm>
            <a:off x="6217920" y="2194560"/>
            <a:ext cx="54864" cy="3886200"/>
          </a:xfrm>
          <a:prstGeom prst="rect">
            <a:avLst/>
          </a:prstGeom>
          <a:solidFill>
            <a:srgbClr val="F5B024"/>
          </a:solidFill>
          <a:ln w="12700">
            <a:solidFill>
              <a:srgbClr val="F5B024"/>
            </a:solidFill>
            <a:prstDash val="solid"/>
          </a:ln>
        </p:spPr>
      </p:sp>
      <p:sp>
        <p:nvSpPr>
          <p:cNvPr id="36" name="Text 34"/>
          <p:cNvSpPr/>
          <p:nvPr/>
        </p:nvSpPr>
        <p:spPr>
          <a:xfrm>
            <a:off x="6492240" y="2468880"/>
            <a:ext cx="5029200" cy="685800"/>
          </a:xfrm>
          <a:prstGeom prst="rect">
            <a:avLst/>
          </a:prstGeom>
          <a:noFill/>
          <a:ln/>
        </p:spPr>
        <p:txBody>
          <a:bodyPr wrap="square" lIns="0" tIns="0" rIns="0" bIns="0" rtlCol="0" anchor="ctr"/>
          <a:lstStyle/>
          <a:p>
            <a:pPr indent="0" marL="0">
              <a:buNone/>
            </a:pPr>
            <a:r>
              <a:rPr lang="en-US" sz="3800" dirty="0">
                <a:solidFill>
                  <a:srgbClr val="F5B024"/>
                </a:solidFill>
                <a:latin typeface="Arial Black" pitchFamily="34" charset="0"/>
                <a:ea typeface="Arial Black" pitchFamily="34" charset="-122"/>
                <a:cs typeface="Arial Black" pitchFamily="34" charset="-120"/>
              </a:rPr>
              <a:t>GOFAST</a:t>
            </a:r>
            <a:endParaRPr lang="en-US" sz="3800" dirty="0"/>
          </a:p>
        </p:txBody>
      </p:sp>
      <p:sp>
        <p:nvSpPr>
          <p:cNvPr id="37" name="Text 35"/>
          <p:cNvSpPr/>
          <p:nvPr/>
        </p:nvSpPr>
        <p:spPr>
          <a:xfrm>
            <a:off x="6492240" y="3154680"/>
            <a:ext cx="5029200" cy="274320"/>
          </a:xfrm>
          <a:prstGeom prst="rect">
            <a:avLst/>
          </a:prstGeom>
          <a:noFill/>
          <a:ln/>
        </p:spPr>
        <p:txBody>
          <a:bodyPr wrap="square" lIns="0" tIns="0" rIns="0" bIns="0" rtlCol="0" anchor="ctr"/>
          <a:lstStyle/>
          <a:p>
            <a:pPr indent="0" marL="0">
              <a:buNone/>
            </a:pPr>
            <a:r>
              <a:rPr lang="en-US" sz="1000" b="1" spc="500" kern="0" dirty="0">
                <a:solidFill>
                  <a:srgbClr val="8A97AD"/>
                </a:solidFill>
                <a:latin typeface="Consolas" pitchFamily="34" charset="0"/>
                <a:ea typeface="Consolas" pitchFamily="34" charset="-122"/>
                <a:cs typeface="Consolas" pitchFamily="34" charset="-120"/>
              </a:rPr>
              <a:t>2015</a:t>
            </a:r>
            <a:endParaRPr lang="en-US" sz="1000" dirty="0"/>
          </a:p>
        </p:txBody>
      </p:sp>
      <p:sp>
        <p:nvSpPr>
          <p:cNvPr id="38" name="Shape 36"/>
          <p:cNvSpPr/>
          <p:nvPr/>
        </p:nvSpPr>
        <p:spPr>
          <a:xfrm>
            <a:off x="6492240" y="3474720"/>
            <a:ext cx="4937760" cy="0"/>
          </a:xfrm>
          <a:prstGeom prst="line">
            <a:avLst/>
          </a:prstGeom>
          <a:noFill/>
          <a:ln w="9525">
            <a:solidFill>
              <a:srgbClr val="2B3A55"/>
            </a:solidFill>
            <a:prstDash val="solid"/>
          </a:ln>
        </p:spPr>
      </p:sp>
      <p:sp>
        <p:nvSpPr>
          <p:cNvPr id="39" name="Text 37"/>
          <p:cNvSpPr/>
          <p:nvPr/>
        </p:nvSpPr>
        <p:spPr>
          <a:xfrm>
            <a:off x="6492240" y="3566160"/>
            <a:ext cx="5029200" cy="274320"/>
          </a:xfrm>
          <a:prstGeom prst="rect">
            <a:avLst/>
          </a:prstGeom>
          <a:noFill/>
          <a:ln/>
        </p:spPr>
        <p:txBody>
          <a:bodyPr wrap="square" lIns="0" tIns="0" rIns="0" bIns="0" rtlCol="0" anchor="ctr"/>
          <a:lstStyle/>
          <a:p>
            <a:pPr indent="0" marL="0">
              <a:buNone/>
            </a:pPr>
            <a:r>
              <a:rPr lang="en-US" sz="1000" spc="200" kern="0" dirty="0">
                <a:solidFill>
                  <a:srgbClr val="ECF1F8"/>
                </a:solidFill>
                <a:latin typeface="Consolas" pitchFamily="34" charset="0"/>
                <a:ea typeface="Consolas" pitchFamily="34" charset="-122"/>
                <a:cs typeface="Consolas" pitchFamily="34" charset="-120"/>
              </a:rPr>
              <a:t>F/A-18F  ·  EAST COAST</a:t>
            </a:r>
            <a:endParaRPr lang="en-US" sz="1000" dirty="0"/>
          </a:p>
        </p:txBody>
      </p:sp>
      <p:sp>
        <p:nvSpPr>
          <p:cNvPr id="40" name="Text 38"/>
          <p:cNvSpPr/>
          <p:nvPr/>
        </p:nvSpPr>
        <p:spPr>
          <a:xfrm>
            <a:off x="6492240" y="3931920"/>
            <a:ext cx="5029200" cy="1463040"/>
          </a:xfrm>
          <a:prstGeom prst="rect">
            <a:avLst/>
          </a:prstGeom>
          <a:noFill/>
          <a:ln/>
        </p:spPr>
        <p:txBody>
          <a:bodyPr wrap="square" lIns="0" tIns="0" rIns="0" bIns="0" rtlCol="0" anchor="ctr"/>
          <a:lstStyle/>
          <a:p>
            <a:pPr indent="0" marL="0">
              <a:buNone/>
            </a:pPr>
            <a:r>
              <a:rPr lang="en-US" sz="1300" dirty="0">
                <a:solidFill>
                  <a:srgbClr val="ECF1F8"/>
                </a:solidFill>
                <a:latin typeface="Calibri" pitchFamily="34" charset="0"/>
                <a:ea typeface="Calibri" pitchFamily="34" charset="-122"/>
                <a:cs typeface="Calibri" pitchFamily="34" charset="-120"/>
              </a:rPr>
              <a:t>A small, fast-moving object skimming the ocean surface. Parallax analysis later suggested ~40 kt — but traveling erratically at low altitude.</a:t>
            </a:r>
            <a:endParaRPr lang="en-US" sz="1300" dirty="0"/>
          </a:p>
        </p:txBody>
      </p:sp>
      <p:sp>
        <p:nvSpPr>
          <p:cNvPr id="41" name="Shape 39"/>
          <p:cNvSpPr/>
          <p:nvPr/>
        </p:nvSpPr>
        <p:spPr>
          <a:xfrm>
            <a:off x="6492240" y="5440680"/>
            <a:ext cx="4937760" cy="685800"/>
          </a:xfrm>
          <a:prstGeom prst="rect">
            <a:avLst/>
          </a:prstGeom>
          <a:solidFill>
            <a:srgbClr val="121B2E"/>
          </a:solidFill>
          <a:ln w="6350">
            <a:solidFill>
              <a:srgbClr val="2B3A55"/>
            </a:solidFill>
            <a:prstDash val="solid"/>
          </a:ln>
        </p:spPr>
      </p:sp>
      <p:sp>
        <p:nvSpPr>
          <p:cNvPr id="42" name="Text 40"/>
          <p:cNvSpPr/>
          <p:nvPr/>
        </p:nvSpPr>
        <p:spPr>
          <a:xfrm>
            <a:off x="6629400" y="5532120"/>
            <a:ext cx="182880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ALTITUDE</a:t>
            </a:r>
            <a:endParaRPr lang="en-US" sz="900" dirty="0"/>
          </a:p>
        </p:txBody>
      </p:sp>
      <p:sp>
        <p:nvSpPr>
          <p:cNvPr id="43" name="Text 41"/>
          <p:cNvSpPr/>
          <p:nvPr/>
        </p:nvSpPr>
        <p:spPr>
          <a:xfrm>
            <a:off x="6629400" y="5742432"/>
            <a:ext cx="4663440" cy="365760"/>
          </a:xfrm>
          <a:prstGeom prst="rect">
            <a:avLst/>
          </a:prstGeom>
          <a:noFill/>
          <a:ln/>
        </p:spPr>
        <p:txBody>
          <a:bodyPr wrap="square" lIns="0" tIns="0" rIns="0" bIns="0" rtlCol="0" anchor="ctr"/>
          <a:lstStyle/>
          <a:p>
            <a:pPr indent="0" marL="0">
              <a:buNone/>
            </a:pPr>
            <a:r>
              <a:rPr lang="en-US" sz="1800" dirty="0">
                <a:solidFill>
                  <a:srgbClr val="F5B024"/>
                </a:solidFill>
                <a:latin typeface="Arial Black" pitchFamily="34" charset="0"/>
                <a:ea typeface="Arial Black" pitchFamily="34" charset="-122"/>
                <a:cs typeface="Arial Black" pitchFamily="34" charset="-120"/>
              </a:rPr>
              <a:t>~13,000 ft</a:t>
            </a:r>
            <a:endParaRPr lang="en-US" sz="1800" dirty="0"/>
          </a:p>
        </p:txBody>
      </p:sp>
      <p:sp>
        <p:nvSpPr>
          <p:cNvPr id="44" name="Text 42"/>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DoD formally released both clips on 27 April 2020, authenticating footage that had circulated since 2017.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DOC-026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WITNESSES</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PILOTS ON THE RECORD</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26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04</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Pilots  ·  On the Record</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365760" y="2194560"/>
            <a:ext cx="3657600" cy="3886200"/>
          </a:xfrm>
          <a:prstGeom prst="rect">
            <a:avLst/>
          </a:prstGeom>
          <a:solidFill>
            <a:srgbClr val="0F1624"/>
          </a:solidFill>
          <a:ln w="9525">
            <a:solidFill>
              <a:srgbClr val="2B3A55"/>
            </a:solidFill>
            <a:prstDash val="solid"/>
          </a:ln>
        </p:spPr>
      </p:sp>
      <p:sp>
        <p:nvSpPr>
          <p:cNvPr id="25" name="Shape 23"/>
          <p:cNvSpPr/>
          <p:nvPr/>
        </p:nvSpPr>
        <p:spPr>
          <a:xfrm>
            <a:off x="365760" y="2194560"/>
            <a:ext cx="54864" cy="3886200"/>
          </a:xfrm>
          <a:prstGeom prst="rect">
            <a:avLst/>
          </a:prstGeom>
          <a:solidFill>
            <a:srgbClr val="38D9F0"/>
          </a:solidFill>
          <a:ln w="12700">
            <a:solidFill>
              <a:srgbClr val="38D9F0"/>
            </a:solidFill>
            <a:prstDash val="solid"/>
          </a:ln>
        </p:spPr>
      </p:sp>
      <p:sp>
        <p:nvSpPr>
          <p:cNvPr id="26" name="Shape 24"/>
          <p:cNvSpPr/>
          <p:nvPr/>
        </p:nvSpPr>
        <p:spPr>
          <a:xfrm>
            <a:off x="1645920" y="2606040"/>
            <a:ext cx="1097280" cy="1097280"/>
          </a:xfrm>
          <a:prstGeom prst="ellipse">
            <a:avLst/>
          </a:prstGeom>
          <a:solidFill>
            <a:srgbClr val="121B2E"/>
          </a:solidFill>
          <a:ln w="19050">
            <a:solidFill>
              <a:srgbClr val="38D9F0"/>
            </a:solidFill>
            <a:prstDash val="solid"/>
          </a:ln>
        </p:spPr>
      </p:sp>
      <p:sp>
        <p:nvSpPr>
          <p:cNvPr id="27" name="Shape 25"/>
          <p:cNvSpPr/>
          <p:nvPr/>
        </p:nvSpPr>
        <p:spPr>
          <a:xfrm>
            <a:off x="1874520" y="2834640"/>
            <a:ext cx="640080" cy="640080"/>
          </a:xfrm>
          <a:prstGeom prst="ellipse">
            <a:avLst/>
          </a:prstGeom>
          <a:solidFill>
            <a:srgbClr val="070B14"/>
          </a:solidFill>
          <a:ln w="6350">
            <a:solidFill>
              <a:srgbClr val="38D9F0"/>
            </a:solidFill>
            <a:prstDash val="solid"/>
          </a:ln>
        </p:spPr>
      </p:sp>
      <p:sp>
        <p:nvSpPr>
          <p:cNvPr id="28" name="Text 26"/>
          <p:cNvSpPr/>
          <p:nvPr/>
        </p:nvSpPr>
        <p:spPr>
          <a:xfrm>
            <a:off x="1874520" y="2907792"/>
            <a:ext cx="640080" cy="502920"/>
          </a:xfrm>
          <a:prstGeom prst="rect">
            <a:avLst/>
          </a:prstGeom>
          <a:noFill/>
          <a:ln/>
        </p:spPr>
        <p:txBody>
          <a:bodyPr wrap="square" lIns="0" tIns="0" rIns="0" bIns="0" rtlCol="0" anchor="ctr"/>
          <a:lstStyle/>
          <a:p>
            <a:pPr algn="ctr" indent="0" marL="0">
              <a:buNone/>
            </a:pPr>
            <a:r>
              <a:rPr lang="en-US" sz="1800" dirty="0">
                <a:solidFill>
                  <a:srgbClr val="38D9F0"/>
                </a:solidFill>
                <a:latin typeface="Arial Black" pitchFamily="34" charset="0"/>
                <a:ea typeface="Arial Black" pitchFamily="34" charset="-122"/>
                <a:cs typeface="Arial Black" pitchFamily="34" charset="-120"/>
              </a:rPr>
              <a:t>FR</a:t>
            </a:r>
            <a:endParaRPr lang="en-US" sz="1800" dirty="0"/>
          </a:p>
        </p:txBody>
      </p:sp>
      <p:sp>
        <p:nvSpPr>
          <p:cNvPr id="29" name="Text 27"/>
          <p:cNvSpPr/>
          <p:nvPr/>
        </p:nvSpPr>
        <p:spPr>
          <a:xfrm>
            <a:off x="594360" y="3840480"/>
            <a:ext cx="3291840" cy="365760"/>
          </a:xfrm>
          <a:prstGeom prst="rect">
            <a:avLst/>
          </a:prstGeom>
          <a:noFill/>
          <a:ln/>
        </p:spPr>
        <p:txBody>
          <a:bodyPr wrap="square" lIns="0" tIns="0" rIns="0" bIns="0" rtlCol="0" anchor="ctr"/>
          <a:lstStyle/>
          <a:p>
            <a:pPr algn="ctr" indent="0" marL="0">
              <a:buNone/>
            </a:pPr>
            <a:r>
              <a:rPr lang="en-US" sz="1400" dirty="0">
                <a:solidFill>
                  <a:srgbClr val="ECF1F8"/>
                </a:solidFill>
                <a:latin typeface="Arial Black" pitchFamily="34" charset="0"/>
                <a:ea typeface="Arial Black" pitchFamily="34" charset="-122"/>
                <a:cs typeface="Arial Black" pitchFamily="34" charset="-120"/>
              </a:rPr>
              <a:t>CMDR DAVID FRAVOR</a:t>
            </a:r>
            <a:endParaRPr lang="en-US" sz="1400" dirty="0"/>
          </a:p>
        </p:txBody>
      </p:sp>
      <p:sp>
        <p:nvSpPr>
          <p:cNvPr id="30" name="Text 28"/>
          <p:cNvSpPr/>
          <p:nvPr/>
        </p:nvSpPr>
        <p:spPr>
          <a:xfrm>
            <a:off x="594360" y="4206240"/>
            <a:ext cx="3291840" cy="274320"/>
          </a:xfrm>
          <a:prstGeom prst="rect">
            <a:avLst/>
          </a:prstGeom>
          <a:noFill/>
          <a:ln/>
        </p:spPr>
        <p:txBody>
          <a:bodyPr wrap="square" lIns="0" tIns="0" rIns="0" bIns="0" rtlCol="0" anchor="ctr"/>
          <a:lstStyle/>
          <a:p>
            <a:pPr algn="ctr" indent="0" marL="0">
              <a:buNone/>
            </a:pPr>
            <a:r>
              <a:rPr lang="en-US" sz="900" spc="300" kern="0" dirty="0">
                <a:solidFill>
                  <a:srgbClr val="8A97AD"/>
                </a:solidFill>
                <a:latin typeface="Consolas" pitchFamily="34" charset="0"/>
                <a:ea typeface="Consolas" pitchFamily="34" charset="-122"/>
                <a:cs typeface="Consolas" pitchFamily="34" charset="-120"/>
              </a:rPr>
              <a:t>USN (Ret.)  ·  VFA-41 CO</a:t>
            </a:r>
            <a:endParaRPr lang="en-US" sz="900" dirty="0"/>
          </a:p>
        </p:txBody>
      </p:sp>
      <p:sp>
        <p:nvSpPr>
          <p:cNvPr id="31" name="Shape 29"/>
          <p:cNvSpPr/>
          <p:nvPr/>
        </p:nvSpPr>
        <p:spPr>
          <a:xfrm>
            <a:off x="914400" y="4572000"/>
            <a:ext cx="2560320" cy="0"/>
          </a:xfrm>
          <a:prstGeom prst="line">
            <a:avLst/>
          </a:prstGeom>
          <a:noFill/>
          <a:ln w="9525">
            <a:solidFill>
              <a:srgbClr val="2B3A55"/>
            </a:solidFill>
            <a:prstDash val="solid"/>
          </a:ln>
        </p:spPr>
      </p:sp>
      <p:sp>
        <p:nvSpPr>
          <p:cNvPr id="32" name="Text 30"/>
          <p:cNvSpPr/>
          <p:nvPr/>
        </p:nvSpPr>
        <p:spPr>
          <a:xfrm>
            <a:off x="640080" y="4709160"/>
            <a:ext cx="3200400" cy="1234440"/>
          </a:xfrm>
          <a:prstGeom prst="rect">
            <a:avLst/>
          </a:prstGeom>
          <a:noFill/>
          <a:ln/>
        </p:spPr>
        <p:txBody>
          <a:bodyPr wrap="square" lIns="0" tIns="0" rIns="0" bIns="0" rtlCol="0" anchor="ctr"/>
          <a:lstStyle/>
          <a:p>
            <a:pPr indent="0" marL="0">
              <a:buNone/>
            </a:pPr>
            <a:r>
              <a:rPr lang="en-US" sz="1200" i="1" dirty="0">
                <a:solidFill>
                  <a:srgbClr val="ECF1F8"/>
                </a:solidFill>
                <a:latin typeface="Calibri" pitchFamily="34" charset="0"/>
                <a:ea typeface="Calibri" pitchFamily="34" charset="-122"/>
                <a:cs typeface="Calibri" pitchFamily="34" charset="-120"/>
              </a:rPr>
              <a:t>“It jammed all four of our jets… and it outran us. It was not of this world.”</a:t>
            </a:r>
            <a:endParaRPr lang="en-US" sz="1200" dirty="0"/>
          </a:p>
        </p:txBody>
      </p:sp>
      <p:sp>
        <p:nvSpPr>
          <p:cNvPr id="33" name="Text 31"/>
          <p:cNvSpPr/>
          <p:nvPr/>
        </p:nvSpPr>
        <p:spPr>
          <a:xfrm>
            <a:off x="640080" y="5943600"/>
            <a:ext cx="3200400" cy="274320"/>
          </a:xfrm>
          <a:prstGeom prst="rect">
            <a:avLst/>
          </a:prstGeom>
          <a:noFill/>
          <a:ln/>
        </p:spPr>
        <p:txBody>
          <a:bodyPr wrap="square" lIns="0" tIns="0" rIns="0" bIns="0" rtlCol="0" anchor="ctr"/>
          <a:lstStyle/>
          <a:p>
            <a:pPr indent="0" marL="0">
              <a:buNone/>
            </a:pPr>
            <a:r>
              <a:rPr lang="en-US" sz="850" spc="300" kern="0" dirty="0">
                <a:solidFill>
                  <a:srgbClr val="F5B024"/>
                </a:solidFill>
                <a:latin typeface="Consolas" pitchFamily="34" charset="0"/>
                <a:ea typeface="Consolas" pitchFamily="34" charset="-122"/>
                <a:cs typeface="Consolas" pitchFamily="34" charset="-120"/>
              </a:rPr>
              <a:t>Congressional hearing, 26 Jul 2023</a:t>
            </a:r>
            <a:endParaRPr lang="en-US" sz="850" dirty="0"/>
          </a:p>
        </p:txBody>
      </p:sp>
      <p:sp>
        <p:nvSpPr>
          <p:cNvPr id="34" name="Shape 32"/>
          <p:cNvSpPr/>
          <p:nvPr/>
        </p:nvSpPr>
        <p:spPr>
          <a:xfrm>
            <a:off x="4251960" y="2194560"/>
            <a:ext cx="3657600" cy="3886200"/>
          </a:xfrm>
          <a:prstGeom prst="rect">
            <a:avLst/>
          </a:prstGeom>
          <a:solidFill>
            <a:srgbClr val="0F1624"/>
          </a:solidFill>
          <a:ln w="9525">
            <a:solidFill>
              <a:srgbClr val="2B3A55"/>
            </a:solidFill>
            <a:prstDash val="solid"/>
          </a:ln>
        </p:spPr>
      </p:sp>
      <p:sp>
        <p:nvSpPr>
          <p:cNvPr id="35" name="Shape 33"/>
          <p:cNvSpPr/>
          <p:nvPr/>
        </p:nvSpPr>
        <p:spPr>
          <a:xfrm>
            <a:off x="4251960" y="2194560"/>
            <a:ext cx="54864" cy="3886200"/>
          </a:xfrm>
          <a:prstGeom prst="rect">
            <a:avLst/>
          </a:prstGeom>
          <a:solidFill>
            <a:srgbClr val="38D9F0"/>
          </a:solidFill>
          <a:ln w="12700">
            <a:solidFill>
              <a:srgbClr val="38D9F0"/>
            </a:solidFill>
            <a:prstDash val="solid"/>
          </a:ln>
        </p:spPr>
      </p:sp>
      <p:sp>
        <p:nvSpPr>
          <p:cNvPr id="36" name="Shape 34"/>
          <p:cNvSpPr/>
          <p:nvPr/>
        </p:nvSpPr>
        <p:spPr>
          <a:xfrm>
            <a:off x="5532120" y="2606040"/>
            <a:ext cx="1097280" cy="1097280"/>
          </a:xfrm>
          <a:prstGeom prst="ellipse">
            <a:avLst/>
          </a:prstGeom>
          <a:solidFill>
            <a:srgbClr val="121B2E"/>
          </a:solidFill>
          <a:ln w="19050">
            <a:solidFill>
              <a:srgbClr val="38D9F0"/>
            </a:solidFill>
            <a:prstDash val="solid"/>
          </a:ln>
        </p:spPr>
      </p:sp>
      <p:sp>
        <p:nvSpPr>
          <p:cNvPr id="37" name="Shape 35"/>
          <p:cNvSpPr/>
          <p:nvPr/>
        </p:nvSpPr>
        <p:spPr>
          <a:xfrm>
            <a:off x="5760720" y="2834640"/>
            <a:ext cx="640080" cy="640080"/>
          </a:xfrm>
          <a:prstGeom prst="ellipse">
            <a:avLst/>
          </a:prstGeom>
          <a:solidFill>
            <a:srgbClr val="070B14"/>
          </a:solidFill>
          <a:ln w="6350">
            <a:solidFill>
              <a:srgbClr val="38D9F0"/>
            </a:solidFill>
            <a:prstDash val="solid"/>
          </a:ln>
        </p:spPr>
      </p:sp>
      <p:sp>
        <p:nvSpPr>
          <p:cNvPr id="38" name="Text 36"/>
          <p:cNvSpPr/>
          <p:nvPr/>
        </p:nvSpPr>
        <p:spPr>
          <a:xfrm>
            <a:off x="5760720" y="2907792"/>
            <a:ext cx="640080" cy="502920"/>
          </a:xfrm>
          <a:prstGeom prst="rect">
            <a:avLst/>
          </a:prstGeom>
          <a:noFill/>
          <a:ln/>
        </p:spPr>
        <p:txBody>
          <a:bodyPr wrap="square" lIns="0" tIns="0" rIns="0" bIns="0" rtlCol="0" anchor="ctr"/>
          <a:lstStyle/>
          <a:p>
            <a:pPr algn="ctr" indent="0" marL="0">
              <a:buNone/>
            </a:pPr>
            <a:r>
              <a:rPr lang="en-US" sz="1800" dirty="0">
                <a:solidFill>
                  <a:srgbClr val="38D9F0"/>
                </a:solidFill>
                <a:latin typeface="Arial Black" pitchFamily="34" charset="0"/>
                <a:ea typeface="Arial Black" pitchFamily="34" charset="-122"/>
                <a:cs typeface="Arial Black" pitchFamily="34" charset="-120"/>
              </a:rPr>
              <a:t>DI</a:t>
            </a:r>
            <a:endParaRPr lang="en-US" sz="1800" dirty="0"/>
          </a:p>
        </p:txBody>
      </p:sp>
      <p:sp>
        <p:nvSpPr>
          <p:cNvPr id="39" name="Text 37"/>
          <p:cNvSpPr/>
          <p:nvPr/>
        </p:nvSpPr>
        <p:spPr>
          <a:xfrm>
            <a:off x="4480560" y="3840480"/>
            <a:ext cx="3291840" cy="365760"/>
          </a:xfrm>
          <a:prstGeom prst="rect">
            <a:avLst/>
          </a:prstGeom>
          <a:noFill/>
          <a:ln/>
        </p:spPr>
        <p:txBody>
          <a:bodyPr wrap="square" lIns="0" tIns="0" rIns="0" bIns="0" rtlCol="0" anchor="ctr"/>
          <a:lstStyle/>
          <a:p>
            <a:pPr algn="ctr" indent="0" marL="0">
              <a:buNone/>
            </a:pPr>
            <a:r>
              <a:rPr lang="en-US" sz="1400" dirty="0">
                <a:solidFill>
                  <a:srgbClr val="ECF1F8"/>
                </a:solidFill>
                <a:latin typeface="Arial Black" pitchFamily="34" charset="0"/>
                <a:ea typeface="Arial Black" pitchFamily="34" charset="-122"/>
                <a:cs typeface="Arial Black" pitchFamily="34" charset="-120"/>
              </a:rPr>
              <a:t>LT COL ALEX DIETRICH</a:t>
            </a:r>
            <a:endParaRPr lang="en-US" sz="1400" dirty="0"/>
          </a:p>
        </p:txBody>
      </p:sp>
      <p:sp>
        <p:nvSpPr>
          <p:cNvPr id="40" name="Text 38"/>
          <p:cNvSpPr/>
          <p:nvPr/>
        </p:nvSpPr>
        <p:spPr>
          <a:xfrm>
            <a:off x="4480560" y="4206240"/>
            <a:ext cx="3291840" cy="274320"/>
          </a:xfrm>
          <a:prstGeom prst="rect">
            <a:avLst/>
          </a:prstGeom>
          <a:noFill/>
          <a:ln/>
        </p:spPr>
        <p:txBody>
          <a:bodyPr wrap="square" lIns="0" tIns="0" rIns="0" bIns="0" rtlCol="0" anchor="ctr"/>
          <a:lstStyle/>
          <a:p>
            <a:pPr algn="ctr" indent="0" marL="0">
              <a:buNone/>
            </a:pPr>
            <a:r>
              <a:rPr lang="en-US" sz="900" spc="300" kern="0" dirty="0">
                <a:solidFill>
                  <a:srgbClr val="8A97AD"/>
                </a:solidFill>
                <a:latin typeface="Consolas" pitchFamily="34" charset="0"/>
                <a:ea typeface="Consolas" pitchFamily="34" charset="-122"/>
                <a:cs typeface="Consolas" pitchFamily="34" charset="-120"/>
              </a:rPr>
              <a:t>USN (Ret.)  ·  Wingman, Nimitz</a:t>
            </a:r>
            <a:endParaRPr lang="en-US" sz="900" dirty="0"/>
          </a:p>
        </p:txBody>
      </p:sp>
      <p:sp>
        <p:nvSpPr>
          <p:cNvPr id="41" name="Shape 39"/>
          <p:cNvSpPr/>
          <p:nvPr/>
        </p:nvSpPr>
        <p:spPr>
          <a:xfrm>
            <a:off x="4800600" y="4572000"/>
            <a:ext cx="2560320" cy="0"/>
          </a:xfrm>
          <a:prstGeom prst="line">
            <a:avLst/>
          </a:prstGeom>
          <a:noFill/>
          <a:ln w="9525">
            <a:solidFill>
              <a:srgbClr val="2B3A55"/>
            </a:solidFill>
            <a:prstDash val="solid"/>
          </a:ln>
        </p:spPr>
      </p:sp>
      <p:sp>
        <p:nvSpPr>
          <p:cNvPr id="42" name="Text 40"/>
          <p:cNvSpPr/>
          <p:nvPr/>
        </p:nvSpPr>
        <p:spPr>
          <a:xfrm>
            <a:off x="4526280" y="4709160"/>
            <a:ext cx="3200400" cy="1234440"/>
          </a:xfrm>
          <a:prstGeom prst="rect">
            <a:avLst/>
          </a:prstGeom>
          <a:noFill/>
          <a:ln/>
        </p:spPr>
        <p:txBody>
          <a:bodyPr wrap="square" lIns="0" tIns="0" rIns="0" bIns="0" rtlCol="0" anchor="ctr"/>
          <a:lstStyle/>
          <a:p>
            <a:pPr indent="0" marL="0">
              <a:buNone/>
            </a:pPr>
            <a:r>
              <a:rPr lang="en-US" sz="1200" i="1" dirty="0">
                <a:solidFill>
                  <a:srgbClr val="ECF1F8"/>
                </a:solidFill>
                <a:latin typeface="Calibri" pitchFamily="34" charset="0"/>
                <a:ea typeface="Calibri" pitchFamily="34" charset="-122"/>
                <a:cs typeface="Calibri" pitchFamily="34" charset="-120"/>
              </a:rPr>
              <a:t>“We were close enough that my WSO and I both saw what we saw — and we saw the same thing.”</a:t>
            </a:r>
            <a:endParaRPr lang="en-US" sz="1200" dirty="0"/>
          </a:p>
        </p:txBody>
      </p:sp>
      <p:sp>
        <p:nvSpPr>
          <p:cNvPr id="43" name="Text 41"/>
          <p:cNvSpPr/>
          <p:nvPr/>
        </p:nvSpPr>
        <p:spPr>
          <a:xfrm>
            <a:off x="4526280" y="5943600"/>
            <a:ext cx="3200400" cy="274320"/>
          </a:xfrm>
          <a:prstGeom prst="rect">
            <a:avLst/>
          </a:prstGeom>
          <a:noFill/>
          <a:ln/>
        </p:spPr>
        <p:txBody>
          <a:bodyPr wrap="square" lIns="0" tIns="0" rIns="0" bIns="0" rtlCol="0" anchor="ctr"/>
          <a:lstStyle/>
          <a:p>
            <a:pPr indent="0" marL="0">
              <a:buNone/>
            </a:pPr>
            <a:r>
              <a:rPr lang="en-US" sz="850" spc="300" kern="0" dirty="0">
                <a:solidFill>
                  <a:srgbClr val="F5B024"/>
                </a:solidFill>
                <a:latin typeface="Consolas" pitchFamily="34" charset="0"/>
                <a:ea typeface="Consolas" pitchFamily="34" charset="-122"/>
                <a:cs typeface="Consolas" pitchFamily="34" charset="-120"/>
              </a:rPr>
              <a:t>60 Minutes, May 2021</a:t>
            </a:r>
            <a:endParaRPr lang="en-US" sz="850" dirty="0"/>
          </a:p>
        </p:txBody>
      </p:sp>
      <p:sp>
        <p:nvSpPr>
          <p:cNvPr id="44" name="Shape 42"/>
          <p:cNvSpPr/>
          <p:nvPr/>
        </p:nvSpPr>
        <p:spPr>
          <a:xfrm>
            <a:off x="8138160" y="2194560"/>
            <a:ext cx="3657600" cy="3886200"/>
          </a:xfrm>
          <a:prstGeom prst="rect">
            <a:avLst/>
          </a:prstGeom>
          <a:solidFill>
            <a:srgbClr val="0F1624"/>
          </a:solidFill>
          <a:ln w="9525">
            <a:solidFill>
              <a:srgbClr val="2B3A55"/>
            </a:solidFill>
            <a:prstDash val="solid"/>
          </a:ln>
        </p:spPr>
      </p:sp>
      <p:sp>
        <p:nvSpPr>
          <p:cNvPr id="45" name="Shape 43"/>
          <p:cNvSpPr/>
          <p:nvPr/>
        </p:nvSpPr>
        <p:spPr>
          <a:xfrm>
            <a:off x="8138160" y="2194560"/>
            <a:ext cx="54864" cy="3886200"/>
          </a:xfrm>
          <a:prstGeom prst="rect">
            <a:avLst/>
          </a:prstGeom>
          <a:solidFill>
            <a:srgbClr val="38D9F0"/>
          </a:solidFill>
          <a:ln w="12700">
            <a:solidFill>
              <a:srgbClr val="38D9F0"/>
            </a:solidFill>
            <a:prstDash val="solid"/>
          </a:ln>
        </p:spPr>
      </p:sp>
      <p:sp>
        <p:nvSpPr>
          <p:cNvPr id="46" name="Shape 44"/>
          <p:cNvSpPr/>
          <p:nvPr/>
        </p:nvSpPr>
        <p:spPr>
          <a:xfrm>
            <a:off x="9418320" y="2606040"/>
            <a:ext cx="1097280" cy="1097280"/>
          </a:xfrm>
          <a:prstGeom prst="ellipse">
            <a:avLst/>
          </a:prstGeom>
          <a:solidFill>
            <a:srgbClr val="121B2E"/>
          </a:solidFill>
          <a:ln w="19050">
            <a:solidFill>
              <a:srgbClr val="38D9F0"/>
            </a:solidFill>
            <a:prstDash val="solid"/>
          </a:ln>
        </p:spPr>
      </p:sp>
      <p:sp>
        <p:nvSpPr>
          <p:cNvPr id="47" name="Shape 45"/>
          <p:cNvSpPr/>
          <p:nvPr/>
        </p:nvSpPr>
        <p:spPr>
          <a:xfrm>
            <a:off x="9646920" y="2834640"/>
            <a:ext cx="640080" cy="640080"/>
          </a:xfrm>
          <a:prstGeom prst="ellipse">
            <a:avLst/>
          </a:prstGeom>
          <a:solidFill>
            <a:srgbClr val="070B14"/>
          </a:solidFill>
          <a:ln w="6350">
            <a:solidFill>
              <a:srgbClr val="38D9F0"/>
            </a:solidFill>
            <a:prstDash val="solid"/>
          </a:ln>
        </p:spPr>
      </p:sp>
      <p:sp>
        <p:nvSpPr>
          <p:cNvPr id="48" name="Text 46"/>
          <p:cNvSpPr/>
          <p:nvPr/>
        </p:nvSpPr>
        <p:spPr>
          <a:xfrm>
            <a:off x="9646920" y="2907792"/>
            <a:ext cx="640080" cy="502920"/>
          </a:xfrm>
          <a:prstGeom prst="rect">
            <a:avLst/>
          </a:prstGeom>
          <a:noFill/>
          <a:ln/>
        </p:spPr>
        <p:txBody>
          <a:bodyPr wrap="square" lIns="0" tIns="0" rIns="0" bIns="0" rtlCol="0" anchor="ctr"/>
          <a:lstStyle/>
          <a:p>
            <a:pPr algn="ctr" indent="0" marL="0">
              <a:buNone/>
            </a:pPr>
            <a:r>
              <a:rPr lang="en-US" sz="1800" dirty="0">
                <a:solidFill>
                  <a:srgbClr val="38D9F0"/>
                </a:solidFill>
                <a:latin typeface="Arial Black" pitchFamily="34" charset="0"/>
                <a:ea typeface="Arial Black" pitchFamily="34" charset="-122"/>
                <a:cs typeface="Arial Black" pitchFamily="34" charset="-120"/>
              </a:rPr>
              <a:t>GR</a:t>
            </a:r>
            <a:endParaRPr lang="en-US" sz="1800" dirty="0"/>
          </a:p>
        </p:txBody>
      </p:sp>
      <p:sp>
        <p:nvSpPr>
          <p:cNvPr id="49" name="Text 47"/>
          <p:cNvSpPr/>
          <p:nvPr/>
        </p:nvSpPr>
        <p:spPr>
          <a:xfrm>
            <a:off x="8366760" y="3840480"/>
            <a:ext cx="3291840" cy="365760"/>
          </a:xfrm>
          <a:prstGeom prst="rect">
            <a:avLst/>
          </a:prstGeom>
          <a:noFill/>
          <a:ln/>
        </p:spPr>
        <p:txBody>
          <a:bodyPr wrap="square" lIns="0" tIns="0" rIns="0" bIns="0" rtlCol="0" anchor="ctr"/>
          <a:lstStyle/>
          <a:p>
            <a:pPr algn="ctr" indent="0" marL="0">
              <a:buNone/>
            </a:pPr>
            <a:r>
              <a:rPr lang="en-US" sz="1400" dirty="0">
                <a:solidFill>
                  <a:srgbClr val="ECF1F8"/>
                </a:solidFill>
                <a:latin typeface="Arial Black" pitchFamily="34" charset="0"/>
                <a:ea typeface="Arial Black" pitchFamily="34" charset="-122"/>
                <a:cs typeface="Arial Black" pitchFamily="34" charset="-120"/>
              </a:rPr>
              <a:t>LT RYAN GRAVES</a:t>
            </a:r>
            <a:endParaRPr lang="en-US" sz="1400" dirty="0"/>
          </a:p>
        </p:txBody>
      </p:sp>
      <p:sp>
        <p:nvSpPr>
          <p:cNvPr id="50" name="Text 48"/>
          <p:cNvSpPr/>
          <p:nvPr/>
        </p:nvSpPr>
        <p:spPr>
          <a:xfrm>
            <a:off x="8366760" y="4206240"/>
            <a:ext cx="3291840" cy="274320"/>
          </a:xfrm>
          <a:prstGeom prst="rect">
            <a:avLst/>
          </a:prstGeom>
          <a:noFill/>
          <a:ln/>
        </p:spPr>
        <p:txBody>
          <a:bodyPr wrap="square" lIns="0" tIns="0" rIns="0" bIns="0" rtlCol="0" anchor="ctr"/>
          <a:lstStyle/>
          <a:p>
            <a:pPr algn="ctr" indent="0" marL="0">
              <a:buNone/>
            </a:pPr>
            <a:r>
              <a:rPr lang="en-US" sz="900" spc="300" kern="0" dirty="0">
                <a:solidFill>
                  <a:srgbClr val="8A97AD"/>
                </a:solidFill>
                <a:latin typeface="Consolas" pitchFamily="34" charset="0"/>
                <a:ea typeface="Consolas" pitchFamily="34" charset="-122"/>
                <a:cs typeface="Consolas" pitchFamily="34" charset="-120"/>
              </a:rPr>
              <a:t>USN (Ret.)  ·  VFA-11 / AATIP witness</a:t>
            </a:r>
            <a:endParaRPr lang="en-US" sz="900" dirty="0"/>
          </a:p>
        </p:txBody>
      </p:sp>
      <p:sp>
        <p:nvSpPr>
          <p:cNvPr id="51" name="Shape 49"/>
          <p:cNvSpPr/>
          <p:nvPr/>
        </p:nvSpPr>
        <p:spPr>
          <a:xfrm>
            <a:off x="8686800" y="4572000"/>
            <a:ext cx="2560320" cy="0"/>
          </a:xfrm>
          <a:prstGeom prst="line">
            <a:avLst/>
          </a:prstGeom>
          <a:noFill/>
          <a:ln w="9525">
            <a:solidFill>
              <a:srgbClr val="2B3A55"/>
            </a:solidFill>
            <a:prstDash val="solid"/>
          </a:ln>
        </p:spPr>
      </p:sp>
      <p:sp>
        <p:nvSpPr>
          <p:cNvPr id="52" name="Text 50"/>
          <p:cNvSpPr/>
          <p:nvPr/>
        </p:nvSpPr>
        <p:spPr>
          <a:xfrm>
            <a:off x="8412480" y="4709160"/>
            <a:ext cx="3200400" cy="1234440"/>
          </a:xfrm>
          <a:prstGeom prst="rect">
            <a:avLst/>
          </a:prstGeom>
          <a:noFill/>
          <a:ln/>
        </p:spPr>
        <p:txBody>
          <a:bodyPr wrap="square" lIns="0" tIns="0" rIns="0" bIns="0" rtlCol="0" anchor="ctr"/>
          <a:lstStyle/>
          <a:p>
            <a:pPr indent="0" marL="0">
              <a:buNone/>
            </a:pPr>
            <a:r>
              <a:rPr lang="en-US" sz="1200" i="1" dirty="0">
                <a:solidFill>
                  <a:srgbClr val="ECF1F8"/>
                </a:solidFill>
                <a:latin typeface="Calibri" pitchFamily="34" charset="0"/>
                <a:ea typeface="Calibri" pitchFamily="34" charset="-122"/>
                <a:cs typeface="Calibri" pitchFamily="34" charset="-120"/>
              </a:rPr>
              <a:t>“These things would be out there all day — we saw them almost every day from 2014.”</a:t>
            </a:r>
            <a:endParaRPr lang="en-US" sz="1200" dirty="0"/>
          </a:p>
        </p:txBody>
      </p:sp>
      <p:sp>
        <p:nvSpPr>
          <p:cNvPr id="53" name="Text 51"/>
          <p:cNvSpPr/>
          <p:nvPr/>
        </p:nvSpPr>
        <p:spPr>
          <a:xfrm>
            <a:off x="8412480" y="5943600"/>
            <a:ext cx="3200400" cy="274320"/>
          </a:xfrm>
          <a:prstGeom prst="rect">
            <a:avLst/>
          </a:prstGeom>
          <a:noFill/>
          <a:ln/>
        </p:spPr>
        <p:txBody>
          <a:bodyPr wrap="square" lIns="0" tIns="0" rIns="0" bIns="0" rtlCol="0" anchor="ctr"/>
          <a:lstStyle/>
          <a:p>
            <a:pPr indent="0" marL="0">
              <a:buNone/>
            </a:pPr>
            <a:r>
              <a:rPr lang="en-US" sz="850" spc="300" kern="0" dirty="0">
                <a:solidFill>
                  <a:srgbClr val="F5B024"/>
                </a:solidFill>
                <a:latin typeface="Consolas" pitchFamily="34" charset="0"/>
                <a:ea typeface="Consolas" pitchFamily="34" charset="-122"/>
                <a:cs typeface="Consolas" pitchFamily="34" charset="-120"/>
              </a:rPr>
              <a:t>Congressional hearing, 26 Jul 2023</a:t>
            </a:r>
            <a:endParaRPr lang="en-US" sz="850" dirty="0"/>
          </a:p>
        </p:txBody>
      </p:sp>
      <p:sp>
        <p:nvSpPr>
          <p:cNvPr id="54" name="Text 52"/>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Testimony delivered under oath before the House Oversight Subcommittee, Washington D.C.</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DOC-027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ODNI · JUNE 2021</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ODNI PRELIMINARY ASSESSMENT</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27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05</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ODNI Preliminary Assessment  ·  2021</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66928" y="2148840"/>
            <a:ext cx="2606040" cy="1828800"/>
          </a:xfrm>
          <a:prstGeom prst="rect">
            <a:avLst/>
          </a:prstGeom>
          <a:solidFill>
            <a:srgbClr val="0F1624"/>
          </a:solidFill>
          <a:ln w="9525">
            <a:solidFill>
              <a:srgbClr val="2B3A55"/>
            </a:solidFill>
            <a:prstDash val="solid"/>
          </a:ln>
        </p:spPr>
      </p:sp>
      <p:sp>
        <p:nvSpPr>
          <p:cNvPr id="25" name="Shape 23"/>
          <p:cNvSpPr/>
          <p:nvPr/>
        </p:nvSpPr>
        <p:spPr>
          <a:xfrm>
            <a:off x="566928" y="2148840"/>
            <a:ext cx="54864" cy="1828800"/>
          </a:xfrm>
          <a:prstGeom prst="rect">
            <a:avLst/>
          </a:prstGeom>
          <a:solidFill>
            <a:srgbClr val="E8434C"/>
          </a:solidFill>
          <a:ln w="12700">
            <a:solidFill>
              <a:srgbClr val="E8434C"/>
            </a:solidFill>
            <a:prstDash val="solid"/>
          </a:ln>
        </p:spPr>
      </p:sp>
      <p:sp>
        <p:nvSpPr>
          <p:cNvPr id="26" name="Text 24"/>
          <p:cNvSpPr/>
          <p:nvPr/>
        </p:nvSpPr>
        <p:spPr>
          <a:xfrm>
            <a:off x="795528" y="2377440"/>
            <a:ext cx="2240280" cy="914400"/>
          </a:xfrm>
          <a:prstGeom prst="rect">
            <a:avLst/>
          </a:prstGeom>
          <a:noFill/>
          <a:ln/>
        </p:spPr>
        <p:txBody>
          <a:bodyPr wrap="square" lIns="0" tIns="0" rIns="0" bIns="0" rtlCol="0" anchor="ctr"/>
          <a:lstStyle/>
          <a:p>
            <a:pPr indent="0" marL="0">
              <a:buNone/>
            </a:pPr>
            <a:r>
              <a:rPr lang="en-US" sz="5600" dirty="0">
                <a:solidFill>
                  <a:srgbClr val="E8434C"/>
                </a:solidFill>
                <a:latin typeface="Arial Black" pitchFamily="34" charset="0"/>
                <a:ea typeface="Arial Black" pitchFamily="34" charset="-122"/>
                <a:cs typeface="Arial Black" pitchFamily="34" charset="-120"/>
              </a:rPr>
              <a:t>144</a:t>
            </a:r>
            <a:endParaRPr lang="en-US" sz="5600" dirty="0"/>
          </a:p>
        </p:txBody>
      </p:sp>
      <p:sp>
        <p:nvSpPr>
          <p:cNvPr id="27" name="Text 25"/>
          <p:cNvSpPr/>
          <p:nvPr/>
        </p:nvSpPr>
        <p:spPr>
          <a:xfrm>
            <a:off x="795528" y="3291840"/>
            <a:ext cx="2240280" cy="274320"/>
          </a:xfrm>
          <a:prstGeom prst="rect">
            <a:avLst/>
          </a:prstGeom>
          <a:noFill/>
          <a:ln/>
        </p:spPr>
        <p:txBody>
          <a:bodyPr wrap="square" lIns="0" tIns="0" rIns="0" bIns="0" rtlCol="0" anchor="ctr"/>
          <a:lstStyle/>
          <a:p>
            <a:pPr indent="0" marL="0">
              <a:buNone/>
            </a:pPr>
            <a:r>
              <a:rPr lang="en-US" sz="950" b="1" spc="400" kern="0" dirty="0">
                <a:solidFill>
                  <a:srgbClr val="8A97AD"/>
                </a:solidFill>
                <a:latin typeface="Consolas" pitchFamily="34" charset="0"/>
                <a:ea typeface="Consolas" pitchFamily="34" charset="-122"/>
                <a:cs typeface="Consolas" pitchFamily="34" charset="-120"/>
              </a:rPr>
              <a:t>INCIDENTS REVIEWED</a:t>
            </a:r>
            <a:endParaRPr lang="en-US" sz="950" dirty="0"/>
          </a:p>
        </p:txBody>
      </p:sp>
      <p:sp>
        <p:nvSpPr>
          <p:cNvPr id="28" name="Text 26"/>
          <p:cNvSpPr/>
          <p:nvPr/>
        </p:nvSpPr>
        <p:spPr>
          <a:xfrm>
            <a:off x="795528" y="3566160"/>
            <a:ext cx="2240280" cy="320040"/>
          </a:xfrm>
          <a:prstGeom prst="rect">
            <a:avLst/>
          </a:prstGeom>
          <a:noFill/>
          <a:ln/>
        </p:spPr>
        <p:txBody>
          <a:bodyPr wrap="square" lIns="0" tIns="0" rIns="0" bIns="0" rtlCol="0" anchor="ctr"/>
          <a:lstStyle/>
          <a:p>
            <a:pPr indent="0" marL="0">
              <a:buNone/>
            </a:pPr>
            <a:r>
              <a:rPr lang="en-US" sz="900" spc="200" kern="0" dirty="0">
                <a:solidFill>
                  <a:srgbClr val="5C6A83"/>
                </a:solidFill>
                <a:latin typeface="Consolas" pitchFamily="34" charset="0"/>
                <a:ea typeface="Consolas" pitchFamily="34" charset="-122"/>
                <a:cs typeface="Consolas" pitchFamily="34" charset="-120"/>
              </a:rPr>
              <a:t>2004 – 2021</a:t>
            </a:r>
            <a:endParaRPr lang="en-US" sz="900" dirty="0"/>
          </a:p>
        </p:txBody>
      </p:sp>
      <p:sp>
        <p:nvSpPr>
          <p:cNvPr id="29" name="Shape 27"/>
          <p:cNvSpPr/>
          <p:nvPr/>
        </p:nvSpPr>
        <p:spPr>
          <a:xfrm>
            <a:off x="3374136" y="2148840"/>
            <a:ext cx="2606040" cy="1828800"/>
          </a:xfrm>
          <a:prstGeom prst="rect">
            <a:avLst/>
          </a:prstGeom>
          <a:solidFill>
            <a:srgbClr val="0F1624"/>
          </a:solidFill>
          <a:ln w="9525">
            <a:solidFill>
              <a:srgbClr val="2B3A55"/>
            </a:solidFill>
            <a:prstDash val="solid"/>
          </a:ln>
        </p:spPr>
      </p:sp>
      <p:sp>
        <p:nvSpPr>
          <p:cNvPr id="30" name="Shape 28"/>
          <p:cNvSpPr/>
          <p:nvPr/>
        </p:nvSpPr>
        <p:spPr>
          <a:xfrm>
            <a:off x="3374136" y="2148840"/>
            <a:ext cx="54864" cy="1828800"/>
          </a:xfrm>
          <a:prstGeom prst="rect">
            <a:avLst/>
          </a:prstGeom>
          <a:solidFill>
            <a:srgbClr val="E8434C"/>
          </a:solidFill>
          <a:ln w="12700">
            <a:solidFill>
              <a:srgbClr val="E8434C"/>
            </a:solidFill>
            <a:prstDash val="solid"/>
          </a:ln>
        </p:spPr>
      </p:sp>
      <p:sp>
        <p:nvSpPr>
          <p:cNvPr id="31" name="Text 29"/>
          <p:cNvSpPr/>
          <p:nvPr/>
        </p:nvSpPr>
        <p:spPr>
          <a:xfrm>
            <a:off x="3602736" y="2377440"/>
            <a:ext cx="2240280" cy="914400"/>
          </a:xfrm>
          <a:prstGeom prst="rect">
            <a:avLst/>
          </a:prstGeom>
          <a:noFill/>
          <a:ln/>
        </p:spPr>
        <p:txBody>
          <a:bodyPr wrap="square" lIns="0" tIns="0" rIns="0" bIns="0" rtlCol="0" anchor="ctr"/>
          <a:lstStyle/>
          <a:p>
            <a:pPr indent="0" marL="0">
              <a:buNone/>
            </a:pPr>
            <a:r>
              <a:rPr lang="en-US" sz="5600" dirty="0">
                <a:solidFill>
                  <a:srgbClr val="E8434C"/>
                </a:solidFill>
                <a:latin typeface="Arial Black" pitchFamily="34" charset="0"/>
                <a:ea typeface="Arial Black" pitchFamily="34" charset="-122"/>
                <a:cs typeface="Arial Black" pitchFamily="34" charset="-120"/>
              </a:rPr>
              <a:t>143</a:t>
            </a:r>
            <a:endParaRPr lang="en-US" sz="5600" dirty="0"/>
          </a:p>
        </p:txBody>
      </p:sp>
      <p:sp>
        <p:nvSpPr>
          <p:cNvPr id="32" name="Text 30"/>
          <p:cNvSpPr/>
          <p:nvPr/>
        </p:nvSpPr>
        <p:spPr>
          <a:xfrm>
            <a:off x="3602736" y="3291840"/>
            <a:ext cx="2240280" cy="274320"/>
          </a:xfrm>
          <a:prstGeom prst="rect">
            <a:avLst/>
          </a:prstGeom>
          <a:noFill/>
          <a:ln/>
        </p:spPr>
        <p:txBody>
          <a:bodyPr wrap="square" lIns="0" tIns="0" rIns="0" bIns="0" rtlCol="0" anchor="ctr"/>
          <a:lstStyle/>
          <a:p>
            <a:pPr indent="0" marL="0">
              <a:buNone/>
            </a:pPr>
            <a:r>
              <a:rPr lang="en-US" sz="950" b="1" spc="400" kern="0" dirty="0">
                <a:solidFill>
                  <a:srgbClr val="8A97AD"/>
                </a:solidFill>
                <a:latin typeface="Consolas" pitchFamily="34" charset="0"/>
                <a:ea typeface="Consolas" pitchFamily="34" charset="-122"/>
                <a:cs typeface="Consolas" pitchFamily="34" charset="-120"/>
              </a:rPr>
              <a:t>UNRESOLVED</a:t>
            </a:r>
            <a:endParaRPr lang="en-US" sz="950" dirty="0"/>
          </a:p>
        </p:txBody>
      </p:sp>
      <p:sp>
        <p:nvSpPr>
          <p:cNvPr id="33" name="Text 31"/>
          <p:cNvSpPr/>
          <p:nvPr/>
        </p:nvSpPr>
        <p:spPr>
          <a:xfrm>
            <a:off x="3602736" y="3566160"/>
            <a:ext cx="2240280" cy="320040"/>
          </a:xfrm>
          <a:prstGeom prst="rect">
            <a:avLst/>
          </a:prstGeom>
          <a:noFill/>
          <a:ln/>
        </p:spPr>
        <p:txBody>
          <a:bodyPr wrap="square" lIns="0" tIns="0" rIns="0" bIns="0" rtlCol="0" anchor="ctr"/>
          <a:lstStyle/>
          <a:p>
            <a:pPr indent="0" marL="0">
              <a:buNone/>
            </a:pPr>
            <a:r>
              <a:rPr lang="en-US" sz="900" spc="200" kern="0" dirty="0">
                <a:solidFill>
                  <a:srgbClr val="5C6A83"/>
                </a:solidFill>
                <a:latin typeface="Consolas" pitchFamily="34" charset="0"/>
                <a:ea typeface="Consolas" pitchFamily="34" charset="-122"/>
                <a:cs typeface="Consolas" pitchFamily="34" charset="-120"/>
              </a:rPr>
              <a:t>insufficient data</a:t>
            </a:r>
            <a:endParaRPr lang="en-US" sz="900" dirty="0"/>
          </a:p>
        </p:txBody>
      </p:sp>
      <p:sp>
        <p:nvSpPr>
          <p:cNvPr id="34" name="Shape 32"/>
          <p:cNvSpPr/>
          <p:nvPr/>
        </p:nvSpPr>
        <p:spPr>
          <a:xfrm>
            <a:off x="6181344" y="2148840"/>
            <a:ext cx="2606040" cy="1828800"/>
          </a:xfrm>
          <a:prstGeom prst="rect">
            <a:avLst/>
          </a:prstGeom>
          <a:solidFill>
            <a:srgbClr val="0F1624"/>
          </a:solidFill>
          <a:ln w="9525">
            <a:solidFill>
              <a:srgbClr val="2B3A55"/>
            </a:solidFill>
            <a:prstDash val="solid"/>
          </a:ln>
        </p:spPr>
      </p:sp>
      <p:sp>
        <p:nvSpPr>
          <p:cNvPr id="35" name="Shape 33"/>
          <p:cNvSpPr/>
          <p:nvPr/>
        </p:nvSpPr>
        <p:spPr>
          <a:xfrm>
            <a:off x="6181344" y="2148840"/>
            <a:ext cx="54864" cy="1828800"/>
          </a:xfrm>
          <a:prstGeom prst="rect">
            <a:avLst/>
          </a:prstGeom>
          <a:solidFill>
            <a:srgbClr val="38D9F0"/>
          </a:solidFill>
          <a:ln w="12700">
            <a:solidFill>
              <a:srgbClr val="38D9F0"/>
            </a:solidFill>
            <a:prstDash val="solid"/>
          </a:ln>
        </p:spPr>
      </p:sp>
      <p:sp>
        <p:nvSpPr>
          <p:cNvPr id="36" name="Text 34"/>
          <p:cNvSpPr/>
          <p:nvPr/>
        </p:nvSpPr>
        <p:spPr>
          <a:xfrm>
            <a:off x="6409944" y="2377440"/>
            <a:ext cx="2240280" cy="914400"/>
          </a:xfrm>
          <a:prstGeom prst="rect">
            <a:avLst/>
          </a:prstGeom>
          <a:noFill/>
          <a:ln/>
        </p:spPr>
        <p:txBody>
          <a:bodyPr wrap="square" lIns="0" tIns="0" rIns="0" bIns="0" rtlCol="0" anchor="ctr"/>
          <a:lstStyle/>
          <a:p>
            <a:pPr indent="0" marL="0">
              <a:buNone/>
            </a:pPr>
            <a:r>
              <a:rPr lang="en-US" sz="5600" dirty="0">
                <a:solidFill>
                  <a:srgbClr val="38D9F0"/>
                </a:solidFill>
                <a:latin typeface="Arial Black" pitchFamily="34" charset="0"/>
                <a:ea typeface="Arial Black" pitchFamily="34" charset="-122"/>
                <a:cs typeface="Arial Black" pitchFamily="34" charset="-120"/>
              </a:rPr>
              <a:t>80</a:t>
            </a:r>
            <a:endParaRPr lang="en-US" sz="5600" dirty="0"/>
          </a:p>
        </p:txBody>
      </p:sp>
      <p:sp>
        <p:nvSpPr>
          <p:cNvPr id="37" name="Text 35"/>
          <p:cNvSpPr/>
          <p:nvPr/>
        </p:nvSpPr>
        <p:spPr>
          <a:xfrm>
            <a:off x="6409944" y="3291840"/>
            <a:ext cx="2240280" cy="274320"/>
          </a:xfrm>
          <a:prstGeom prst="rect">
            <a:avLst/>
          </a:prstGeom>
          <a:noFill/>
          <a:ln/>
        </p:spPr>
        <p:txBody>
          <a:bodyPr wrap="square" lIns="0" tIns="0" rIns="0" bIns="0" rtlCol="0" anchor="ctr"/>
          <a:lstStyle/>
          <a:p>
            <a:pPr indent="0" marL="0">
              <a:buNone/>
            </a:pPr>
            <a:r>
              <a:rPr lang="en-US" sz="950" b="1" spc="400" kern="0" dirty="0">
                <a:solidFill>
                  <a:srgbClr val="8A97AD"/>
                </a:solidFill>
                <a:latin typeface="Consolas" pitchFamily="34" charset="0"/>
                <a:ea typeface="Consolas" pitchFamily="34" charset="-122"/>
                <a:cs typeface="Consolas" pitchFamily="34" charset="-120"/>
              </a:rPr>
              <a:t>MULTI-SENSOR</a:t>
            </a:r>
            <a:endParaRPr lang="en-US" sz="950" dirty="0"/>
          </a:p>
        </p:txBody>
      </p:sp>
      <p:sp>
        <p:nvSpPr>
          <p:cNvPr id="38" name="Text 36"/>
          <p:cNvSpPr/>
          <p:nvPr/>
        </p:nvSpPr>
        <p:spPr>
          <a:xfrm>
            <a:off x="6409944" y="3566160"/>
            <a:ext cx="2240280" cy="320040"/>
          </a:xfrm>
          <a:prstGeom prst="rect">
            <a:avLst/>
          </a:prstGeom>
          <a:noFill/>
          <a:ln/>
        </p:spPr>
        <p:txBody>
          <a:bodyPr wrap="square" lIns="0" tIns="0" rIns="0" bIns="0" rtlCol="0" anchor="ctr"/>
          <a:lstStyle/>
          <a:p>
            <a:pPr indent="0" marL="0">
              <a:buNone/>
            </a:pPr>
            <a:r>
              <a:rPr lang="en-US" sz="900" spc="200" kern="0" dirty="0">
                <a:solidFill>
                  <a:srgbClr val="5C6A83"/>
                </a:solidFill>
                <a:latin typeface="Consolas" pitchFamily="34" charset="0"/>
                <a:ea typeface="Consolas" pitchFamily="34" charset="-122"/>
                <a:cs typeface="Consolas" pitchFamily="34" charset="-120"/>
              </a:rPr>
              <a:t>radar + optical + IR</a:t>
            </a:r>
            <a:endParaRPr lang="en-US" sz="900" dirty="0"/>
          </a:p>
        </p:txBody>
      </p:sp>
      <p:sp>
        <p:nvSpPr>
          <p:cNvPr id="39" name="Shape 37"/>
          <p:cNvSpPr/>
          <p:nvPr/>
        </p:nvSpPr>
        <p:spPr>
          <a:xfrm>
            <a:off x="8988552" y="2148840"/>
            <a:ext cx="2606040" cy="1828800"/>
          </a:xfrm>
          <a:prstGeom prst="rect">
            <a:avLst/>
          </a:prstGeom>
          <a:solidFill>
            <a:srgbClr val="0F1624"/>
          </a:solidFill>
          <a:ln w="9525">
            <a:solidFill>
              <a:srgbClr val="2B3A55"/>
            </a:solidFill>
            <a:prstDash val="solid"/>
          </a:ln>
        </p:spPr>
      </p:sp>
      <p:sp>
        <p:nvSpPr>
          <p:cNvPr id="40" name="Shape 38"/>
          <p:cNvSpPr/>
          <p:nvPr/>
        </p:nvSpPr>
        <p:spPr>
          <a:xfrm>
            <a:off x="8988552" y="2148840"/>
            <a:ext cx="54864" cy="1828800"/>
          </a:xfrm>
          <a:prstGeom prst="rect">
            <a:avLst/>
          </a:prstGeom>
          <a:solidFill>
            <a:srgbClr val="38D9F0"/>
          </a:solidFill>
          <a:ln w="12700">
            <a:solidFill>
              <a:srgbClr val="38D9F0"/>
            </a:solidFill>
            <a:prstDash val="solid"/>
          </a:ln>
        </p:spPr>
      </p:sp>
      <p:sp>
        <p:nvSpPr>
          <p:cNvPr id="41" name="Text 39"/>
          <p:cNvSpPr/>
          <p:nvPr/>
        </p:nvSpPr>
        <p:spPr>
          <a:xfrm>
            <a:off x="9217152" y="2377440"/>
            <a:ext cx="2240280" cy="914400"/>
          </a:xfrm>
          <a:prstGeom prst="rect">
            <a:avLst/>
          </a:prstGeom>
          <a:noFill/>
          <a:ln/>
        </p:spPr>
        <p:txBody>
          <a:bodyPr wrap="square" lIns="0" tIns="0" rIns="0" bIns="0" rtlCol="0" anchor="ctr"/>
          <a:lstStyle/>
          <a:p>
            <a:pPr indent="0" marL="0">
              <a:buNone/>
            </a:pPr>
            <a:r>
              <a:rPr lang="en-US" sz="5600" dirty="0">
                <a:solidFill>
                  <a:srgbClr val="38D9F0"/>
                </a:solidFill>
                <a:latin typeface="Arial Black" pitchFamily="34" charset="0"/>
                <a:ea typeface="Arial Black" pitchFamily="34" charset="-122"/>
                <a:cs typeface="Arial Black" pitchFamily="34" charset="-120"/>
              </a:rPr>
              <a:t>18</a:t>
            </a:r>
            <a:endParaRPr lang="en-US" sz="5600" dirty="0"/>
          </a:p>
        </p:txBody>
      </p:sp>
      <p:sp>
        <p:nvSpPr>
          <p:cNvPr id="42" name="Text 40"/>
          <p:cNvSpPr/>
          <p:nvPr/>
        </p:nvSpPr>
        <p:spPr>
          <a:xfrm>
            <a:off x="9217152" y="3291840"/>
            <a:ext cx="2240280" cy="274320"/>
          </a:xfrm>
          <a:prstGeom prst="rect">
            <a:avLst/>
          </a:prstGeom>
          <a:noFill/>
          <a:ln/>
        </p:spPr>
        <p:txBody>
          <a:bodyPr wrap="square" lIns="0" tIns="0" rIns="0" bIns="0" rtlCol="0" anchor="ctr"/>
          <a:lstStyle/>
          <a:p>
            <a:pPr indent="0" marL="0">
              <a:buNone/>
            </a:pPr>
            <a:r>
              <a:rPr lang="en-US" sz="950" b="1" spc="400" kern="0" dirty="0">
                <a:solidFill>
                  <a:srgbClr val="8A97AD"/>
                </a:solidFill>
                <a:latin typeface="Consolas" pitchFamily="34" charset="0"/>
                <a:ea typeface="Consolas" pitchFamily="34" charset="-122"/>
                <a:cs typeface="Consolas" pitchFamily="34" charset="-120"/>
              </a:rPr>
              <a:t>UNUSUAL MOVEMENT</a:t>
            </a:r>
            <a:endParaRPr lang="en-US" sz="950" dirty="0"/>
          </a:p>
        </p:txBody>
      </p:sp>
      <p:sp>
        <p:nvSpPr>
          <p:cNvPr id="43" name="Text 41"/>
          <p:cNvSpPr/>
          <p:nvPr/>
        </p:nvSpPr>
        <p:spPr>
          <a:xfrm>
            <a:off x="9217152" y="3566160"/>
            <a:ext cx="2240280" cy="320040"/>
          </a:xfrm>
          <a:prstGeom prst="rect">
            <a:avLst/>
          </a:prstGeom>
          <a:noFill/>
          <a:ln/>
        </p:spPr>
        <p:txBody>
          <a:bodyPr wrap="square" lIns="0" tIns="0" rIns="0" bIns="0" rtlCol="0" anchor="ctr"/>
          <a:lstStyle/>
          <a:p>
            <a:pPr indent="0" marL="0">
              <a:buNone/>
            </a:pPr>
            <a:r>
              <a:rPr lang="en-US" sz="900" spc="200" kern="0" dirty="0">
                <a:solidFill>
                  <a:srgbClr val="5C6A83"/>
                </a:solidFill>
                <a:latin typeface="Consolas" pitchFamily="34" charset="0"/>
                <a:ea typeface="Consolas" pitchFamily="34" charset="-122"/>
                <a:cs typeface="Consolas" pitchFamily="34" charset="-120"/>
              </a:rPr>
              <a:t>“appear to remain stationary”</a:t>
            </a:r>
            <a:endParaRPr lang="en-US" sz="900" dirty="0"/>
          </a:p>
        </p:txBody>
      </p:sp>
      <p:sp>
        <p:nvSpPr>
          <p:cNvPr id="44" name="Shape 42"/>
          <p:cNvSpPr/>
          <p:nvPr/>
        </p:nvSpPr>
        <p:spPr>
          <a:xfrm>
            <a:off x="548640" y="4343400"/>
            <a:ext cx="11064240" cy="1691640"/>
          </a:xfrm>
          <a:prstGeom prst="rect">
            <a:avLst/>
          </a:prstGeom>
          <a:solidFill>
            <a:srgbClr val="0F1624"/>
          </a:solidFill>
          <a:ln w="9525">
            <a:solidFill>
              <a:srgbClr val="2B3A55"/>
            </a:solidFill>
            <a:prstDash val="solid"/>
          </a:ln>
        </p:spPr>
      </p:sp>
      <p:sp>
        <p:nvSpPr>
          <p:cNvPr id="45" name="Shape 43"/>
          <p:cNvSpPr/>
          <p:nvPr/>
        </p:nvSpPr>
        <p:spPr>
          <a:xfrm>
            <a:off x="548640" y="4343400"/>
            <a:ext cx="54864" cy="1691640"/>
          </a:xfrm>
          <a:prstGeom prst="rect">
            <a:avLst/>
          </a:prstGeom>
          <a:solidFill>
            <a:srgbClr val="F5B024"/>
          </a:solidFill>
          <a:ln w="12700">
            <a:solidFill>
              <a:srgbClr val="F5B024"/>
            </a:solidFill>
            <a:prstDash val="solid"/>
          </a:ln>
        </p:spPr>
      </p:sp>
      <p:sp>
        <p:nvSpPr>
          <p:cNvPr id="46" name="Text 44"/>
          <p:cNvSpPr/>
          <p:nvPr/>
        </p:nvSpPr>
        <p:spPr>
          <a:xfrm>
            <a:off x="777240" y="4462272"/>
            <a:ext cx="10607040" cy="274320"/>
          </a:xfrm>
          <a:prstGeom prst="rect">
            <a:avLst/>
          </a:prstGeom>
          <a:noFill/>
          <a:ln/>
        </p:spPr>
        <p:txBody>
          <a:bodyPr wrap="square" lIns="0" tIns="0" rIns="0" bIns="0" rtlCol="0" anchor="ctr"/>
          <a:lstStyle/>
          <a:p>
            <a:pPr indent="0" marL="0">
              <a:buNone/>
            </a:pPr>
            <a:r>
              <a:rPr lang="en-US" sz="1000" b="1" spc="500" kern="0" dirty="0">
                <a:solidFill>
                  <a:srgbClr val="F5B024"/>
                </a:solidFill>
                <a:latin typeface="Consolas" pitchFamily="34" charset="0"/>
                <a:ea typeface="Consolas" pitchFamily="34" charset="-122"/>
                <a:cs typeface="Consolas" pitchFamily="34" charset="-120"/>
              </a:rPr>
              <a:t>FIVE POTENTIAL EXPLANATORY CATEGORIES</a:t>
            </a:r>
            <a:endParaRPr lang="en-US" sz="1000" dirty="0"/>
          </a:p>
        </p:txBody>
      </p:sp>
      <p:sp>
        <p:nvSpPr>
          <p:cNvPr id="47" name="Text 45"/>
          <p:cNvSpPr/>
          <p:nvPr/>
        </p:nvSpPr>
        <p:spPr>
          <a:xfrm>
            <a:off x="777240" y="4773168"/>
            <a:ext cx="2029968" cy="292608"/>
          </a:xfrm>
          <a:prstGeom prst="rect">
            <a:avLst/>
          </a:prstGeom>
          <a:noFill/>
          <a:ln/>
        </p:spPr>
        <p:txBody>
          <a:bodyPr wrap="square" lIns="0" tIns="0" rIns="0" bIns="0" rtlCol="0" anchor="ctr"/>
          <a:lstStyle/>
          <a:p>
            <a:pPr indent="0" marL="0">
              <a:buNone/>
            </a:pPr>
            <a:r>
              <a:rPr lang="en-US" sz="1600" dirty="0">
                <a:solidFill>
                  <a:srgbClr val="38D9F0"/>
                </a:solidFill>
                <a:latin typeface="Arial Black" pitchFamily="34" charset="0"/>
                <a:ea typeface="Arial Black" pitchFamily="34" charset="-122"/>
                <a:cs typeface="Arial Black" pitchFamily="34" charset="-120"/>
              </a:rPr>
              <a:t>01</a:t>
            </a:r>
            <a:endParaRPr lang="en-US" sz="1600" dirty="0"/>
          </a:p>
        </p:txBody>
      </p:sp>
      <p:sp>
        <p:nvSpPr>
          <p:cNvPr id="48" name="Text 46"/>
          <p:cNvSpPr/>
          <p:nvPr/>
        </p:nvSpPr>
        <p:spPr>
          <a:xfrm>
            <a:off x="777240" y="5074920"/>
            <a:ext cx="2029968" cy="274320"/>
          </a:xfrm>
          <a:prstGeom prst="rect">
            <a:avLst/>
          </a:prstGeom>
          <a:noFill/>
          <a:ln/>
        </p:spPr>
        <p:txBody>
          <a:bodyPr wrap="square" lIns="0" tIns="0" rIns="0" bIns="0" rtlCol="0" anchor="ctr"/>
          <a:lstStyle/>
          <a:p>
            <a:pPr indent="0" marL="0">
              <a:buNone/>
            </a:pPr>
            <a:r>
              <a:rPr lang="en-US" sz="950" b="1" spc="200" kern="0" dirty="0">
                <a:solidFill>
                  <a:srgbClr val="ECF1F8"/>
                </a:solidFill>
                <a:latin typeface="Consolas" pitchFamily="34" charset="0"/>
                <a:ea typeface="Consolas" pitchFamily="34" charset="-122"/>
                <a:cs typeface="Consolas" pitchFamily="34" charset="-120"/>
              </a:rPr>
              <a:t>AIRBORNE CLUTTER</a:t>
            </a:r>
            <a:endParaRPr lang="en-US" sz="950" dirty="0"/>
          </a:p>
        </p:txBody>
      </p:sp>
      <p:sp>
        <p:nvSpPr>
          <p:cNvPr id="49" name="Text 47"/>
          <p:cNvSpPr/>
          <p:nvPr/>
        </p:nvSpPr>
        <p:spPr>
          <a:xfrm>
            <a:off x="777240" y="5376672"/>
            <a:ext cx="1984248" cy="640080"/>
          </a:xfrm>
          <a:prstGeom prst="rect">
            <a:avLst/>
          </a:prstGeom>
          <a:noFill/>
          <a:ln/>
        </p:spPr>
        <p:txBody>
          <a:bodyPr wrap="square" lIns="0" tIns="0" rIns="0" bIns="0" rtlCol="0" anchor="ctr"/>
          <a:lstStyle/>
          <a:p>
            <a:pPr indent="0" marL="0">
              <a:buNone/>
            </a:pPr>
            <a:r>
              <a:rPr lang="en-US" sz="1050" i="1" dirty="0">
                <a:solidFill>
                  <a:srgbClr val="8A97AD"/>
                </a:solidFill>
                <a:latin typeface="Calibri" pitchFamily="34" charset="0"/>
                <a:ea typeface="Calibri" pitchFamily="34" charset="-122"/>
                <a:cs typeface="Calibri" pitchFamily="34" charset="-120"/>
              </a:rPr>
              <a:t>birds, plastic bags, debris</a:t>
            </a:r>
            <a:endParaRPr lang="en-US" sz="1050" dirty="0"/>
          </a:p>
        </p:txBody>
      </p:sp>
      <p:sp>
        <p:nvSpPr>
          <p:cNvPr id="50" name="Text 48"/>
          <p:cNvSpPr/>
          <p:nvPr/>
        </p:nvSpPr>
        <p:spPr>
          <a:xfrm>
            <a:off x="2898648" y="4773168"/>
            <a:ext cx="2029968" cy="292608"/>
          </a:xfrm>
          <a:prstGeom prst="rect">
            <a:avLst/>
          </a:prstGeom>
          <a:noFill/>
          <a:ln/>
        </p:spPr>
        <p:txBody>
          <a:bodyPr wrap="square" lIns="0" tIns="0" rIns="0" bIns="0" rtlCol="0" anchor="ctr"/>
          <a:lstStyle/>
          <a:p>
            <a:pPr indent="0" marL="0">
              <a:buNone/>
            </a:pPr>
            <a:r>
              <a:rPr lang="en-US" sz="1600" dirty="0">
                <a:solidFill>
                  <a:srgbClr val="38D9F0"/>
                </a:solidFill>
                <a:latin typeface="Arial Black" pitchFamily="34" charset="0"/>
                <a:ea typeface="Arial Black" pitchFamily="34" charset="-122"/>
                <a:cs typeface="Arial Black" pitchFamily="34" charset="-120"/>
              </a:rPr>
              <a:t>02</a:t>
            </a:r>
            <a:endParaRPr lang="en-US" sz="1600" dirty="0"/>
          </a:p>
        </p:txBody>
      </p:sp>
      <p:sp>
        <p:nvSpPr>
          <p:cNvPr id="51" name="Text 49"/>
          <p:cNvSpPr/>
          <p:nvPr/>
        </p:nvSpPr>
        <p:spPr>
          <a:xfrm>
            <a:off x="2898648" y="5074920"/>
            <a:ext cx="2029968" cy="274320"/>
          </a:xfrm>
          <a:prstGeom prst="rect">
            <a:avLst/>
          </a:prstGeom>
          <a:noFill/>
          <a:ln/>
        </p:spPr>
        <p:txBody>
          <a:bodyPr wrap="square" lIns="0" tIns="0" rIns="0" bIns="0" rtlCol="0" anchor="ctr"/>
          <a:lstStyle/>
          <a:p>
            <a:pPr indent="0" marL="0">
              <a:buNone/>
            </a:pPr>
            <a:r>
              <a:rPr lang="en-US" sz="950" b="1" spc="200" kern="0" dirty="0">
                <a:solidFill>
                  <a:srgbClr val="ECF1F8"/>
                </a:solidFill>
                <a:latin typeface="Consolas" pitchFamily="34" charset="0"/>
                <a:ea typeface="Consolas" pitchFamily="34" charset="-122"/>
                <a:cs typeface="Consolas" pitchFamily="34" charset="-120"/>
              </a:rPr>
              <a:t>NATURAL PHENOMENA</a:t>
            </a:r>
            <a:endParaRPr lang="en-US" sz="950" dirty="0"/>
          </a:p>
        </p:txBody>
      </p:sp>
      <p:sp>
        <p:nvSpPr>
          <p:cNvPr id="52" name="Text 50"/>
          <p:cNvSpPr/>
          <p:nvPr/>
        </p:nvSpPr>
        <p:spPr>
          <a:xfrm>
            <a:off x="2898648" y="5376672"/>
            <a:ext cx="1984248" cy="640080"/>
          </a:xfrm>
          <a:prstGeom prst="rect">
            <a:avLst/>
          </a:prstGeom>
          <a:noFill/>
          <a:ln/>
        </p:spPr>
        <p:txBody>
          <a:bodyPr wrap="square" lIns="0" tIns="0" rIns="0" bIns="0" rtlCol="0" anchor="ctr"/>
          <a:lstStyle/>
          <a:p>
            <a:pPr indent="0" marL="0">
              <a:buNone/>
            </a:pPr>
            <a:r>
              <a:rPr lang="en-US" sz="1050" i="1" dirty="0">
                <a:solidFill>
                  <a:srgbClr val="8A97AD"/>
                </a:solidFill>
                <a:latin typeface="Calibri" pitchFamily="34" charset="0"/>
                <a:ea typeface="Calibri" pitchFamily="34" charset="-122"/>
                <a:cs typeface="Calibri" pitchFamily="34" charset="-120"/>
              </a:rPr>
              <a:t>ice crystals, thermal layers</a:t>
            </a:r>
            <a:endParaRPr lang="en-US" sz="1050" dirty="0"/>
          </a:p>
        </p:txBody>
      </p:sp>
      <p:sp>
        <p:nvSpPr>
          <p:cNvPr id="53" name="Text 51"/>
          <p:cNvSpPr/>
          <p:nvPr/>
        </p:nvSpPr>
        <p:spPr>
          <a:xfrm>
            <a:off x="5020056" y="4773168"/>
            <a:ext cx="2029968" cy="292608"/>
          </a:xfrm>
          <a:prstGeom prst="rect">
            <a:avLst/>
          </a:prstGeom>
          <a:noFill/>
          <a:ln/>
        </p:spPr>
        <p:txBody>
          <a:bodyPr wrap="square" lIns="0" tIns="0" rIns="0" bIns="0" rtlCol="0" anchor="ctr"/>
          <a:lstStyle/>
          <a:p>
            <a:pPr indent="0" marL="0">
              <a:buNone/>
            </a:pPr>
            <a:r>
              <a:rPr lang="en-US" sz="1600" dirty="0">
                <a:solidFill>
                  <a:srgbClr val="38D9F0"/>
                </a:solidFill>
                <a:latin typeface="Arial Black" pitchFamily="34" charset="0"/>
                <a:ea typeface="Arial Black" pitchFamily="34" charset="-122"/>
                <a:cs typeface="Arial Black" pitchFamily="34" charset="-120"/>
              </a:rPr>
              <a:t>03</a:t>
            </a:r>
            <a:endParaRPr lang="en-US" sz="1600" dirty="0"/>
          </a:p>
        </p:txBody>
      </p:sp>
      <p:sp>
        <p:nvSpPr>
          <p:cNvPr id="54" name="Text 52"/>
          <p:cNvSpPr/>
          <p:nvPr/>
        </p:nvSpPr>
        <p:spPr>
          <a:xfrm>
            <a:off x="5020056" y="5074920"/>
            <a:ext cx="2029968" cy="274320"/>
          </a:xfrm>
          <a:prstGeom prst="rect">
            <a:avLst/>
          </a:prstGeom>
          <a:noFill/>
          <a:ln/>
        </p:spPr>
        <p:txBody>
          <a:bodyPr wrap="square" lIns="0" tIns="0" rIns="0" bIns="0" rtlCol="0" anchor="ctr"/>
          <a:lstStyle/>
          <a:p>
            <a:pPr indent="0" marL="0">
              <a:buNone/>
            </a:pPr>
            <a:r>
              <a:rPr lang="en-US" sz="950" b="1" spc="200" kern="0" dirty="0">
                <a:solidFill>
                  <a:srgbClr val="ECF1F8"/>
                </a:solidFill>
                <a:latin typeface="Consolas" pitchFamily="34" charset="0"/>
                <a:ea typeface="Consolas" pitchFamily="34" charset="-122"/>
                <a:cs typeface="Consolas" pitchFamily="34" charset="-120"/>
              </a:rPr>
              <a:t>CLASSIFIED U.S.</a:t>
            </a:r>
            <a:endParaRPr lang="en-US" sz="950" dirty="0"/>
          </a:p>
        </p:txBody>
      </p:sp>
      <p:sp>
        <p:nvSpPr>
          <p:cNvPr id="55" name="Text 53"/>
          <p:cNvSpPr/>
          <p:nvPr/>
        </p:nvSpPr>
        <p:spPr>
          <a:xfrm>
            <a:off x="5020056" y="5376672"/>
            <a:ext cx="1984248" cy="640080"/>
          </a:xfrm>
          <a:prstGeom prst="rect">
            <a:avLst/>
          </a:prstGeom>
          <a:noFill/>
          <a:ln/>
        </p:spPr>
        <p:txBody>
          <a:bodyPr wrap="square" lIns="0" tIns="0" rIns="0" bIns="0" rtlCol="0" anchor="ctr"/>
          <a:lstStyle/>
          <a:p>
            <a:pPr indent="0" marL="0">
              <a:buNone/>
            </a:pPr>
            <a:r>
              <a:rPr lang="en-US" sz="1050" i="1" dirty="0">
                <a:solidFill>
                  <a:srgbClr val="8A97AD"/>
                </a:solidFill>
                <a:latin typeface="Calibri" pitchFamily="34" charset="0"/>
                <a:ea typeface="Calibri" pitchFamily="34" charset="-122"/>
                <a:cs typeface="Calibri" pitchFamily="34" charset="-120"/>
              </a:rPr>
              <a:t>developmental platforms</a:t>
            </a:r>
            <a:endParaRPr lang="en-US" sz="1050" dirty="0"/>
          </a:p>
        </p:txBody>
      </p:sp>
      <p:sp>
        <p:nvSpPr>
          <p:cNvPr id="56" name="Text 54"/>
          <p:cNvSpPr/>
          <p:nvPr/>
        </p:nvSpPr>
        <p:spPr>
          <a:xfrm>
            <a:off x="7141464" y="4773168"/>
            <a:ext cx="2029968" cy="292608"/>
          </a:xfrm>
          <a:prstGeom prst="rect">
            <a:avLst/>
          </a:prstGeom>
          <a:noFill/>
          <a:ln/>
        </p:spPr>
        <p:txBody>
          <a:bodyPr wrap="square" lIns="0" tIns="0" rIns="0" bIns="0" rtlCol="0" anchor="ctr"/>
          <a:lstStyle/>
          <a:p>
            <a:pPr indent="0" marL="0">
              <a:buNone/>
            </a:pPr>
            <a:r>
              <a:rPr lang="en-US" sz="1600" dirty="0">
                <a:solidFill>
                  <a:srgbClr val="38D9F0"/>
                </a:solidFill>
                <a:latin typeface="Arial Black" pitchFamily="34" charset="0"/>
                <a:ea typeface="Arial Black" pitchFamily="34" charset="-122"/>
                <a:cs typeface="Arial Black" pitchFamily="34" charset="-120"/>
              </a:rPr>
              <a:t>04</a:t>
            </a:r>
            <a:endParaRPr lang="en-US" sz="1600" dirty="0"/>
          </a:p>
        </p:txBody>
      </p:sp>
      <p:sp>
        <p:nvSpPr>
          <p:cNvPr id="57" name="Text 55"/>
          <p:cNvSpPr/>
          <p:nvPr/>
        </p:nvSpPr>
        <p:spPr>
          <a:xfrm>
            <a:off x="7141464" y="5074920"/>
            <a:ext cx="2029968" cy="274320"/>
          </a:xfrm>
          <a:prstGeom prst="rect">
            <a:avLst/>
          </a:prstGeom>
          <a:noFill/>
          <a:ln/>
        </p:spPr>
        <p:txBody>
          <a:bodyPr wrap="square" lIns="0" tIns="0" rIns="0" bIns="0" rtlCol="0" anchor="ctr"/>
          <a:lstStyle/>
          <a:p>
            <a:pPr indent="0" marL="0">
              <a:buNone/>
            </a:pPr>
            <a:r>
              <a:rPr lang="en-US" sz="950" b="1" spc="200" kern="0" dirty="0">
                <a:solidFill>
                  <a:srgbClr val="ECF1F8"/>
                </a:solidFill>
                <a:latin typeface="Consolas" pitchFamily="34" charset="0"/>
                <a:ea typeface="Consolas" pitchFamily="34" charset="-122"/>
                <a:cs typeface="Consolas" pitchFamily="34" charset="-120"/>
              </a:rPr>
              <a:t>FOREIGN ADVERSARY</a:t>
            </a:r>
            <a:endParaRPr lang="en-US" sz="950" dirty="0"/>
          </a:p>
        </p:txBody>
      </p:sp>
      <p:sp>
        <p:nvSpPr>
          <p:cNvPr id="58" name="Text 56"/>
          <p:cNvSpPr/>
          <p:nvPr/>
        </p:nvSpPr>
        <p:spPr>
          <a:xfrm>
            <a:off x="7141464" y="5376672"/>
            <a:ext cx="1984248" cy="640080"/>
          </a:xfrm>
          <a:prstGeom prst="rect">
            <a:avLst/>
          </a:prstGeom>
          <a:noFill/>
          <a:ln/>
        </p:spPr>
        <p:txBody>
          <a:bodyPr wrap="square" lIns="0" tIns="0" rIns="0" bIns="0" rtlCol="0" anchor="ctr"/>
          <a:lstStyle/>
          <a:p>
            <a:pPr indent="0" marL="0">
              <a:buNone/>
            </a:pPr>
            <a:r>
              <a:rPr lang="en-US" sz="1050" i="1" dirty="0">
                <a:solidFill>
                  <a:srgbClr val="8A97AD"/>
                </a:solidFill>
                <a:latin typeface="Calibri" pitchFamily="34" charset="0"/>
                <a:ea typeface="Calibri" pitchFamily="34" charset="-122"/>
                <a:cs typeface="Calibri" pitchFamily="34" charset="-120"/>
              </a:rPr>
              <a:t>Chinese / Russian systems</a:t>
            </a:r>
            <a:endParaRPr lang="en-US" sz="1050" dirty="0"/>
          </a:p>
        </p:txBody>
      </p:sp>
      <p:sp>
        <p:nvSpPr>
          <p:cNvPr id="59" name="Text 57"/>
          <p:cNvSpPr/>
          <p:nvPr/>
        </p:nvSpPr>
        <p:spPr>
          <a:xfrm>
            <a:off x="9262872" y="4773168"/>
            <a:ext cx="2029968" cy="292608"/>
          </a:xfrm>
          <a:prstGeom prst="rect">
            <a:avLst/>
          </a:prstGeom>
          <a:noFill/>
          <a:ln/>
        </p:spPr>
        <p:txBody>
          <a:bodyPr wrap="square" lIns="0" tIns="0" rIns="0" bIns="0" rtlCol="0" anchor="ctr"/>
          <a:lstStyle/>
          <a:p>
            <a:pPr indent="0" marL="0">
              <a:buNone/>
            </a:pPr>
            <a:r>
              <a:rPr lang="en-US" sz="1600" dirty="0">
                <a:solidFill>
                  <a:srgbClr val="38D9F0"/>
                </a:solidFill>
                <a:latin typeface="Arial Black" pitchFamily="34" charset="0"/>
                <a:ea typeface="Arial Black" pitchFamily="34" charset="-122"/>
                <a:cs typeface="Arial Black" pitchFamily="34" charset="-120"/>
              </a:rPr>
              <a:t>05</a:t>
            </a:r>
            <a:endParaRPr lang="en-US" sz="1600" dirty="0"/>
          </a:p>
        </p:txBody>
      </p:sp>
      <p:sp>
        <p:nvSpPr>
          <p:cNvPr id="60" name="Text 58"/>
          <p:cNvSpPr/>
          <p:nvPr/>
        </p:nvSpPr>
        <p:spPr>
          <a:xfrm>
            <a:off x="9262872" y="5074920"/>
            <a:ext cx="2029968" cy="274320"/>
          </a:xfrm>
          <a:prstGeom prst="rect">
            <a:avLst/>
          </a:prstGeom>
          <a:noFill/>
          <a:ln/>
        </p:spPr>
        <p:txBody>
          <a:bodyPr wrap="square" lIns="0" tIns="0" rIns="0" bIns="0" rtlCol="0" anchor="ctr"/>
          <a:lstStyle/>
          <a:p>
            <a:pPr indent="0" marL="0">
              <a:buNone/>
            </a:pPr>
            <a:r>
              <a:rPr lang="en-US" sz="950" b="1" spc="200" kern="0" dirty="0">
                <a:solidFill>
                  <a:srgbClr val="ECF1F8"/>
                </a:solidFill>
                <a:latin typeface="Consolas" pitchFamily="34" charset="0"/>
                <a:ea typeface="Consolas" pitchFamily="34" charset="-122"/>
                <a:cs typeface="Consolas" pitchFamily="34" charset="-120"/>
              </a:rPr>
              <a:t>OTHER</a:t>
            </a:r>
            <a:endParaRPr lang="en-US" sz="950" dirty="0"/>
          </a:p>
        </p:txBody>
      </p:sp>
      <p:sp>
        <p:nvSpPr>
          <p:cNvPr id="61" name="Text 59"/>
          <p:cNvSpPr/>
          <p:nvPr/>
        </p:nvSpPr>
        <p:spPr>
          <a:xfrm>
            <a:off x="9262872" y="5376672"/>
            <a:ext cx="1984248" cy="640080"/>
          </a:xfrm>
          <a:prstGeom prst="rect">
            <a:avLst/>
          </a:prstGeom>
          <a:noFill/>
          <a:ln/>
        </p:spPr>
        <p:txBody>
          <a:bodyPr wrap="square" lIns="0" tIns="0" rIns="0" bIns="0" rtlCol="0" anchor="ctr"/>
          <a:lstStyle/>
          <a:p>
            <a:pPr indent="0" marL="0">
              <a:buNone/>
            </a:pPr>
            <a:r>
              <a:rPr lang="en-US" sz="1050" i="1" dirty="0">
                <a:solidFill>
                  <a:srgbClr val="8A97AD"/>
                </a:solidFill>
                <a:latin typeface="Calibri" pitchFamily="34" charset="0"/>
                <a:ea typeface="Calibri" pitchFamily="34" charset="-122"/>
                <a:cs typeface="Calibri" pitchFamily="34" charset="-120"/>
              </a:rPr>
              <a:t>insufficient data to classify</a:t>
            </a:r>
            <a:endParaRPr lang="en-US" sz="1050" dirty="0"/>
          </a:p>
        </p:txBody>
      </p:sp>
      <p:sp>
        <p:nvSpPr>
          <p:cNvPr id="62" name="Text 60"/>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Source: Preliminary Assessment: Unidentified Aerial Phenomena, ODNI, 25 Jun 2021 (9 pp., unclassified).</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DOC-028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DoD · AARO 2022</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AARO ESTABLISHED</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28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06</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AARO  ·  A Permanent Office, 2022</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5486400" cy="388620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86200"/>
          </a:xfrm>
          <a:prstGeom prst="rect">
            <a:avLst/>
          </a:prstGeom>
          <a:solidFill>
            <a:srgbClr val="38D9F0"/>
          </a:solidFill>
          <a:ln w="12700">
            <a:solidFill>
              <a:srgbClr val="38D9F0"/>
            </a:solidFill>
            <a:prstDash val="solid"/>
          </a:ln>
        </p:spPr>
      </p:sp>
      <p:sp>
        <p:nvSpPr>
          <p:cNvPr id="26" name="Text 24"/>
          <p:cNvSpPr/>
          <p:nvPr/>
        </p:nvSpPr>
        <p:spPr>
          <a:xfrm>
            <a:off x="777240" y="2377440"/>
            <a:ext cx="5029200" cy="274320"/>
          </a:xfrm>
          <a:prstGeom prst="rect">
            <a:avLst/>
          </a:prstGeom>
          <a:noFill/>
          <a:ln/>
        </p:spPr>
        <p:txBody>
          <a:bodyPr wrap="square" lIns="0" tIns="0" rIns="0" bIns="0" rtlCol="0" anchor="ctr"/>
          <a:lstStyle/>
          <a:p>
            <a:pPr indent="0" marL="0">
              <a:buNone/>
            </a:pPr>
            <a:r>
              <a:rPr lang="en-US" sz="1000" b="1" spc="400" kern="0" dirty="0">
                <a:solidFill>
                  <a:srgbClr val="38D9F0"/>
                </a:solidFill>
                <a:latin typeface="Consolas" pitchFamily="34" charset="0"/>
                <a:ea typeface="Consolas" pitchFamily="34" charset="-122"/>
                <a:cs typeface="Consolas" pitchFamily="34" charset="-120"/>
              </a:rPr>
              <a:t>ALL-DOMAIN ANOMALY RESOLUTION OFFICE</a:t>
            </a:r>
            <a:endParaRPr lang="en-US" sz="1000" dirty="0"/>
          </a:p>
        </p:txBody>
      </p:sp>
      <p:sp>
        <p:nvSpPr>
          <p:cNvPr id="27" name="Text 25"/>
          <p:cNvSpPr/>
          <p:nvPr/>
        </p:nvSpPr>
        <p:spPr>
          <a:xfrm>
            <a:off x="777240" y="2697480"/>
            <a:ext cx="5029200" cy="1005840"/>
          </a:xfrm>
          <a:prstGeom prst="rect">
            <a:avLst/>
          </a:prstGeom>
          <a:noFill/>
          <a:ln/>
        </p:spPr>
        <p:txBody>
          <a:bodyPr wrap="square" lIns="0" tIns="0" rIns="0" bIns="0" rtlCol="0" anchor="ctr"/>
          <a:lstStyle/>
          <a:p>
            <a:pPr indent="0" marL="0">
              <a:buNone/>
            </a:pPr>
            <a:r>
              <a:rPr lang="en-US" sz="6400" dirty="0">
                <a:solidFill>
                  <a:srgbClr val="ECF1F8"/>
                </a:solidFill>
                <a:latin typeface="Arial Black" pitchFamily="34" charset="0"/>
                <a:ea typeface="Arial Black" pitchFamily="34" charset="-122"/>
                <a:cs typeface="Arial Black" pitchFamily="34" charset="-120"/>
              </a:rPr>
              <a:t>AARO</a:t>
            </a:r>
            <a:endParaRPr lang="en-US" sz="6400" dirty="0"/>
          </a:p>
        </p:txBody>
      </p:sp>
      <p:sp>
        <p:nvSpPr>
          <p:cNvPr id="28" name="Shape 26"/>
          <p:cNvSpPr/>
          <p:nvPr/>
        </p:nvSpPr>
        <p:spPr>
          <a:xfrm>
            <a:off x="777240" y="3840480"/>
            <a:ext cx="5029200" cy="0"/>
          </a:xfrm>
          <a:prstGeom prst="line">
            <a:avLst/>
          </a:prstGeom>
          <a:noFill/>
          <a:ln w="9525">
            <a:solidFill>
              <a:srgbClr val="2B3A55"/>
            </a:solidFill>
            <a:prstDash val="solid"/>
          </a:ln>
        </p:spPr>
      </p:sp>
      <p:sp>
        <p:nvSpPr>
          <p:cNvPr id="29" name="Text 27"/>
          <p:cNvSpPr/>
          <p:nvPr/>
        </p:nvSpPr>
        <p:spPr>
          <a:xfrm>
            <a:off x="777240" y="3977640"/>
            <a:ext cx="5029200" cy="2194560"/>
          </a:xfrm>
          <a:prstGeom prst="rect">
            <a:avLst/>
          </a:prstGeom>
          <a:noFill/>
          <a:ln/>
        </p:spPr>
        <p:txBody>
          <a:bodyPr wrap="square" lIns="0" tIns="0" rIns="0" bIns="0" rtlCol="0" anchor="ctr"/>
          <a:lstStyle/>
          <a:p>
            <a:pPr indent="0" marL="0">
              <a:buNone/>
            </a:pPr>
            <a:r>
              <a:rPr lang="en-US" sz="1300" dirty="0">
                <a:solidFill>
                  <a:srgbClr val="ECF1F8"/>
                </a:solidFill>
                <a:latin typeface="Calibri" pitchFamily="34" charset="0"/>
                <a:ea typeface="Calibri" pitchFamily="34" charset="-122"/>
                <a:cs typeface="Calibri" pitchFamily="34" charset="-120"/>
              </a:rPr>
              <a:t>Established 15 July 2022 under the FY22 NDAA, replacing a series of earlier ad-hoc working groups. Reports jointly to the Under Secretary of Defense for Intelligence &amp; Security and to the Director of National Intelligence.</a:t>
            </a:r>
            <a:endParaRPr lang="en-US" sz="1300" dirty="0"/>
          </a:p>
        </p:txBody>
      </p:sp>
      <p:sp>
        <p:nvSpPr>
          <p:cNvPr id="30" name="Shape 28"/>
          <p:cNvSpPr/>
          <p:nvPr/>
        </p:nvSpPr>
        <p:spPr>
          <a:xfrm>
            <a:off x="6217920" y="2194560"/>
            <a:ext cx="5394960" cy="3886200"/>
          </a:xfrm>
          <a:prstGeom prst="rect">
            <a:avLst/>
          </a:prstGeom>
          <a:solidFill>
            <a:srgbClr val="0F1624"/>
          </a:solidFill>
          <a:ln w="9525">
            <a:solidFill>
              <a:srgbClr val="2B3A55"/>
            </a:solidFill>
            <a:prstDash val="solid"/>
          </a:ln>
        </p:spPr>
      </p:sp>
      <p:sp>
        <p:nvSpPr>
          <p:cNvPr id="31" name="Shape 29"/>
          <p:cNvSpPr/>
          <p:nvPr/>
        </p:nvSpPr>
        <p:spPr>
          <a:xfrm>
            <a:off x="6217920" y="2194560"/>
            <a:ext cx="54864" cy="3886200"/>
          </a:xfrm>
          <a:prstGeom prst="rect">
            <a:avLst/>
          </a:prstGeom>
          <a:solidFill>
            <a:srgbClr val="F5B024"/>
          </a:solidFill>
          <a:ln w="12700">
            <a:solidFill>
              <a:srgbClr val="F5B024"/>
            </a:solidFill>
            <a:prstDash val="solid"/>
          </a:ln>
        </p:spPr>
      </p:sp>
      <p:sp>
        <p:nvSpPr>
          <p:cNvPr id="32" name="Text 30"/>
          <p:cNvSpPr/>
          <p:nvPr/>
        </p:nvSpPr>
        <p:spPr>
          <a:xfrm>
            <a:off x="6446520" y="2377440"/>
            <a:ext cx="4937760" cy="274320"/>
          </a:xfrm>
          <a:prstGeom prst="rect">
            <a:avLst/>
          </a:prstGeom>
          <a:noFill/>
          <a:ln/>
        </p:spPr>
        <p:txBody>
          <a:bodyPr wrap="square" lIns="0" tIns="0" rIns="0" bIns="0" rtlCol="0" anchor="ctr"/>
          <a:lstStyle/>
          <a:p>
            <a:pPr indent="0" marL="0">
              <a:buNone/>
            </a:pPr>
            <a:r>
              <a:rPr lang="en-US" sz="1000" b="1" spc="500" kern="0" dirty="0">
                <a:solidFill>
                  <a:srgbClr val="F5B024"/>
                </a:solidFill>
                <a:latin typeface="Consolas" pitchFamily="34" charset="0"/>
                <a:ea typeface="Consolas" pitchFamily="34" charset="-122"/>
                <a:cs typeface="Consolas" pitchFamily="34" charset="-120"/>
              </a:rPr>
              <a:t>LEADERSHIP</a:t>
            </a:r>
            <a:endParaRPr lang="en-US" sz="1000" dirty="0"/>
          </a:p>
        </p:txBody>
      </p:sp>
      <p:sp>
        <p:nvSpPr>
          <p:cNvPr id="33" name="Shape 31"/>
          <p:cNvSpPr/>
          <p:nvPr/>
        </p:nvSpPr>
        <p:spPr>
          <a:xfrm>
            <a:off x="6446520" y="2926080"/>
            <a:ext cx="228600" cy="228600"/>
          </a:xfrm>
          <a:prstGeom prst="ellipse">
            <a:avLst/>
          </a:prstGeom>
          <a:solidFill>
            <a:srgbClr val="F5B024"/>
          </a:solidFill>
          <a:ln w="12700">
            <a:solidFill>
              <a:srgbClr val="F5B024"/>
            </a:solidFill>
            <a:prstDash val="solid"/>
          </a:ln>
        </p:spPr>
      </p:sp>
      <p:sp>
        <p:nvSpPr>
          <p:cNvPr id="34" name="Shape 32"/>
          <p:cNvSpPr/>
          <p:nvPr/>
        </p:nvSpPr>
        <p:spPr>
          <a:xfrm>
            <a:off x="6560820" y="3154680"/>
            <a:ext cx="0" cy="868680"/>
          </a:xfrm>
          <a:prstGeom prst="line">
            <a:avLst/>
          </a:prstGeom>
          <a:noFill/>
          <a:ln w="9525">
            <a:solidFill>
              <a:srgbClr val="2B3A55"/>
            </a:solidFill>
            <a:prstDash val="solid"/>
          </a:ln>
        </p:spPr>
      </p:sp>
      <p:sp>
        <p:nvSpPr>
          <p:cNvPr id="35" name="Text 33"/>
          <p:cNvSpPr/>
          <p:nvPr/>
        </p:nvSpPr>
        <p:spPr>
          <a:xfrm>
            <a:off x="6812280" y="2834640"/>
            <a:ext cx="164592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JUL 2022</a:t>
            </a:r>
            <a:endParaRPr lang="en-US" sz="1000" dirty="0"/>
          </a:p>
        </p:txBody>
      </p:sp>
      <p:sp>
        <p:nvSpPr>
          <p:cNvPr id="36" name="Text 34"/>
          <p:cNvSpPr/>
          <p:nvPr/>
        </p:nvSpPr>
        <p:spPr>
          <a:xfrm>
            <a:off x="6812280" y="3108960"/>
            <a:ext cx="45720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DR. SEAN KIRKPATRICK</a:t>
            </a:r>
            <a:endParaRPr lang="en-US" sz="1500" dirty="0"/>
          </a:p>
        </p:txBody>
      </p:sp>
      <p:sp>
        <p:nvSpPr>
          <p:cNvPr id="37" name="Text 35"/>
          <p:cNvSpPr/>
          <p:nvPr/>
        </p:nvSpPr>
        <p:spPr>
          <a:xfrm>
            <a:off x="6812280" y="3474720"/>
            <a:ext cx="4572000" cy="274320"/>
          </a:xfrm>
          <a:prstGeom prst="rect">
            <a:avLst/>
          </a:prstGeom>
          <a:noFill/>
          <a:ln/>
        </p:spPr>
        <p:txBody>
          <a:bodyPr wrap="square" lIns="0" tIns="0" rIns="0" bIns="0" rtlCol="0" anchor="ctr"/>
          <a:lstStyle/>
          <a:p>
            <a:pPr indent="0" marL="0">
              <a:buNone/>
            </a:pPr>
            <a:r>
              <a:rPr lang="en-US" sz="1100" i="1" dirty="0">
                <a:solidFill>
                  <a:srgbClr val="8A97AD"/>
                </a:solidFill>
                <a:latin typeface="Calibri" pitchFamily="34" charset="0"/>
                <a:ea typeface="Calibri" pitchFamily="34" charset="-122"/>
                <a:cs typeface="Calibri" pitchFamily="34" charset="-120"/>
              </a:rPr>
              <a:t>Founding Director</a:t>
            </a:r>
            <a:endParaRPr lang="en-US" sz="1100" dirty="0"/>
          </a:p>
        </p:txBody>
      </p:sp>
      <p:sp>
        <p:nvSpPr>
          <p:cNvPr id="38" name="Shape 36"/>
          <p:cNvSpPr/>
          <p:nvPr/>
        </p:nvSpPr>
        <p:spPr>
          <a:xfrm>
            <a:off x="6446520" y="4023360"/>
            <a:ext cx="228600" cy="228600"/>
          </a:xfrm>
          <a:prstGeom prst="ellipse">
            <a:avLst/>
          </a:prstGeom>
          <a:solidFill>
            <a:srgbClr val="F5B024"/>
          </a:solidFill>
          <a:ln w="12700">
            <a:solidFill>
              <a:srgbClr val="F5B024"/>
            </a:solidFill>
            <a:prstDash val="solid"/>
          </a:ln>
        </p:spPr>
      </p:sp>
      <p:sp>
        <p:nvSpPr>
          <p:cNvPr id="39" name="Shape 37"/>
          <p:cNvSpPr/>
          <p:nvPr/>
        </p:nvSpPr>
        <p:spPr>
          <a:xfrm>
            <a:off x="6560820" y="4251960"/>
            <a:ext cx="0" cy="868680"/>
          </a:xfrm>
          <a:prstGeom prst="line">
            <a:avLst/>
          </a:prstGeom>
          <a:noFill/>
          <a:ln w="9525">
            <a:solidFill>
              <a:srgbClr val="2B3A55"/>
            </a:solidFill>
            <a:prstDash val="solid"/>
          </a:ln>
        </p:spPr>
      </p:sp>
      <p:sp>
        <p:nvSpPr>
          <p:cNvPr id="40" name="Text 38"/>
          <p:cNvSpPr/>
          <p:nvPr/>
        </p:nvSpPr>
        <p:spPr>
          <a:xfrm>
            <a:off x="6812280" y="3931920"/>
            <a:ext cx="164592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DEC 2023</a:t>
            </a:r>
            <a:endParaRPr lang="en-US" sz="1000" dirty="0"/>
          </a:p>
        </p:txBody>
      </p:sp>
      <p:sp>
        <p:nvSpPr>
          <p:cNvPr id="41" name="Text 39"/>
          <p:cNvSpPr/>
          <p:nvPr/>
        </p:nvSpPr>
        <p:spPr>
          <a:xfrm>
            <a:off x="6812280" y="4206240"/>
            <a:ext cx="45720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TIM PHILLIPS (Acting)</a:t>
            </a:r>
            <a:endParaRPr lang="en-US" sz="1500" dirty="0"/>
          </a:p>
        </p:txBody>
      </p:sp>
      <p:sp>
        <p:nvSpPr>
          <p:cNvPr id="42" name="Text 40"/>
          <p:cNvSpPr/>
          <p:nvPr/>
        </p:nvSpPr>
        <p:spPr>
          <a:xfrm>
            <a:off x="6812280" y="4572000"/>
            <a:ext cx="4572000" cy="274320"/>
          </a:xfrm>
          <a:prstGeom prst="rect">
            <a:avLst/>
          </a:prstGeom>
          <a:noFill/>
          <a:ln/>
        </p:spPr>
        <p:txBody>
          <a:bodyPr wrap="square" lIns="0" tIns="0" rIns="0" bIns="0" rtlCol="0" anchor="ctr"/>
          <a:lstStyle/>
          <a:p>
            <a:pPr indent="0" marL="0">
              <a:buNone/>
            </a:pPr>
            <a:r>
              <a:rPr lang="en-US" sz="1100" i="1" dirty="0">
                <a:solidFill>
                  <a:srgbClr val="8A97AD"/>
                </a:solidFill>
                <a:latin typeface="Calibri" pitchFamily="34" charset="0"/>
                <a:ea typeface="Calibri" pitchFamily="34" charset="-122"/>
                <a:cs typeface="Calibri" pitchFamily="34" charset="-120"/>
              </a:rPr>
              <a:t>Following Kirkpatrick’s retirement</a:t>
            </a:r>
            <a:endParaRPr lang="en-US" sz="1100" dirty="0"/>
          </a:p>
        </p:txBody>
      </p:sp>
      <p:sp>
        <p:nvSpPr>
          <p:cNvPr id="43" name="Shape 41"/>
          <p:cNvSpPr/>
          <p:nvPr/>
        </p:nvSpPr>
        <p:spPr>
          <a:xfrm>
            <a:off x="6446520" y="5120640"/>
            <a:ext cx="228600" cy="228600"/>
          </a:xfrm>
          <a:prstGeom prst="ellipse">
            <a:avLst/>
          </a:prstGeom>
          <a:solidFill>
            <a:srgbClr val="F5B024"/>
          </a:solidFill>
          <a:ln w="12700">
            <a:solidFill>
              <a:srgbClr val="F5B024"/>
            </a:solidFill>
            <a:prstDash val="solid"/>
          </a:ln>
        </p:spPr>
      </p:sp>
      <p:sp>
        <p:nvSpPr>
          <p:cNvPr id="44" name="Text 42"/>
          <p:cNvSpPr/>
          <p:nvPr/>
        </p:nvSpPr>
        <p:spPr>
          <a:xfrm>
            <a:off x="6812280" y="5029200"/>
            <a:ext cx="1645920" cy="274320"/>
          </a:xfrm>
          <a:prstGeom prst="rect">
            <a:avLst/>
          </a:prstGeom>
          <a:noFill/>
          <a:ln/>
        </p:spPr>
        <p:txBody>
          <a:bodyPr wrap="square" lIns="0" tIns="0" rIns="0" bIns="0" rtlCol="0" anchor="ctr"/>
          <a:lstStyle/>
          <a:p>
            <a:pPr indent="0" marL="0">
              <a:buNone/>
            </a:pPr>
            <a:r>
              <a:rPr lang="en-US" sz="1000" b="1" spc="300" kern="0" dirty="0">
                <a:solidFill>
                  <a:srgbClr val="F5B024"/>
                </a:solidFill>
                <a:latin typeface="Consolas" pitchFamily="34" charset="0"/>
                <a:ea typeface="Consolas" pitchFamily="34" charset="-122"/>
                <a:cs typeface="Consolas" pitchFamily="34" charset="-120"/>
              </a:rPr>
              <a:t>AUG 2024</a:t>
            </a:r>
            <a:endParaRPr lang="en-US" sz="1000" dirty="0"/>
          </a:p>
        </p:txBody>
      </p:sp>
      <p:sp>
        <p:nvSpPr>
          <p:cNvPr id="45" name="Text 43"/>
          <p:cNvSpPr/>
          <p:nvPr/>
        </p:nvSpPr>
        <p:spPr>
          <a:xfrm>
            <a:off x="6812280" y="5303520"/>
            <a:ext cx="4572000"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DR. JON T. KOSLOSKI</a:t>
            </a:r>
            <a:endParaRPr lang="en-US" sz="1500" dirty="0"/>
          </a:p>
        </p:txBody>
      </p:sp>
      <p:sp>
        <p:nvSpPr>
          <p:cNvPr id="46" name="Text 44"/>
          <p:cNvSpPr/>
          <p:nvPr/>
        </p:nvSpPr>
        <p:spPr>
          <a:xfrm>
            <a:off x="6812280" y="5669280"/>
            <a:ext cx="4572000" cy="274320"/>
          </a:xfrm>
          <a:prstGeom prst="rect">
            <a:avLst/>
          </a:prstGeom>
          <a:noFill/>
          <a:ln/>
        </p:spPr>
        <p:txBody>
          <a:bodyPr wrap="square" lIns="0" tIns="0" rIns="0" bIns="0" rtlCol="0" anchor="ctr"/>
          <a:lstStyle/>
          <a:p>
            <a:pPr indent="0" marL="0">
              <a:buNone/>
            </a:pPr>
            <a:r>
              <a:rPr lang="en-US" sz="1100" i="1" dirty="0">
                <a:solidFill>
                  <a:srgbClr val="8A97AD"/>
                </a:solidFill>
                <a:latin typeface="Calibri" pitchFamily="34" charset="0"/>
                <a:ea typeface="Calibri" pitchFamily="34" charset="-122"/>
                <a:cs typeface="Calibri" pitchFamily="34" charset="-120"/>
              </a:rPr>
              <a:t>Permanent Director</a:t>
            </a:r>
            <a:endParaRPr lang="en-US" sz="1100" dirty="0"/>
          </a:p>
        </p:txBody>
      </p:sp>
      <p:sp>
        <p:nvSpPr>
          <p:cNvPr id="47" name="Text 45"/>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AARO's charter: detect, identify, and attribute anomalies in air, sea, space, and transmedium domains.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DOC-029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HOUSE OVERSIGHT · 26 JUL 2023</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THE GRUSCH TESTIMONY</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29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07</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Grusch Testimony  ·  2023</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4754880" cy="388620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86200"/>
          </a:xfrm>
          <a:prstGeom prst="rect">
            <a:avLst/>
          </a:prstGeom>
          <a:solidFill>
            <a:srgbClr val="E8434C"/>
          </a:solidFill>
          <a:ln w="12700">
            <a:solidFill>
              <a:srgbClr val="E8434C"/>
            </a:solidFill>
            <a:prstDash val="solid"/>
          </a:ln>
        </p:spPr>
      </p:sp>
      <p:sp>
        <p:nvSpPr>
          <p:cNvPr id="26" name="Text 24"/>
          <p:cNvSpPr/>
          <p:nvPr/>
        </p:nvSpPr>
        <p:spPr>
          <a:xfrm>
            <a:off x="777240" y="2377440"/>
            <a:ext cx="4297680" cy="274320"/>
          </a:xfrm>
          <a:prstGeom prst="rect">
            <a:avLst/>
          </a:prstGeom>
          <a:noFill/>
          <a:ln/>
        </p:spPr>
        <p:txBody>
          <a:bodyPr wrap="square" lIns="0" tIns="0" rIns="0" bIns="0" rtlCol="0" anchor="ctr"/>
          <a:lstStyle/>
          <a:p>
            <a:pPr indent="0" marL="0">
              <a:buNone/>
            </a:pPr>
            <a:r>
              <a:rPr lang="en-US" sz="1000" b="1" spc="500" kern="0" dirty="0">
                <a:solidFill>
                  <a:srgbClr val="E8434C"/>
                </a:solidFill>
                <a:latin typeface="Consolas" pitchFamily="34" charset="0"/>
                <a:ea typeface="Consolas" pitchFamily="34" charset="-122"/>
                <a:cs typeface="Consolas" pitchFamily="34" charset="-120"/>
              </a:rPr>
              <a:t>WITNESS</a:t>
            </a:r>
            <a:endParaRPr lang="en-US" sz="1000" dirty="0"/>
          </a:p>
        </p:txBody>
      </p:sp>
      <p:sp>
        <p:nvSpPr>
          <p:cNvPr id="27" name="Text 25"/>
          <p:cNvSpPr/>
          <p:nvPr/>
        </p:nvSpPr>
        <p:spPr>
          <a:xfrm>
            <a:off x="777240" y="2697480"/>
            <a:ext cx="4297680" cy="640080"/>
          </a:xfrm>
          <a:prstGeom prst="rect">
            <a:avLst/>
          </a:prstGeom>
          <a:noFill/>
          <a:ln/>
        </p:spPr>
        <p:txBody>
          <a:bodyPr wrap="square" lIns="0" tIns="0" rIns="0" bIns="0" rtlCol="0" anchor="ctr"/>
          <a:lstStyle/>
          <a:p>
            <a:pPr indent="0" marL="0">
              <a:buNone/>
            </a:pPr>
            <a:r>
              <a:rPr lang="en-US" sz="2800" dirty="0">
                <a:solidFill>
                  <a:srgbClr val="ECF1F8"/>
                </a:solidFill>
                <a:latin typeface="Arial Black" pitchFamily="34" charset="0"/>
                <a:ea typeface="Arial Black" pitchFamily="34" charset="-122"/>
                <a:cs typeface="Arial Black" pitchFamily="34" charset="-120"/>
              </a:rPr>
              <a:t>DAVID GRUSCH</a:t>
            </a:r>
            <a:endParaRPr lang="en-US" sz="2800" dirty="0"/>
          </a:p>
        </p:txBody>
      </p:sp>
      <p:sp>
        <p:nvSpPr>
          <p:cNvPr id="28" name="Text 26"/>
          <p:cNvSpPr/>
          <p:nvPr/>
        </p:nvSpPr>
        <p:spPr>
          <a:xfrm>
            <a:off x="777240" y="3383280"/>
            <a:ext cx="4297680" cy="777240"/>
          </a:xfrm>
          <a:prstGeom prst="rect">
            <a:avLst/>
          </a:prstGeom>
          <a:noFill/>
          <a:ln/>
        </p:spPr>
        <p:txBody>
          <a:bodyPr wrap="square" lIns="0" tIns="0" rIns="0" bIns="0" rtlCol="0" anchor="ctr"/>
          <a:lstStyle/>
          <a:p>
            <a:pPr indent="0" marL="0">
              <a:buNone/>
            </a:pPr>
            <a:r>
              <a:rPr lang="en-US" sz="1200" i="1" dirty="0">
                <a:solidFill>
                  <a:srgbClr val="8A97AD"/>
                </a:solidFill>
                <a:latin typeface="Calibri" pitchFamily="34" charset="0"/>
                <a:ea typeface="Calibri" pitchFamily="34" charset="-122"/>
                <a:cs typeface="Calibri" pitchFamily="34" charset="-120"/>
              </a:rPr>
              <a:t>USAF intelligence officer (14 yrs)  ·  former NGA / NRO  ·  UAP Task Force liaison</a:t>
            </a:r>
            <a:endParaRPr lang="en-US" sz="1200" dirty="0"/>
          </a:p>
        </p:txBody>
      </p:sp>
      <p:sp>
        <p:nvSpPr>
          <p:cNvPr id="29" name="Shape 27"/>
          <p:cNvSpPr/>
          <p:nvPr/>
        </p:nvSpPr>
        <p:spPr>
          <a:xfrm>
            <a:off x="777240" y="4206240"/>
            <a:ext cx="4297680" cy="0"/>
          </a:xfrm>
          <a:prstGeom prst="line">
            <a:avLst/>
          </a:prstGeom>
          <a:noFill/>
          <a:ln w="9525">
            <a:solidFill>
              <a:srgbClr val="2B3A55"/>
            </a:solidFill>
            <a:prstDash val="solid"/>
          </a:ln>
        </p:spPr>
      </p:sp>
      <p:sp>
        <p:nvSpPr>
          <p:cNvPr id="30" name="Text 28"/>
          <p:cNvSpPr/>
          <p:nvPr/>
        </p:nvSpPr>
        <p:spPr>
          <a:xfrm>
            <a:off x="777240" y="4343400"/>
            <a:ext cx="4297680" cy="1828800"/>
          </a:xfrm>
          <a:prstGeom prst="rect">
            <a:avLst/>
          </a:prstGeom>
          <a:noFill/>
          <a:ln/>
        </p:spPr>
        <p:txBody>
          <a:bodyPr wrap="square" lIns="0" tIns="0" rIns="0" bIns="0" rtlCol="0" anchor="ctr"/>
          <a:lstStyle/>
          <a:p>
            <a:pPr indent="0" marL="0">
              <a:buNone/>
            </a:pPr>
            <a:r>
              <a:rPr lang="en-US" sz="1200" dirty="0">
                <a:solidFill>
                  <a:srgbClr val="ECF1F8"/>
                </a:solidFill>
                <a:latin typeface="Calibri" pitchFamily="34" charset="0"/>
                <a:ea typeface="Calibri" pitchFamily="34" charset="-122"/>
                <a:cs typeface="Calibri" pitchFamily="34" charset="-120"/>
              </a:rPr>
              <a:t>Filed a PPD-19 whistleblower complaint July 2022 alleging a decades-long, congressionally unsanctioned crash-retrieval and reverse-engineering program.</a:t>
            </a:r>
            <a:endParaRPr lang="en-US" sz="1200" dirty="0"/>
          </a:p>
        </p:txBody>
      </p:sp>
      <p:sp>
        <p:nvSpPr>
          <p:cNvPr id="31" name="Shape 29"/>
          <p:cNvSpPr/>
          <p:nvPr/>
        </p:nvSpPr>
        <p:spPr>
          <a:xfrm>
            <a:off x="5486400" y="2194560"/>
            <a:ext cx="3017520" cy="1783080"/>
          </a:xfrm>
          <a:prstGeom prst="rect">
            <a:avLst/>
          </a:prstGeom>
          <a:solidFill>
            <a:srgbClr val="0F1624"/>
          </a:solidFill>
          <a:ln w="9525">
            <a:solidFill>
              <a:srgbClr val="2B3A55"/>
            </a:solidFill>
            <a:prstDash val="solid"/>
          </a:ln>
        </p:spPr>
      </p:sp>
      <p:sp>
        <p:nvSpPr>
          <p:cNvPr id="32" name="Shape 30"/>
          <p:cNvSpPr/>
          <p:nvPr/>
        </p:nvSpPr>
        <p:spPr>
          <a:xfrm>
            <a:off x="5486400" y="2194560"/>
            <a:ext cx="54864" cy="1783080"/>
          </a:xfrm>
          <a:prstGeom prst="rect">
            <a:avLst/>
          </a:prstGeom>
          <a:solidFill>
            <a:srgbClr val="38D9F0"/>
          </a:solidFill>
          <a:ln w="12700">
            <a:solidFill>
              <a:srgbClr val="38D9F0"/>
            </a:solidFill>
            <a:prstDash val="solid"/>
          </a:ln>
        </p:spPr>
      </p:sp>
      <p:sp>
        <p:nvSpPr>
          <p:cNvPr id="33" name="Text 31"/>
          <p:cNvSpPr/>
          <p:nvPr/>
        </p:nvSpPr>
        <p:spPr>
          <a:xfrm>
            <a:off x="5715000" y="2377440"/>
            <a:ext cx="2651760" cy="777240"/>
          </a:xfrm>
          <a:prstGeom prst="rect">
            <a:avLst/>
          </a:prstGeom>
          <a:noFill/>
          <a:ln/>
        </p:spPr>
        <p:txBody>
          <a:bodyPr wrap="square" lIns="0" tIns="0" rIns="0" bIns="0" rtlCol="0" anchor="ctr"/>
          <a:lstStyle/>
          <a:p>
            <a:pPr indent="0" marL="0">
              <a:buNone/>
            </a:pPr>
            <a:r>
              <a:rPr lang="en-US" sz="3200" dirty="0">
                <a:solidFill>
                  <a:srgbClr val="38D9F0"/>
                </a:solidFill>
                <a:latin typeface="Arial Black" pitchFamily="34" charset="0"/>
                <a:ea typeface="Arial Black" pitchFamily="34" charset="-122"/>
                <a:cs typeface="Arial Black" pitchFamily="34" charset="-120"/>
              </a:rPr>
              <a:t>40+</a:t>
            </a:r>
            <a:endParaRPr lang="en-US" sz="3200" dirty="0"/>
          </a:p>
        </p:txBody>
      </p:sp>
      <p:sp>
        <p:nvSpPr>
          <p:cNvPr id="34" name="Text 32"/>
          <p:cNvSpPr/>
          <p:nvPr/>
        </p:nvSpPr>
        <p:spPr>
          <a:xfrm>
            <a:off x="5715000" y="3154680"/>
            <a:ext cx="2651760" cy="320040"/>
          </a:xfrm>
          <a:prstGeom prst="rect">
            <a:avLst/>
          </a:prstGeom>
          <a:noFill/>
          <a:ln/>
        </p:spPr>
        <p:txBody>
          <a:bodyPr wrap="square" lIns="0" tIns="0" rIns="0" bIns="0" rtlCol="0" anchor="ctr"/>
          <a:lstStyle/>
          <a:p>
            <a:pPr indent="0" marL="0">
              <a:buNone/>
            </a:pPr>
            <a:r>
              <a:rPr lang="en-US" sz="950" b="1" spc="300" kern="0" dirty="0">
                <a:solidFill>
                  <a:srgbClr val="ECF1F8"/>
                </a:solidFill>
                <a:latin typeface="Consolas" pitchFamily="34" charset="0"/>
                <a:ea typeface="Consolas" pitchFamily="34" charset="-122"/>
                <a:cs typeface="Consolas" pitchFamily="34" charset="-120"/>
              </a:rPr>
              <a:t>WITNESSES INTERVIEWED</a:t>
            </a:r>
            <a:endParaRPr lang="en-US" sz="950" dirty="0"/>
          </a:p>
        </p:txBody>
      </p:sp>
      <p:sp>
        <p:nvSpPr>
          <p:cNvPr id="35" name="Text 33"/>
          <p:cNvSpPr/>
          <p:nvPr/>
        </p:nvSpPr>
        <p:spPr>
          <a:xfrm>
            <a:off x="5715000" y="3474720"/>
            <a:ext cx="2651760" cy="548640"/>
          </a:xfrm>
          <a:prstGeom prst="rect">
            <a:avLst/>
          </a:prstGeom>
          <a:noFill/>
          <a:ln/>
        </p:spPr>
        <p:txBody>
          <a:bodyPr wrap="square" lIns="0" tIns="0" rIns="0" bIns="0" rtlCol="0" anchor="ctr"/>
          <a:lstStyle/>
          <a:p>
            <a:pPr indent="0" marL="0">
              <a:buNone/>
            </a:pPr>
            <a:r>
              <a:rPr lang="en-US" sz="1100" i="1" dirty="0">
                <a:solidFill>
                  <a:srgbClr val="8A97AD"/>
                </a:solidFill>
                <a:latin typeface="Calibri" pitchFamily="34" charset="0"/>
                <a:ea typeface="Calibri" pitchFamily="34" charset="-122"/>
                <a:cs typeface="Calibri" pitchFamily="34" charset="-120"/>
              </a:rPr>
              <a:t>by Grusch under ICIG auspices</a:t>
            </a:r>
            <a:endParaRPr lang="en-US" sz="1100" dirty="0"/>
          </a:p>
        </p:txBody>
      </p:sp>
      <p:sp>
        <p:nvSpPr>
          <p:cNvPr id="36" name="Shape 34"/>
          <p:cNvSpPr/>
          <p:nvPr/>
        </p:nvSpPr>
        <p:spPr>
          <a:xfrm>
            <a:off x="8686800" y="2194560"/>
            <a:ext cx="3017520" cy="1783080"/>
          </a:xfrm>
          <a:prstGeom prst="rect">
            <a:avLst/>
          </a:prstGeom>
          <a:solidFill>
            <a:srgbClr val="0F1624"/>
          </a:solidFill>
          <a:ln w="9525">
            <a:solidFill>
              <a:srgbClr val="2B3A55"/>
            </a:solidFill>
            <a:prstDash val="solid"/>
          </a:ln>
        </p:spPr>
      </p:sp>
      <p:sp>
        <p:nvSpPr>
          <p:cNvPr id="37" name="Shape 35"/>
          <p:cNvSpPr/>
          <p:nvPr/>
        </p:nvSpPr>
        <p:spPr>
          <a:xfrm>
            <a:off x="8686800" y="2194560"/>
            <a:ext cx="54864" cy="1783080"/>
          </a:xfrm>
          <a:prstGeom prst="rect">
            <a:avLst/>
          </a:prstGeom>
          <a:solidFill>
            <a:srgbClr val="38D9F0"/>
          </a:solidFill>
          <a:ln w="12700">
            <a:solidFill>
              <a:srgbClr val="38D9F0"/>
            </a:solidFill>
            <a:prstDash val="solid"/>
          </a:ln>
        </p:spPr>
      </p:sp>
      <p:sp>
        <p:nvSpPr>
          <p:cNvPr id="38" name="Text 36"/>
          <p:cNvSpPr/>
          <p:nvPr/>
        </p:nvSpPr>
        <p:spPr>
          <a:xfrm>
            <a:off x="8915400" y="2377440"/>
            <a:ext cx="2651760" cy="777240"/>
          </a:xfrm>
          <a:prstGeom prst="rect">
            <a:avLst/>
          </a:prstGeom>
          <a:noFill/>
          <a:ln/>
        </p:spPr>
        <p:txBody>
          <a:bodyPr wrap="square" lIns="0" tIns="0" rIns="0" bIns="0" rtlCol="0" anchor="ctr"/>
          <a:lstStyle/>
          <a:p>
            <a:pPr indent="0" marL="0">
              <a:buNone/>
            </a:pPr>
            <a:r>
              <a:rPr lang="en-US" sz="3200" dirty="0">
                <a:solidFill>
                  <a:srgbClr val="38D9F0"/>
                </a:solidFill>
                <a:latin typeface="Arial Black" pitchFamily="34" charset="0"/>
                <a:ea typeface="Arial Black" pitchFamily="34" charset="-122"/>
                <a:cs typeface="Arial Black" pitchFamily="34" charset="-120"/>
              </a:rPr>
              <a:t>80 YRS</a:t>
            </a:r>
            <a:endParaRPr lang="en-US" sz="3200" dirty="0"/>
          </a:p>
        </p:txBody>
      </p:sp>
      <p:sp>
        <p:nvSpPr>
          <p:cNvPr id="39" name="Text 37"/>
          <p:cNvSpPr/>
          <p:nvPr/>
        </p:nvSpPr>
        <p:spPr>
          <a:xfrm>
            <a:off x="8915400" y="3154680"/>
            <a:ext cx="2651760" cy="320040"/>
          </a:xfrm>
          <a:prstGeom prst="rect">
            <a:avLst/>
          </a:prstGeom>
          <a:noFill/>
          <a:ln/>
        </p:spPr>
        <p:txBody>
          <a:bodyPr wrap="square" lIns="0" tIns="0" rIns="0" bIns="0" rtlCol="0" anchor="ctr"/>
          <a:lstStyle/>
          <a:p>
            <a:pPr indent="0" marL="0">
              <a:buNone/>
            </a:pPr>
            <a:r>
              <a:rPr lang="en-US" sz="950" b="1" spc="300" kern="0" dirty="0">
                <a:solidFill>
                  <a:srgbClr val="ECF1F8"/>
                </a:solidFill>
                <a:latin typeface="Consolas" pitchFamily="34" charset="0"/>
                <a:ea typeface="Consolas" pitchFamily="34" charset="-122"/>
                <a:cs typeface="Consolas" pitchFamily="34" charset="-120"/>
              </a:rPr>
              <a:t>ALLEGED PROGRAM AGE</a:t>
            </a:r>
            <a:endParaRPr lang="en-US" sz="950" dirty="0"/>
          </a:p>
        </p:txBody>
      </p:sp>
      <p:sp>
        <p:nvSpPr>
          <p:cNvPr id="40" name="Text 38"/>
          <p:cNvSpPr/>
          <p:nvPr/>
        </p:nvSpPr>
        <p:spPr>
          <a:xfrm>
            <a:off x="8915400" y="3474720"/>
            <a:ext cx="2651760" cy="548640"/>
          </a:xfrm>
          <a:prstGeom prst="rect">
            <a:avLst/>
          </a:prstGeom>
          <a:noFill/>
          <a:ln/>
        </p:spPr>
        <p:txBody>
          <a:bodyPr wrap="square" lIns="0" tIns="0" rIns="0" bIns="0" rtlCol="0" anchor="ctr"/>
          <a:lstStyle/>
          <a:p>
            <a:pPr indent="0" marL="0">
              <a:buNone/>
            </a:pPr>
            <a:r>
              <a:rPr lang="en-US" sz="1100" i="1" dirty="0">
                <a:solidFill>
                  <a:srgbClr val="8A97AD"/>
                </a:solidFill>
                <a:latin typeface="Calibri" pitchFamily="34" charset="0"/>
                <a:ea typeface="Calibri" pitchFamily="34" charset="-122"/>
                <a:cs typeface="Calibri" pitchFamily="34" charset="-120"/>
              </a:rPr>
              <a:t>“multi-decade” concealment</a:t>
            </a:r>
            <a:endParaRPr lang="en-US" sz="1100" dirty="0"/>
          </a:p>
        </p:txBody>
      </p:sp>
      <p:sp>
        <p:nvSpPr>
          <p:cNvPr id="41" name="Shape 39"/>
          <p:cNvSpPr/>
          <p:nvPr/>
        </p:nvSpPr>
        <p:spPr>
          <a:xfrm>
            <a:off x="5486400" y="4160520"/>
            <a:ext cx="3017520" cy="1783080"/>
          </a:xfrm>
          <a:prstGeom prst="rect">
            <a:avLst/>
          </a:prstGeom>
          <a:solidFill>
            <a:srgbClr val="0F1624"/>
          </a:solidFill>
          <a:ln w="9525">
            <a:solidFill>
              <a:srgbClr val="2B3A55"/>
            </a:solidFill>
            <a:prstDash val="solid"/>
          </a:ln>
        </p:spPr>
      </p:sp>
      <p:sp>
        <p:nvSpPr>
          <p:cNvPr id="42" name="Shape 40"/>
          <p:cNvSpPr/>
          <p:nvPr/>
        </p:nvSpPr>
        <p:spPr>
          <a:xfrm>
            <a:off x="5486400" y="4160520"/>
            <a:ext cx="54864" cy="1783080"/>
          </a:xfrm>
          <a:prstGeom prst="rect">
            <a:avLst/>
          </a:prstGeom>
          <a:solidFill>
            <a:srgbClr val="38D9F0"/>
          </a:solidFill>
          <a:ln w="12700">
            <a:solidFill>
              <a:srgbClr val="38D9F0"/>
            </a:solidFill>
            <a:prstDash val="solid"/>
          </a:ln>
        </p:spPr>
      </p:sp>
      <p:sp>
        <p:nvSpPr>
          <p:cNvPr id="43" name="Text 41"/>
          <p:cNvSpPr/>
          <p:nvPr/>
        </p:nvSpPr>
        <p:spPr>
          <a:xfrm>
            <a:off x="5715000" y="4343400"/>
            <a:ext cx="2651760" cy="777240"/>
          </a:xfrm>
          <a:prstGeom prst="rect">
            <a:avLst/>
          </a:prstGeom>
          <a:noFill/>
          <a:ln/>
        </p:spPr>
        <p:txBody>
          <a:bodyPr wrap="square" lIns="0" tIns="0" rIns="0" bIns="0" rtlCol="0" anchor="ctr"/>
          <a:lstStyle/>
          <a:p>
            <a:pPr indent="0" marL="0">
              <a:buNone/>
            </a:pPr>
            <a:r>
              <a:rPr lang="en-US" sz="3200" dirty="0">
                <a:solidFill>
                  <a:srgbClr val="38D9F0"/>
                </a:solidFill>
                <a:latin typeface="Arial Black" pitchFamily="34" charset="0"/>
                <a:ea typeface="Arial Black" pitchFamily="34" charset="-122"/>
                <a:cs typeface="Arial Black" pitchFamily="34" charset="-120"/>
              </a:rPr>
              <a:t>YES</a:t>
            </a:r>
            <a:endParaRPr lang="en-US" sz="3200" dirty="0"/>
          </a:p>
        </p:txBody>
      </p:sp>
      <p:sp>
        <p:nvSpPr>
          <p:cNvPr id="44" name="Text 42"/>
          <p:cNvSpPr/>
          <p:nvPr/>
        </p:nvSpPr>
        <p:spPr>
          <a:xfrm>
            <a:off x="5715000" y="5120640"/>
            <a:ext cx="2651760" cy="320040"/>
          </a:xfrm>
          <a:prstGeom prst="rect">
            <a:avLst/>
          </a:prstGeom>
          <a:noFill/>
          <a:ln/>
        </p:spPr>
        <p:txBody>
          <a:bodyPr wrap="square" lIns="0" tIns="0" rIns="0" bIns="0" rtlCol="0" anchor="ctr"/>
          <a:lstStyle/>
          <a:p>
            <a:pPr indent="0" marL="0">
              <a:buNone/>
            </a:pPr>
            <a:r>
              <a:rPr lang="en-US" sz="950" b="1" spc="300" kern="0" dirty="0">
                <a:solidFill>
                  <a:srgbClr val="ECF1F8"/>
                </a:solidFill>
                <a:latin typeface="Consolas" pitchFamily="34" charset="0"/>
                <a:ea typeface="Consolas" pitchFamily="34" charset="-122"/>
                <a:cs typeface="Consolas" pitchFamily="34" charset="-120"/>
              </a:rPr>
              <a:t>“NON-HUMAN BIOLOGICS”</a:t>
            </a:r>
            <a:endParaRPr lang="en-US" sz="950" dirty="0"/>
          </a:p>
        </p:txBody>
      </p:sp>
      <p:sp>
        <p:nvSpPr>
          <p:cNvPr id="45" name="Text 43"/>
          <p:cNvSpPr/>
          <p:nvPr/>
        </p:nvSpPr>
        <p:spPr>
          <a:xfrm>
            <a:off x="5715000" y="5440680"/>
            <a:ext cx="2651760" cy="548640"/>
          </a:xfrm>
          <a:prstGeom prst="rect">
            <a:avLst/>
          </a:prstGeom>
          <a:noFill/>
          <a:ln/>
        </p:spPr>
        <p:txBody>
          <a:bodyPr wrap="square" lIns="0" tIns="0" rIns="0" bIns="0" rtlCol="0" anchor="ctr"/>
          <a:lstStyle/>
          <a:p>
            <a:pPr indent="0" marL="0">
              <a:buNone/>
            </a:pPr>
            <a:r>
              <a:rPr lang="en-US" sz="1100" i="1" dirty="0">
                <a:solidFill>
                  <a:srgbClr val="8A97AD"/>
                </a:solidFill>
                <a:latin typeface="Calibri" pitchFamily="34" charset="0"/>
                <a:ea typeface="Calibri" pitchFamily="34" charset="-122"/>
                <a:cs typeface="Calibri" pitchFamily="34" charset="-120"/>
              </a:rPr>
              <a:t>recovered, per testimony</a:t>
            </a:r>
            <a:endParaRPr lang="en-US" sz="1100" dirty="0"/>
          </a:p>
        </p:txBody>
      </p:sp>
      <p:sp>
        <p:nvSpPr>
          <p:cNvPr id="46" name="Shape 44"/>
          <p:cNvSpPr/>
          <p:nvPr/>
        </p:nvSpPr>
        <p:spPr>
          <a:xfrm>
            <a:off x="8686800" y="4160520"/>
            <a:ext cx="3017520" cy="1783080"/>
          </a:xfrm>
          <a:prstGeom prst="rect">
            <a:avLst/>
          </a:prstGeom>
          <a:solidFill>
            <a:srgbClr val="0F1624"/>
          </a:solidFill>
          <a:ln w="9525">
            <a:solidFill>
              <a:srgbClr val="2B3A55"/>
            </a:solidFill>
            <a:prstDash val="solid"/>
          </a:ln>
        </p:spPr>
      </p:sp>
      <p:sp>
        <p:nvSpPr>
          <p:cNvPr id="47" name="Shape 45"/>
          <p:cNvSpPr/>
          <p:nvPr/>
        </p:nvSpPr>
        <p:spPr>
          <a:xfrm>
            <a:off x="8686800" y="4160520"/>
            <a:ext cx="54864" cy="1783080"/>
          </a:xfrm>
          <a:prstGeom prst="rect">
            <a:avLst/>
          </a:prstGeom>
          <a:solidFill>
            <a:srgbClr val="38D9F0"/>
          </a:solidFill>
          <a:ln w="12700">
            <a:solidFill>
              <a:srgbClr val="38D9F0"/>
            </a:solidFill>
            <a:prstDash val="solid"/>
          </a:ln>
        </p:spPr>
      </p:sp>
      <p:sp>
        <p:nvSpPr>
          <p:cNvPr id="48" name="Text 46"/>
          <p:cNvSpPr/>
          <p:nvPr/>
        </p:nvSpPr>
        <p:spPr>
          <a:xfrm>
            <a:off x="8915400" y="4343400"/>
            <a:ext cx="2651760" cy="777240"/>
          </a:xfrm>
          <a:prstGeom prst="rect">
            <a:avLst/>
          </a:prstGeom>
          <a:noFill/>
          <a:ln/>
        </p:spPr>
        <p:txBody>
          <a:bodyPr wrap="square" lIns="0" tIns="0" rIns="0" bIns="0" rtlCol="0" anchor="ctr"/>
          <a:lstStyle/>
          <a:p>
            <a:pPr indent="0" marL="0">
              <a:buNone/>
            </a:pPr>
            <a:r>
              <a:rPr lang="en-US" sz="3200" dirty="0">
                <a:solidFill>
                  <a:srgbClr val="38D9F0"/>
                </a:solidFill>
                <a:latin typeface="Arial Black" pitchFamily="34" charset="0"/>
                <a:ea typeface="Arial Black" pitchFamily="34" charset="-122"/>
                <a:cs typeface="Arial Black" pitchFamily="34" charset="-120"/>
              </a:rPr>
              <a:t>GOP+D</a:t>
            </a:r>
            <a:endParaRPr lang="en-US" sz="3200" dirty="0"/>
          </a:p>
        </p:txBody>
      </p:sp>
      <p:sp>
        <p:nvSpPr>
          <p:cNvPr id="49" name="Text 47"/>
          <p:cNvSpPr/>
          <p:nvPr/>
        </p:nvSpPr>
        <p:spPr>
          <a:xfrm>
            <a:off x="8915400" y="5120640"/>
            <a:ext cx="2651760" cy="320040"/>
          </a:xfrm>
          <a:prstGeom prst="rect">
            <a:avLst/>
          </a:prstGeom>
          <a:noFill/>
          <a:ln/>
        </p:spPr>
        <p:txBody>
          <a:bodyPr wrap="square" lIns="0" tIns="0" rIns="0" bIns="0" rtlCol="0" anchor="ctr"/>
          <a:lstStyle/>
          <a:p>
            <a:pPr indent="0" marL="0">
              <a:buNone/>
            </a:pPr>
            <a:r>
              <a:rPr lang="en-US" sz="950" b="1" spc="300" kern="0" dirty="0">
                <a:solidFill>
                  <a:srgbClr val="ECF1F8"/>
                </a:solidFill>
                <a:latin typeface="Consolas" pitchFamily="34" charset="0"/>
                <a:ea typeface="Consolas" pitchFamily="34" charset="-122"/>
                <a:cs typeface="Consolas" pitchFamily="34" charset="-120"/>
              </a:rPr>
              <a:t>BIPARTISAN RECEPTION</a:t>
            </a:r>
            <a:endParaRPr lang="en-US" sz="950" dirty="0"/>
          </a:p>
        </p:txBody>
      </p:sp>
      <p:sp>
        <p:nvSpPr>
          <p:cNvPr id="50" name="Text 48"/>
          <p:cNvSpPr/>
          <p:nvPr/>
        </p:nvSpPr>
        <p:spPr>
          <a:xfrm>
            <a:off x="8915400" y="5440680"/>
            <a:ext cx="2651760" cy="548640"/>
          </a:xfrm>
          <a:prstGeom prst="rect">
            <a:avLst/>
          </a:prstGeom>
          <a:noFill/>
          <a:ln/>
        </p:spPr>
        <p:txBody>
          <a:bodyPr wrap="square" lIns="0" tIns="0" rIns="0" bIns="0" rtlCol="0" anchor="ctr"/>
          <a:lstStyle/>
          <a:p>
            <a:pPr indent="0" marL="0">
              <a:buNone/>
            </a:pPr>
            <a:r>
              <a:rPr lang="en-US" sz="1100" i="1" dirty="0">
                <a:solidFill>
                  <a:srgbClr val="8A97AD"/>
                </a:solidFill>
                <a:latin typeface="Calibri" pitchFamily="34" charset="0"/>
                <a:ea typeface="Calibri" pitchFamily="34" charset="-122"/>
                <a:cs typeface="Calibri" pitchFamily="34" charset="-120"/>
              </a:rPr>
              <a:t>Burchett · Luna · AOC · Moskowitz</a:t>
            </a:r>
            <a:endParaRPr lang="en-US" sz="1100" dirty="0"/>
          </a:p>
        </p:txBody>
      </p:sp>
      <p:sp>
        <p:nvSpPr>
          <p:cNvPr id="51" name="Text 49"/>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DoD response: “no verifiable information to substantiate.” Grusch referred specifics to classified setting.</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DOC-030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NASA · 14 SEP 2023</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THE NASA STUDY</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30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08</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NASA  ·  The Civilian Science Pivot</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5760720" cy="388620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86200"/>
          </a:xfrm>
          <a:prstGeom prst="rect">
            <a:avLst/>
          </a:prstGeom>
          <a:solidFill>
            <a:srgbClr val="38D9F0"/>
          </a:solidFill>
          <a:ln w="12700">
            <a:solidFill>
              <a:srgbClr val="38D9F0"/>
            </a:solidFill>
            <a:prstDash val="solid"/>
          </a:ln>
        </p:spPr>
      </p:sp>
      <p:sp>
        <p:nvSpPr>
          <p:cNvPr id="26" name="Text 24"/>
          <p:cNvSpPr/>
          <p:nvPr/>
        </p:nvSpPr>
        <p:spPr>
          <a:xfrm>
            <a:off x="777240" y="2377440"/>
            <a:ext cx="5303520" cy="274320"/>
          </a:xfrm>
          <a:prstGeom prst="rect">
            <a:avLst/>
          </a:prstGeom>
          <a:noFill/>
          <a:ln/>
        </p:spPr>
        <p:txBody>
          <a:bodyPr wrap="square" lIns="0" tIns="0" rIns="0" bIns="0" rtlCol="0" anchor="ctr"/>
          <a:lstStyle/>
          <a:p>
            <a:pPr indent="0" marL="0">
              <a:buNone/>
            </a:pPr>
            <a:r>
              <a:rPr lang="en-US" sz="1000" b="1" spc="500" kern="0" dirty="0">
                <a:solidFill>
                  <a:srgbClr val="38D9F0"/>
                </a:solidFill>
                <a:latin typeface="Consolas" pitchFamily="34" charset="0"/>
                <a:ea typeface="Consolas" pitchFamily="34" charset="-122"/>
                <a:cs typeface="Consolas" pitchFamily="34" charset="-120"/>
              </a:rPr>
              <a:t>INDEPENDENT STUDY TEAM REPORT</a:t>
            </a:r>
            <a:endParaRPr lang="en-US" sz="1000" dirty="0"/>
          </a:p>
        </p:txBody>
      </p:sp>
      <p:sp>
        <p:nvSpPr>
          <p:cNvPr id="27" name="Text 25"/>
          <p:cNvSpPr/>
          <p:nvPr/>
        </p:nvSpPr>
        <p:spPr>
          <a:xfrm>
            <a:off x="777240" y="2743200"/>
            <a:ext cx="5303520" cy="1645920"/>
          </a:xfrm>
          <a:prstGeom prst="rect">
            <a:avLst/>
          </a:prstGeom>
          <a:noFill/>
          <a:ln/>
        </p:spPr>
        <p:txBody>
          <a:bodyPr wrap="square" lIns="0" tIns="0" rIns="0" bIns="0" rtlCol="0" anchor="ctr"/>
          <a:lstStyle/>
          <a:p>
            <a:pPr indent="0" marL="0">
              <a:buNone/>
            </a:pPr>
            <a:r>
              <a:rPr lang="en-US" sz="1800" i="1" dirty="0">
                <a:solidFill>
                  <a:srgbClr val="ECF1F8"/>
                </a:solidFill>
                <a:latin typeface="Calibri" pitchFamily="34" charset="0"/>
                <a:ea typeface="Calibri" pitchFamily="34" charset="-122"/>
                <a:cs typeface="Calibri" pitchFamily="34" charset="-120"/>
              </a:rPr>
              <a:t>“There is no conclusive evidence suggesting an extraterrestrial origin for UAP.”</a:t>
            </a:r>
            <a:endParaRPr lang="en-US" sz="1800" dirty="0"/>
          </a:p>
        </p:txBody>
      </p:sp>
      <p:sp>
        <p:nvSpPr>
          <p:cNvPr id="28" name="Shape 26"/>
          <p:cNvSpPr/>
          <p:nvPr/>
        </p:nvSpPr>
        <p:spPr>
          <a:xfrm>
            <a:off x="777240" y="4480560"/>
            <a:ext cx="5303520" cy="0"/>
          </a:xfrm>
          <a:prstGeom prst="line">
            <a:avLst/>
          </a:prstGeom>
          <a:noFill/>
          <a:ln w="9525">
            <a:solidFill>
              <a:srgbClr val="2B3A55"/>
            </a:solidFill>
            <a:prstDash val="solid"/>
          </a:ln>
        </p:spPr>
      </p:sp>
      <p:sp>
        <p:nvSpPr>
          <p:cNvPr id="29" name="Text 27"/>
          <p:cNvSpPr/>
          <p:nvPr/>
        </p:nvSpPr>
        <p:spPr>
          <a:xfrm>
            <a:off x="777240" y="4617720"/>
            <a:ext cx="5303520" cy="1554480"/>
          </a:xfrm>
          <a:prstGeom prst="rect">
            <a:avLst/>
          </a:prstGeom>
          <a:noFill/>
          <a:ln/>
        </p:spPr>
        <p:txBody>
          <a:bodyPr wrap="square" lIns="0" tIns="0" rIns="0" bIns="0" rtlCol="0" anchor="ctr"/>
          <a:lstStyle/>
          <a:p>
            <a:pPr indent="0" marL="0">
              <a:buNone/>
            </a:pPr>
            <a:r>
              <a:rPr lang="en-US" sz="1300" dirty="0">
                <a:solidFill>
                  <a:srgbClr val="8A97AD"/>
                </a:solidFill>
                <a:latin typeface="Calibri" pitchFamily="34" charset="0"/>
                <a:ea typeface="Calibri" pitchFamily="34" charset="-122"/>
                <a:cs typeface="Calibri" pitchFamily="34" charset="-120"/>
              </a:rPr>
              <a:t>But: data quality is the limiting factor. NASA calls for systematic, open, crowdsourced observations using modern sensor networks and machine learning.</a:t>
            </a:r>
            <a:endParaRPr lang="en-US" sz="1300" dirty="0"/>
          </a:p>
        </p:txBody>
      </p:sp>
      <p:sp>
        <p:nvSpPr>
          <p:cNvPr id="30" name="Shape 28"/>
          <p:cNvSpPr/>
          <p:nvPr/>
        </p:nvSpPr>
        <p:spPr>
          <a:xfrm>
            <a:off x="6400800" y="2194560"/>
            <a:ext cx="5303520" cy="896112"/>
          </a:xfrm>
          <a:prstGeom prst="rect">
            <a:avLst/>
          </a:prstGeom>
          <a:solidFill>
            <a:srgbClr val="0F1624"/>
          </a:solidFill>
          <a:ln w="9525">
            <a:solidFill>
              <a:srgbClr val="2B3A55"/>
            </a:solidFill>
            <a:prstDash val="solid"/>
          </a:ln>
        </p:spPr>
      </p:sp>
      <p:sp>
        <p:nvSpPr>
          <p:cNvPr id="31" name="Shape 29"/>
          <p:cNvSpPr/>
          <p:nvPr/>
        </p:nvSpPr>
        <p:spPr>
          <a:xfrm>
            <a:off x="6400800" y="2194560"/>
            <a:ext cx="54864" cy="896112"/>
          </a:xfrm>
          <a:prstGeom prst="rect">
            <a:avLst/>
          </a:prstGeom>
          <a:solidFill>
            <a:srgbClr val="F5B024"/>
          </a:solidFill>
          <a:ln w="12700">
            <a:solidFill>
              <a:srgbClr val="F5B024"/>
            </a:solidFill>
            <a:prstDash val="solid"/>
          </a:ln>
        </p:spPr>
      </p:sp>
      <p:sp>
        <p:nvSpPr>
          <p:cNvPr id="32" name="Text 30"/>
          <p:cNvSpPr/>
          <p:nvPr/>
        </p:nvSpPr>
        <p:spPr>
          <a:xfrm>
            <a:off x="6583680" y="2331720"/>
            <a:ext cx="49834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STUDY CHAIR</a:t>
            </a:r>
            <a:endParaRPr lang="en-US" sz="900" dirty="0"/>
          </a:p>
        </p:txBody>
      </p:sp>
      <p:sp>
        <p:nvSpPr>
          <p:cNvPr id="33" name="Text 31"/>
          <p:cNvSpPr/>
          <p:nvPr/>
        </p:nvSpPr>
        <p:spPr>
          <a:xfrm>
            <a:off x="6583680" y="2560320"/>
            <a:ext cx="4983480" cy="365760"/>
          </a:xfrm>
          <a:prstGeom prst="rect">
            <a:avLst/>
          </a:prstGeom>
          <a:noFill/>
          <a:ln/>
        </p:spPr>
        <p:txBody>
          <a:bodyPr wrap="square" lIns="0" tIns="0" rIns="0" bIns="0" rtlCol="0" anchor="ctr"/>
          <a:lstStyle/>
          <a:p>
            <a:pPr indent="0" marL="0">
              <a:buNone/>
            </a:pPr>
            <a:r>
              <a:rPr lang="en-US" sz="1600" dirty="0">
                <a:solidFill>
                  <a:srgbClr val="F5B024"/>
                </a:solidFill>
                <a:latin typeface="Arial Black" pitchFamily="34" charset="0"/>
                <a:ea typeface="Arial Black" pitchFamily="34" charset="-122"/>
                <a:cs typeface="Arial Black" pitchFamily="34" charset="-120"/>
              </a:rPr>
              <a:t>DAVID SPERGEL</a:t>
            </a:r>
            <a:endParaRPr lang="en-US" sz="1600" dirty="0"/>
          </a:p>
        </p:txBody>
      </p:sp>
      <p:sp>
        <p:nvSpPr>
          <p:cNvPr id="34" name="Text 32"/>
          <p:cNvSpPr/>
          <p:nvPr/>
        </p:nvSpPr>
        <p:spPr>
          <a:xfrm>
            <a:off x="6583680" y="2880360"/>
            <a:ext cx="4983480" cy="274320"/>
          </a:xfrm>
          <a:prstGeom prst="rect">
            <a:avLst/>
          </a:prstGeom>
          <a:noFill/>
          <a:ln/>
        </p:spPr>
        <p:txBody>
          <a:bodyPr wrap="square" lIns="0" tIns="0" rIns="0" bIns="0" rtlCol="0" anchor="ctr"/>
          <a:lstStyle/>
          <a:p>
            <a:pPr indent="0" marL="0">
              <a:buNone/>
            </a:pPr>
            <a:r>
              <a:rPr lang="en-US" sz="1100" i="1" dirty="0">
                <a:solidFill>
                  <a:srgbClr val="ECF1F8"/>
                </a:solidFill>
                <a:latin typeface="Calibri" pitchFamily="34" charset="0"/>
                <a:ea typeface="Calibri" pitchFamily="34" charset="-122"/>
                <a:cs typeface="Calibri" pitchFamily="34" charset="-120"/>
              </a:rPr>
              <a:t>President, Simons Foundation</a:t>
            </a:r>
            <a:endParaRPr lang="en-US" sz="1100" dirty="0"/>
          </a:p>
        </p:txBody>
      </p:sp>
      <p:sp>
        <p:nvSpPr>
          <p:cNvPr id="35" name="Shape 33"/>
          <p:cNvSpPr/>
          <p:nvPr/>
        </p:nvSpPr>
        <p:spPr>
          <a:xfrm>
            <a:off x="6400800" y="3182112"/>
            <a:ext cx="5303520" cy="896112"/>
          </a:xfrm>
          <a:prstGeom prst="rect">
            <a:avLst/>
          </a:prstGeom>
          <a:solidFill>
            <a:srgbClr val="0F1624"/>
          </a:solidFill>
          <a:ln w="9525">
            <a:solidFill>
              <a:srgbClr val="2B3A55"/>
            </a:solidFill>
            <a:prstDash val="solid"/>
          </a:ln>
        </p:spPr>
      </p:sp>
      <p:sp>
        <p:nvSpPr>
          <p:cNvPr id="36" name="Shape 34"/>
          <p:cNvSpPr/>
          <p:nvPr/>
        </p:nvSpPr>
        <p:spPr>
          <a:xfrm>
            <a:off x="6400800" y="3182112"/>
            <a:ext cx="54864" cy="896112"/>
          </a:xfrm>
          <a:prstGeom prst="rect">
            <a:avLst/>
          </a:prstGeom>
          <a:solidFill>
            <a:srgbClr val="F5B024"/>
          </a:solidFill>
          <a:ln w="12700">
            <a:solidFill>
              <a:srgbClr val="F5B024"/>
            </a:solidFill>
            <a:prstDash val="solid"/>
          </a:ln>
        </p:spPr>
      </p:sp>
      <p:sp>
        <p:nvSpPr>
          <p:cNvPr id="37" name="Text 35"/>
          <p:cNvSpPr/>
          <p:nvPr/>
        </p:nvSpPr>
        <p:spPr>
          <a:xfrm>
            <a:off x="6583680" y="3319272"/>
            <a:ext cx="49834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NASA ADMINISTRATOR</a:t>
            </a:r>
            <a:endParaRPr lang="en-US" sz="900" dirty="0"/>
          </a:p>
        </p:txBody>
      </p:sp>
      <p:sp>
        <p:nvSpPr>
          <p:cNvPr id="38" name="Text 36"/>
          <p:cNvSpPr/>
          <p:nvPr/>
        </p:nvSpPr>
        <p:spPr>
          <a:xfrm>
            <a:off x="6583680" y="3547872"/>
            <a:ext cx="4983480" cy="365760"/>
          </a:xfrm>
          <a:prstGeom prst="rect">
            <a:avLst/>
          </a:prstGeom>
          <a:noFill/>
          <a:ln/>
        </p:spPr>
        <p:txBody>
          <a:bodyPr wrap="square" lIns="0" tIns="0" rIns="0" bIns="0" rtlCol="0" anchor="ctr"/>
          <a:lstStyle/>
          <a:p>
            <a:pPr indent="0" marL="0">
              <a:buNone/>
            </a:pPr>
            <a:r>
              <a:rPr lang="en-US" sz="1600" dirty="0">
                <a:solidFill>
                  <a:srgbClr val="F5B024"/>
                </a:solidFill>
                <a:latin typeface="Arial Black" pitchFamily="34" charset="0"/>
                <a:ea typeface="Arial Black" pitchFamily="34" charset="-122"/>
                <a:cs typeface="Arial Black" pitchFamily="34" charset="-120"/>
              </a:rPr>
              <a:t>SEN. BILL NELSON</a:t>
            </a:r>
            <a:endParaRPr lang="en-US" sz="1600" dirty="0"/>
          </a:p>
        </p:txBody>
      </p:sp>
      <p:sp>
        <p:nvSpPr>
          <p:cNvPr id="39" name="Text 37"/>
          <p:cNvSpPr/>
          <p:nvPr/>
        </p:nvSpPr>
        <p:spPr>
          <a:xfrm>
            <a:off x="6583680" y="3867912"/>
            <a:ext cx="4983480" cy="274320"/>
          </a:xfrm>
          <a:prstGeom prst="rect">
            <a:avLst/>
          </a:prstGeom>
          <a:noFill/>
          <a:ln/>
        </p:spPr>
        <p:txBody>
          <a:bodyPr wrap="square" lIns="0" tIns="0" rIns="0" bIns="0" rtlCol="0" anchor="ctr"/>
          <a:lstStyle/>
          <a:p>
            <a:pPr indent="0" marL="0">
              <a:buNone/>
            </a:pPr>
            <a:r>
              <a:rPr lang="en-US" sz="1100" i="1" dirty="0">
                <a:solidFill>
                  <a:srgbClr val="ECF1F8"/>
                </a:solidFill>
                <a:latin typeface="Calibri" pitchFamily="34" charset="0"/>
                <a:ea typeface="Calibri" pitchFamily="34" charset="-122"/>
                <a:cs typeface="Calibri" pitchFamily="34" charset="-120"/>
              </a:rPr>
              <a:t>Commissioned the panel, Jun 2022</a:t>
            </a:r>
            <a:endParaRPr lang="en-US" sz="1100" dirty="0"/>
          </a:p>
        </p:txBody>
      </p:sp>
      <p:sp>
        <p:nvSpPr>
          <p:cNvPr id="40" name="Shape 38"/>
          <p:cNvSpPr/>
          <p:nvPr/>
        </p:nvSpPr>
        <p:spPr>
          <a:xfrm>
            <a:off x="6400800" y="4169664"/>
            <a:ext cx="5303520" cy="896112"/>
          </a:xfrm>
          <a:prstGeom prst="rect">
            <a:avLst/>
          </a:prstGeom>
          <a:solidFill>
            <a:srgbClr val="0F1624"/>
          </a:solidFill>
          <a:ln w="9525">
            <a:solidFill>
              <a:srgbClr val="2B3A55"/>
            </a:solidFill>
            <a:prstDash val="solid"/>
          </a:ln>
        </p:spPr>
      </p:sp>
      <p:sp>
        <p:nvSpPr>
          <p:cNvPr id="41" name="Shape 39"/>
          <p:cNvSpPr/>
          <p:nvPr/>
        </p:nvSpPr>
        <p:spPr>
          <a:xfrm>
            <a:off x="6400800" y="4169664"/>
            <a:ext cx="54864" cy="896112"/>
          </a:xfrm>
          <a:prstGeom prst="rect">
            <a:avLst/>
          </a:prstGeom>
          <a:solidFill>
            <a:srgbClr val="F5B024"/>
          </a:solidFill>
          <a:ln w="12700">
            <a:solidFill>
              <a:srgbClr val="F5B024"/>
            </a:solidFill>
            <a:prstDash val="solid"/>
          </a:ln>
        </p:spPr>
      </p:sp>
      <p:sp>
        <p:nvSpPr>
          <p:cNvPr id="42" name="Text 40"/>
          <p:cNvSpPr/>
          <p:nvPr/>
        </p:nvSpPr>
        <p:spPr>
          <a:xfrm>
            <a:off x="6583680" y="4306824"/>
            <a:ext cx="49834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UAP RESEARCH DIR.</a:t>
            </a:r>
            <a:endParaRPr lang="en-US" sz="900" dirty="0"/>
          </a:p>
        </p:txBody>
      </p:sp>
      <p:sp>
        <p:nvSpPr>
          <p:cNvPr id="43" name="Text 41"/>
          <p:cNvSpPr/>
          <p:nvPr/>
        </p:nvSpPr>
        <p:spPr>
          <a:xfrm>
            <a:off x="6583680" y="4535424"/>
            <a:ext cx="4983480" cy="365760"/>
          </a:xfrm>
          <a:prstGeom prst="rect">
            <a:avLst/>
          </a:prstGeom>
          <a:noFill/>
          <a:ln/>
        </p:spPr>
        <p:txBody>
          <a:bodyPr wrap="square" lIns="0" tIns="0" rIns="0" bIns="0" rtlCol="0" anchor="ctr"/>
          <a:lstStyle/>
          <a:p>
            <a:pPr indent="0" marL="0">
              <a:buNone/>
            </a:pPr>
            <a:r>
              <a:rPr lang="en-US" sz="1600" dirty="0">
                <a:solidFill>
                  <a:srgbClr val="F5B024"/>
                </a:solidFill>
                <a:latin typeface="Arial Black" pitchFamily="34" charset="0"/>
                <a:ea typeface="Arial Black" pitchFamily="34" charset="-122"/>
                <a:cs typeface="Arial Black" pitchFamily="34" charset="-120"/>
              </a:rPr>
              <a:t>MARK MCINERNEY</a:t>
            </a:r>
            <a:endParaRPr lang="en-US" sz="1600" dirty="0"/>
          </a:p>
        </p:txBody>
      </p:sp>
      <p:sp>
        <p:nvSpPr>
          <p:cNvPr id="44" name="Text 42"/>
          <p:cNvSpPr/>
          <p:nvPr/>
        </p:nvSpPr>
        <p:spPr>
          <a:xfrm>
            <a:off x="6583680" y="4855464"/>
            <a:ext cx="4983480" cy="274320"/>
          </a:xfrm>
          <a:prstGeom prst="rect">
            <a:avLst/>
          </a:prstGeom>
          <a:noFill/>
          <a:ln/>
        </p:spPr>
        <p:txBody>
          <a:bodyPr wrap="square" lIns="0" tIns="0" rIns="0" bIns="0" rtlCol="0" anchor="ctr"/>
          <a:lstStyle/>
          <a:p>
            <a:pPr indent="0" marL="0">
              <a:buNone/>
            </a:pPr>
            <a:r>
              <a:rPr lang="en-US" sz="1100" i="1" dirty="0">
                <a:solidFill>
                  <a:srgbClr val="ECF1F8"/>
                </a:solidFill>
                <a:latin typeface="Calibri" pitchFamily="34" charset="0"/>
                <a:ea typeface="Calibri" pitchFamily="34" charset="-122"/>
                <a:cs typeface="Calibri" pitchFamily="34" charset="-120"/>
              </a:rPr>
              <a:t>Appointed following the report</a:t>
            </a:r>
            <a:endParaRPr lang="en-US" sz="1100" dirty="0"/>
          </a:p>
        </p:txBody>
      </p:sp>
      <p:sp>
        <p:nvSpPr>
          <p:cNvPr id="45" name="Shape 43"/>
          <p:cNvSpPr/>
          <p:nvPr/>
        </p:nvSpPr>
        <p:spPr>
          <a:xfrm>
            <a:off x="6400800" y="5157216"/>
            <a:ext cx="5303520" cy="896112"/>
          </a:xfrm>
          <a:prstGeom prst="rect">
            <a:avLst/>
          </a:prstGeom>
          <a:solidFill>
            <a:srgbClr val="0F1624"/>
          </a:solidFill>
          <a:ln w="9525">
            <a:solidFill>
              <a:srgbClr val="2B3A55"/>
            </a:solidFill>
            <a:prstDash val="solid"/>
          </a:ln>
        </p:spPr>
      </p:sp>
      <p:sp>
        <p:nvSpPr>
          <p:cNvPr id="46" name="Shape 44"/>
          <p:cNvSpPr/>
          <p:nvPr/>
        </p:nvSpPr>
        <p:spPr>
          <a:xfrm>
            <a:off x="6400800" y="5157216"/>
            <a:ext cx="54864" cy="896112"/>
          </a:xfrm>
          <a:prstGeom prst="rect">
            <a:avLst/>
          </a:prstGeom>
          <a:solidFill>
            <a:srgbClr val="F5B024"/>
          </a:solidFill>
          <a:ln w="12700">
            <a:solidFill>
              <a:srgbClr val="F5B024"/>
            </a:solidFill>
            <a:prstDash val="solid"/>
          </a:ln>
        </p:spPr>
      </p:sp>
      <p:sp>
        <p:nvSpPr>
          <p:cNvPr id="47" name="Text 45"/>
          <p:cNvSpPr/>
          <p:nvPr/>
        </p:nvSpPr>
        <p:spPr>
          <a:xfrm>
            <a:off x="6583680" y="5294376"/>
            <a:ext cx="4983480" cy="228600"/>
          </a:xfrm>
          <a:prstGeom prst="rect">
            <a:avLst/>
          </a:prstGeom>
          <a:noFill/>
          <a:ln/>
        </p:spPr>
        <p:txBody>
          <a:bodyPr wrap="square" lIns="0" tIns="0" rIns="0" bIns="0" rtlCol="0" anchor="ctr"/>
          <a:lstStyle/>
          <a:p>
            <a:pPr indent="0" marL="0">
              <a:buNone/>
            </a:pPr>
            <a:r>
              <a:rPr lang="en-US" sz="900" b="1" spc="400" kern="0" dirty="0">
                <a:solidFill>
                  <a:srgbClr val="8A97AD"/>
                </a:solidFill>
                <a:latin typeface="Consolas" pitchFamily="34" charset="0"/>
                <a:ea typeface="Consolas" pitchFamily="34" charset="-122"/>
                <a:cs typeface="Consolas" pitchFamily="34" charset="-120"/>
              </a:rPr>
              <a:t>PANEL SIZE</a:t>
            </a:r>
            <a:endParaRPr lang="en-US" sz="900" dirty="0"/>
          </a:p>
        </p:txBody>
      </p:sp>
      <p:sp>
        <p:nvSpPr>
          <p:cNvPr id="48" name="Text 46"/>
          <p:cNvSpPr/>
          <p:nvPr/>
        </p:nvSpPr>
        <p:spPr>
          <a:xfrm>
            <a:off x="6583680" y="5522976"/>
            <a:ext cx="4983480" cy="365760"/>
          </a:xfrm>
          <a:prstGeom prst="rect">
            <a:avLst/>
          </a:prstGeom>
          <a:noFill/>
          <a:ln/>
        </p:spPr>
        <p:txBody>
          <a:bodyPr wrap="square" lIns="0" tIns="0" rIns="0" bIns="0" rtlCol="0" anchor="ctr"/>
          <a:lstStyle/>
          <a:p>
            <a:pPr indent="0" marL="0">
              <a:buNone/>
            </a:pPr>
            <a:r>
              <a:rPr lang="en-US" sz="1600" dirty="0">
                <a:solidFill>
                  <a:srgbClr val="F5B024"/>
                </a:solidFill>
                <a:latin typeface="Arial Black" pitchFamily="34" charset="0"/>
                <a:ea typeface="Arial Black" pitchFamily="34" charset="-122"/>
                <a:cs typeface="Arial Black" pitchFamily="34" charset="-120"/>
              </a:rPr>
              <a:t>16 EXPERTS</a:t>
            </a:r>
            <a:endParaRPr lang="en-US" sz="1600" dirty="0"/>
          </a:p>
        </p:txBody>
      </p:sp>
      <p:sp>
        <p:nvSpPr>
          <p:cNvPr id="49" name="Text 47"/>
          <p:cNvSpPr/>
          <p:nvPr/>
        </p:nvSpPr>
        <p:spPr>
          <a:xfrm>
            <a:off x="6583680" y="5843016"/>
            <a:ext cx="4983480" cy="274320"/>
          </a:xfrm>
          <a:prstGeom prst="rect">
            <a:avLst/>
          </a:prstGeom>
          <a:noFill/>
          <a:ln/>
        </p:spPr>
        <p:txBody>
          <a:bodyPr wrap="square" lIns="0" tIns="0" rIns="0" bIns="0" rtlCol="0" anchor="ctr"/>
          <a:lstStyle/>
          <a:p>
            <a:pPr indent="0" marL="0">
              <a:buNone/>
            </a:pPr>
            <a:r>
              <a:rPr lang="en-US" sz="1100" i="1" dirty="0">
                <a:solidFill>
                  <a:srgbClr val="ECF1F8"/>
                </a:solidFill>
                <a:latin typeface="Calibri" pitchFamily="34" charset="0"/>
                <a:ea typeface="Calibri" pitchFamily="34" charset="-122"/>
                <a:cs typeface="Calibri" pitchFamily="34" charset="-120"/>
              </a:rPr>
              <a:t>Astro, data, intel, aviation</a:t>
            </a:r>
            <a:endParaRPr lang="en-US" sz="1100" dirty="0"/>
          </a:p>
        </p:txBody>
      </p:sp>
      <p:sp>
        <p:nvSpPr>
          <p:cNvPr id="50" name="Text 48"/>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NASA UAP Independent Study Team Report, 14 Sep 2023, 33 pp. Public release &amp; livestream.</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DOC-031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AARO · 08 MAR 2024</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AARO HISTORICAL REPORT</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31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09</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AARO Historical Report  ·  Volume I</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11064240" cy="1097280"/>
          </a:xfrm>
          <a:prstGeom prst="rect">
            <a:avLst/>
          </a:prstGeom>
          <a:solidFill>
            <a:srgbClr val="0F1624"/>
          </a:solidFill>
          <a:ln w="9525">
            <a:solidFill>
              <a:srgbClr val="2B3A55"/>
            </a:solidFill>
            <a:prstDash val="solid"/>
          </a:ln>
        </p:spPr>
      </p:sp>
      <p:sp>
        <p:nvSpPr>
          <p:cNvPr id="25" name="Shape 23"/>
          <p:cNvSpPr/>
          <p:nvPr/>
        </p:nvSpPr>
        <p:spPr>
          <a:xfrm>
            <a:off x="548640" y="2194560"/>
            <a:ext cx="54864" cy="1097280"/>
          </a:xfrm>
          <a:prstGeom prst="rect">
            <a:avLst/>
          </a:prstGeom>
          <a:solidFill>
            <a:srgbClr val="E8434C"/>
          </a:solidFill>
          <a:ln w="12700">
            <a:solidFill>
              <a:srgbClr val="E8434C"/>
            </a:solidFill>
            <a:prstDash val="solid"/>
          </a:ln>
        </p:spPr>
      </p:sp>
      <p:sp>
        <p:nvSpPr>
          <p:cNvPr id="26" name="Text 24"/>
          <p:cNvSpPr/>
          <p:nvPr/>
        </p:nvSpPr>
        <p:spPr>
          <a:xfrm>
            <a:off x="777240" y="2331720"/>
            <a:ext cx="10607040" cy="274320"/>
          </a:xfrm>
          <a:prstGeom prst="rect">
            <a:avLst/>
          </a:prstGeom>
          <a:noFill/>
          <a:ln/>
        </p:spPr>
        <p:txBody>
          <a:bodyPr wrap="square" lIns="0" tIns="0" rIns="0" bIns="0" rtlCol="0" anchor="ctr"/>
          <a:lstStyle/>
          <a:p>
            <a:pPr indent="0" marL="0">
              <a:buNone/>
            </a:pPr>
            <a:r>
              <a:rPr lang="en-US" sz="1000" b="1" spc="500" kern="0" dirty="0">
                <a:solidFill>
                  <a:srgbClr val="E8434C"/>
                </a:solidFill>
                <a:latin typeface="Consolas" pitchFamily="34" charset="0"/>
                <a:ea typeface="Consolas" pitchFamily="34" charset="-122"/>
                <a:cs typeface="Consolas" pitchFamily="34" charset="-120"/>
              </a:rPr>
              <a:t>CENTRAL FINDING</a:t>
            </a:r>
            <a:endParaRPr lang="en-US" sz="1000" dirty="0"/>
          </a:p>
        </p:txBody>
      </p:sp>
      <p:sp>
        <p:nvSpPr>
          <p:cNvPr id="27" name="Text 25"/>
          <p:cNvSpPr/>
          <p:nvPr/>
        </p:nvSpPr>
        <p:spPr>
          <a:xfrm>
            <a:off x="777240" y="2606040"/>
            <a:ext cx="10607040" cy="640080"/>
          </a:xfrm>
          <a:prstGeom prst="rect">
            <a:avLst/>
          </a:prstGeom>
          <a:noFill/>
          <a:ln/>
        </p:spPr>
        <p:txBody>
          <a:bodyPr wrap="square" lIns="0" tIns="0" rIns="0" bIns="0" rtlCol="0" anchor="ctr"/>
          <a:lstStyle/>
          <a:p>
            <a:pPr indent="0" marL="0">
              <a:buNone/>
            </a:pPr>
            <a:r>
              <a:rPr lang="en-US" sz="1300" i="1" dirty="0">
                <a:solidFill>
                  <a:srgbClr val="ECF1F8"/>
                </a:solidFill>
                <a:latin typeface="Calibri" pitchFamily="34" charset="0"/>
                <a:ea typeface="Calibri" pitchFamily="34" charset="-122"/>
                <a:cs typeface="Calibri" pitchFamily="34" charset="-120"/>
              </a:rPr>
              <a:t>“AARO found no evidence that any U.S. government investigation, academic research, or official review panel has confirmed that any sighting of a UAP represented extraterrestrial technology.”</a:t>
            </a:r>
            <a:endParaRPr lang="en-US" sz="1300" dirty="0"/>
          </a:p>
        </p:txBody>
      </p:sp>
      <p:sp>
        <p:nvSpPr>
          <p:cNvPr id="28" name="Shape 26"/>
          <p:cNvSpPr/>
          <p:nvPr/>
        </p:nvSpPr>
        <p:spPr>
          <a:xfrm>
            <a:off x="530352" y="3474720"/>
            <a:ext cx="3566160" cy="2560320"/>
          </a:xfrm>
          <a:prstGeom prst="rect">
            <a:avLst/>
          </a:prstGeom>
          <a:solidFill>
            <a:srgbClr val="0F1624"/>
          </a:solidFill>
          <a:ln w="9525">
            <a:solidFill>
              <a:srgbClr val="2B3A55"/>
            </a:solidFill>
            <a:prstDash val="solid"/>
          </a:ln>
        </p:spPr>
      </p:sp>
      <p:sp>
        <p:nvSpPr>
          <p:cNvPr id="29" name="Shape 27"/>
          <p:cNvSpPr/>
          <p:nvPr/>
        </p:nvSpPr>
        <p:spPr>
          <a:xfrm>
            <a:off x="530352" y="3474720"/>
            <a:ext cx="54864" cy="2560320"/>
          </a:xfrm>
          <a:prstGeom prst="rect">
            <a:avLst/>
          </a:prstGeom>
          <a:solidFill>
            <a:srgbClr val="38D9F0"/>
          </a:solidFill>
          <a:ln w="12700">
            <a:solidFill>
              <a:srgbClr val="38D9F0"/>
            </a:solidFill>
            <a:prstDash val="solid"/>
          </a:ln>
        </p:spPr>
      </p:sp>
      <p:sp>
        <p:nvSpPr>
          <p:cNvPr id="30" name="Text 28"/>
          <p:cNvSpPr/>
          <p:nvPr/>
        </p:nvSpPr>
        <p:spPr>
          <a:xfrm>
            <a:off x="758952" y="3566160"/>
            <a:ext cx="3200400" cy="502920"/>
          </a:xfrm>
          <a:prstGeom prst="rect">
            <a:avLst/>
          </a:prstGeom>
          <a:noFill/>
          <a:ln/>
        </p:spPr>
        <p:txBody>
          <a:bodyPr wrap="square" lIns="0" tIns="0" rIns="0" bIns="0" rtlCol="0" anchor="ctr"/>
          <a:lstStyle/>
          <a:p>
            <a:pPr indent="0" marL="0">
              <a:buNone/>
            </a:pPr>
            <a:r>
              <a:rPr lang="en-US" sz="3000" dirty="0">
                <a:solidFill>
                  <a:srgbClr val="38D9F0"/>
                </a:solidFill>
                <a:latin typeface="Arial Black" pitchFamily="34" charset="0"/>
                <a:ea typeface="Arial Black" pitchFamily="34" charset="-122"/>
                <a:cs typeface="Arial Black" pitchFamily="34" charset="-120"/>
              </a:rPr>
              <a:t>01</a:t>
            </a:r>
            <a:endParaRPr lang="en-US" sz="3000" dirty="0"/>
          </a:p>
        </p:txBody>
      </p:sp>
      <p:sp>
        <p:nvSpPr>
          <p:cNvPr id="31" name="Text 29"/>
          <p:cNvSpPr/>
          <p:nvPr/>
        </p:nvSpPr>
        <p:spPr>
          <a:xfrm>
            <a:off x="758952" y="4069080"/>
            <a:ext cx="3200400" cy="457200"/>
          </a:xfrm>
          <a:prstGeom prst="rect">
            <a:avLst/>
          </a:prstGeom>
          <a:noFill/>
          <a:ln/>
        </p:spPr>
        <p:txBody>
          <a:bodyPr wrap="square" lIns="0" tIns="0" rIns="0" bIns="0" rtlCol="0" anchor="ctr"/>
          <a:lstStyle/>
          <a:p>
            <a:pPr indent="0" marL="0">
              <a:buNone/>
            </a:pPr>
            <a:r>
              <a:rPr lang="en-US" sz="1050" b="1" spc="300" kern="0" dirty="0">
                <a:solidFill>
                  <a:srgbClr val="ECF1F8"/>
                </a:solidFill>
                <a:latin typeface="Consolas" pitchFamily="34" charset="0"/>
                <a:ea typeface="Consolas" pitchFamily="34" charset="-122"/>
                <a:cs typeface="Consolas" pitchFamily="34" charset="-120"/>
              </a:rPr>
              <a:t>NO REVERSE-ENGINEERING</a:t>
            </a:r>
            <a:endParaRPr lang="en-US" sz="1050" dirty="0"/>
          </a:p>
        </p:txBody>
      </p:sp>
      <p:sp>
        <p:nvSpPr>
          <p:cNvPr id="32" name="Shape 30"/>
          <p:cNvSpPr/>
          <p:nvPr/>
        </p:nvSpPr>
        <p:spPr>
          <a:xfrm>
            <a:off x="758952" y="4572000"/>
            <a:ext cx="3108960" cy="0"/>
          </a:xfrm>
          <a:prstGeom prst="line">
            <a:avLst/>
          </a:prstGeom>
          <a:noFill/>
          <a:ln w="9525">
            <a:solidFill>
              <a:srgbClr val="2B3A55"/>
            </a:solidFill>
            <a:prstDash val="solid"/>
          </a:ln>
        </p:spPr>
      </p:sp>
      <p:sp>
        <p:nvSpPr>
          <p:cNvPr id="33" name="Text 31"/>
          <p:cNvSpPr/>
          <p:nvPr/>
        </p:nvSpPr>
        <p:spPr>
          <a:xfrm>
            <a:off x="758952" y="4663440"/>
            <a:ext cx="3200400" cy="1325880"/>
          </a:xfrm>
          <a:prstGeom prst="rect">
            <a:avLst/>
          </a:prstGeom>
          <a:noFill/>
          <a:ln/>
        </p:spPr>
        <p:txBody>
          <a:bodyPr wrap="square" lIns="0" tIns="0" rIns="0" bIns="0" rtlCol="0" anchor="ctr"/>
          <a:lstStyle/>
          <a:p>
            <a:pPr indent="0" marL="0">
              <a:buNone/>
            </a:pPr>
            <a:r>
              <a:rPr lang="en-US" sz="1150" dirty="0">
                <a:solidFill>
                  <a:srgbClr val="8A97AD"/>
                </a:solidFill>
                <a:latin typeface="Calibri" pitchFamily="34" charset="0"/>
                <a:ea typeface="Calibri" pitchFamily="34" charset="-122"/>
                <a:cs typeface="Calibri" pitchFamily="34" charset="-120"/>
              </a:rPr>
              <a:t>AARO examined every claim of non-human technology in USG custody. “All such claims were found to be the result of misidentification of authentic USG classified programs.”</a:t>
            </a:r>
            <a:endParaRPr lang="en-US" sz="1150" dirty="0"/>
          </a:p>
        </p:txBody>
      </p:sp>
      <p:sp>
        <p:nvSpPr>
          <p:cNvPr id="34" name="Shape 32"/>
          <p:cNvSpPr/>
          <p:nvPr/>
        </p:nvSpPr>
        <p:spPr>
          <a:xfrm>
            <a:off x="4297680" y="3474720"/>
            <a:ext cx="3566160" cy="2560320"/>
          </a:xfrm>
          <a:prstGeom prst="rect">
            <a:avLst/>
          </a:prstGeom>
          <a:solidFill>
            <a:srgbClr val="0F1624"/>
          </a:solidFill>
          <a:ln w="9525">
            <a:solidFill>
              <a:srgbClr val="2B3A55"/>
            </a:solidFill>
            <a:prstDash val="solid"/>
          </a:ln>
        </p:spPr>
      </p:sp>
      <p:sp>
        <p:nvSpPr>
          <p:cNvPr id="35" name="Shape 33"/>
          <p:cNvSpPr/>
          <p:nvPr/>
        </p:nvSpPr>
        <p:spPr>
          <a:xfrm>
            <a:off x="4297680" y="3474720"/>
            <a:ext cx="54864" cy="2560320"/>
          </a:xfrm>
          <a:prstGeom prst="rect">
            <a:avLst/>
          </a:prstGeom>
          <a:solidFill>
            <a:srgbClr val="F5B024"/>
          </a:solidFill>
          <a:ln w="12700">
            <a:solidFill>
              <a:srgbClr val="F5B024"/>
            </a:solidFill>
            <a:prstDash val="solid"/>
          </a:ln>
        </p:spPr>
      </p:sp>
      <p:sp>
        <p:nvSpPr>
          <p:cNvPr id="36" name="Text 34"/>
          <p:cNvSpPr/>
          <p:nvPr/>
        </p:nvSpPr>
        <p:spPr>
          <a:xfrm>
            <a:off x="4526280" y="3566160"/>
            <a:ext cx="3200400" cy="502920"/>
          </a:xfrm>
          <a:prstGeom prst="rect">
            <a:avLst/>
          </a:prstGeom>
          <a:noFill/>
          <a:ln/>
        </p:spPr>
        <p:txBody>
          <a:bodyPr wrap="square" lIns="0" tIns="0" rIns="0" bIns="0" rtlCol="0" anchor="ctr"/>
          <a:lstStyle/>
          <a:p>
            <a:pPr indent="0" marL="0">
              <a:buNone/>
            </a:pPr>
            <a:r>
              <a:rPr lang="en-US" sz="3000" dirty="0">
                <a:solidFill>
                  <a:srgbClr val="F5B024"/>
                </a:solidFill>
                <a:latin typeface="Arial Black" pitchFamily="34" charset="0"/>
                <a:ea typeface="Arial Black" pitchFamily="34" charset="-122"/>
                <a:cs typeface="Arial Black" pitchFamily="34" charset="-120"/>
              </a:rPr>
              <a:t>02</a:t>
            </a:r>
            <a:endParaRPr lang="en-US" sz="3000" dirty="0"/>
          </a:p>
        </p:txBody>
      </p:sp>
      <p:sp>
        <p:nvSpPr>
          <p:cNvPr id="37" name="Text 35"/>
          <p:cNvSpPr/>
          <p:nvPr/>
        </p:nvSpPr>
        <p:spPr>
          <a:xfrm>
            <a:off x="4526280" y="4069080"/>
            <a:ext cx="3200400" cy="457200"/>
          </a:xfrm>
          <a:prstGeom prst="rect">
            <a:avLst/>
          </a:prstGeom>
          <a:noFill/>
          <a:ln/>
        </p:spPr>
        <p:txBody>
          <a:bodyPr wrap="square" lIns="0" tIns="0" rIns="0" bIns="0" rtlCol="0" anchor="ctr"/>
          <a:lstStyle/>
          <a:p>
            <a:pPr indent="0" marL="0">
              <a:buNone/>
            </a:pPr>
            <a:r>
              <a:rPr lang="en-US" sz="1050" b="1" spc="300" kern="0" dirty="0">
                <a:solidFill>
                  <a:srgbClr val="ECF1F8"/>
                </a:solidFill>
                <a:latin typeface="Consolas" pitchFamily="34" charset="0"/>
                <a:ea typeface="Consolas" pitchFamily="34" charset="-122"/>
                <a:cs typeface="Consolas" pitchFamily="34" charset="-120"/>
              </a:rPr>
              <a:t>NO OFF-WORLD BIOLOGICS</a:t>
            </a:r>
            <a:endParaRPr lang="en-US" sz="1050" dirty="0"/>
          </a:p>
        </p:txBody>
      </p:sp>
      <p:sp>
        <p:nvSpPr>
          <p:cNvPr id="38" name="Shape 36"/>
          <p:cNvSpPr/>
          <p:nvPr/>
        </p:nvSpPr>
        <p:spPr>
          <a:xfrm>
            <a:off x="4526280" y="4572000"/>
            <a:ext cx="3108960" cy="0"/>
          </a:xfrm>
          <a:prstGeom prst="line">
            <a:avLst/>
          </a:prstGeom>
          <a:noFill/>
          <a:ln w="9525">
            <a:solidFill>
              <a:srgbClr val="2B3A55"/>
            </a:solidFill>
            <a:prstDash val="solid"/>
          </a:ln>
        </p:spPr>
      </p:sp>
      <p:sp>
        <p:nvSpPr>
          <p:cNvPr id="39" name="Text 37"/>
          <p:cNvSpPr/>
          <p:nvPr/>
        </p:nvSpPr>
        <p:spPr>
          <a:xfrm>
            <a:off x="4526280" y="4663440"/>
            <a:ext cx="3200400" cy="1325880"/>
          </a:xfrm>
          <a:prstGeom prst="rect">
            <a:avLst/>
          </a:prstGeom>
          <a:noFill/>
          <a:ln/>
        </p:spPr>
        <p:txBody>
          <a:bodyPr wrap="square" lIns="0" tIns="0" rIns="0" bIns="0" rtlCol="0" anchor="ctr"/>
          <a:lstStyle/>
          <a:p>
            <a:pPr indent="0" marL="0">
              <a:buNone/>
            </a:pPr>
            <a:r>
              <a:rPr lang="en-US" sz="1150" dirty="0">
                <a:solidFill>
                  <a:srgbClr val="8A97AD"/>
                </a:solidFill>
                <a:latin typeface="Calibri" pitchFamily="34" charset="0"/>
                <a:ea typeface="Calibri" pitchFamily="34" charset="-122"/>
                <a:cs typeface="Calibri" pitchFamily="34" charset="-120"/>
              </a:rPr>
              <a:t>No credible evidence of off-world biological material. Witness testimony reviewed was “based on belief,” not direct knowledge.</a:t>
            </a:r>
            <a:endParaRPr lang="en-US" sz="1150" dirty="0"/>
          </a:p>
        </p:txBody>
      </p:sp>
      <p:sp>
        <p:nvSpPr>
          <p:cNvPr id="40" name="Shape 38"/>
          <p:cNvSpPr/>
          <p:nvPr/>
        </p:nvSpPr>
        <p:spPr>
          <a:xfrm>
            <a:off x="8065008" y="3474720"/>
            <a:ext cx="3566160" cy="2560320"/>
          </a:xfrm>
          <a:prstGeom prst="rect">
            <a:avLst/>
          </a:prstGeom>
          <a:solidFill>
            <a:srgbClr val="0F1624"/>
          </a:solidFill>
          <a:ln w="9525">
            <a:solidFill>
              <a:srgbClr val="2B3A55"/>
            </a:solidFill>
            <a:prstDash val="solid"/>
          </a:ln>
        </p:spPr>
      </p:sp>
      <p:sp>
        <p:nvSpPr>
          <p:cNvPr id="41" name="Shape 39"/>
          <p:cNvSpPr/>
          <p:nvPr/>
        </p:nvSpPr>
        <p:spPr>
          <a:xfrm>
            <a:off x="8065008" y="3474720"/>
            <a:ext cx="54864" cy="2560320"/>
          </a:xfrm>
          <a:prstGeom prst="rect">
            <a:avLst/>
          </a:prstGeom>
          <a:solidFill>
            <a:srgbClr val="5DD39E"/>
          </a:solidFill>
          <a:ln w="12700">
            <a:solidFill>
              <a:srgbClr val="5DD39E"/>
            </a:solidFill>
            <a:prstDash val="solid"/>
          </a:ln>
        </p:spPr>
      </p:sp>
      <p:sp>
        <p:nvSpPr>
          <p:cNvPr id="42" name="Text 40"/>
          <p:cNvSpPr/>
          <p:nvPr/>
        </p:nvSpPr>
        <p:spPr>
          <a:xfrm>
            <a:off x="8293608" y="3566160"/>
            <a:ext cx="3200400" cy="502920"/>
          </a:xfrm>
          <a:prstGeom prst="rect">
            <a:avLst/>
          </a:prstGeom>
          <a:noFill/>
          <a:ln/>
        </p:spPr>
        <p:txBody>
          <a:bodyPr wrap="square" lIns="0" tIns="0" rIns="0" bIns="0" rtlCol="0" anchor="ctr"/>
          <a:lstStyle/>
          <a:p>
            <a:pPr indent="0" marL="0">
              <a:buNone/>
            </a:pPr>
            <a:r>
              <a:rPr lang="en-US" sz="3000" dirty="0">
                <a:solidFill>
                  <a:srgbClr val="5DD39E"/>
                </a:solidFill>
                <a:latin typeface="Arial Black" pitchFamily="34" charset="0"/>
                <a:ea typeface="Arial Black" pitchFamily="34" charset="-122"/>
                <a:cs typeface="Arial Black" pitchFamily="34" charset="-120"/>
              </a:rPr>
              <a:t>03</a:t>
            </a:r>
            <a:endParaRPr lang="en-US" sz="3000" dirty="0"/>
          </a:p>
        </p:txBody>
      </p:sp>
      <p:sp>
        <p:nvSpPr>
          <p:cNvPr id="43" name="Text 41"/>
          <p:cNvSpPr/>
          <p:nvPr/>
        </p:nvSpPr>
        <p:spPr>
          <a:xfrm>
            <a:off x="8293608" y="4069080"/>
            <a:ext cx="3200400" cy="457200"/>
          </a:xfrm>
          <a:prstGeom prst="rect">
            <a:avLst/>
          </a:prstGeom>
          <a:noFill/>
          <a:ln/>
        </p:spPr>
        <p:txBody>
          <a:bodyPr wrap="square" lIns="0" tIns="0" rIns="0" bIns="0" rtlCol="0" anchor="ctr"/>
          <a:lstStyle/>
          <a:p>
            <a:pPr indent="0" marL="0">
              <a:buNone/>
            </a:pPr>
            <a:r>
              <a:rPr lang="en-US" sz="1050" b="1" spc="300" kern="0" dirty="0">
                <a:solidFill>
                  <a:srgbClr val="ECF1F8"/>
                </a:solidFill>
                <a:latin typeface="Consolas" pitchFamily="34" charset="0"/>
                <a:ea typeface="Consolas" pitchFamily="34" charset="-122"/>
                <a:cs typeface="Consolas" pitchFamily="34" charset="-120"/>
              </a:rPr>
              <a:t>REAL MISIDENTIFICATIONS</a:t>
            </a:r>
            <a:endParaRPr lang="en-US" sz="1050" dirty="0"/>
          </a:p>
        </p:txBody>
      </p:sp>
      <p:sp>
        <p:nvSpPr>
          <p:cNvPr id="44" name="Shape 42"/>
          <p:cNvSpPr/>
          <p:nvPr/>
        </p:nvSpPr>
        <p:spPr>
          <a:xfrm>
            <a:off x="8293608" y="4572000"/>
            <a:ext cx="3108960" cy="0"/>
          </a:xfrm>
          <a:prstGeom prst="line">
            <a:avLst/>
          </a:prstGeom>
          <a:noFill/>
          <a:ln w="9525">
            <a:solidFill>
              <a:srgbClr val="2B3A55"/>
            </a:solidFill>
            <a:prstDash val="solid"/>
          </a:ln>
        </p:spPr>
      </p:sp>
      <p:sp>
        <p:nvSpPr>
          <p:cNvPr id="45" name="Text 43"/>
          <p:cNvSpPr/>
          <p:nvPr/>
        </p:nvSpPr>
        <p:spPr>
          <a:xfrm>
            <a:off x="8293608" y="4663440"/>
            <a:ext cx="3200400" cy="1325880"/>
          </a:xfrm>
          <a:prstGeom prst="rect">
            <a:avLst/>
          </a:prstGeom>
          <a:noFill/>
          <a:ln/>
        </p:spPr>
        <p:txBody>
          <a:bodyPr wrap="square" lIns="0" tIns="0" rIns="0" bIns="0" rtlCol="0" anchor="ctr"/>
          <a:lstStyle/>
          <a:p>
            <a:pPr indent="0" marL="0">
              <a:buNone/>
            </a:pPr>
            <a:r>
              <a:rPr lang="en-US" sz="1150" dirty="0">
                <a:solidFill>
                  <a:srgbClr val="8A97AD"/>
                </a:solidFill>
                <a:latin typeface="Calibri" pitchFamily="34" charset="0"/>
                <a:ea typeface="Calibri" pitchFamily="34" charset="-122"/>
                <a:cs typeface="Calibri" pitchFamily="34" charset="-120"/>
              </a:rPr>
              <a:t>Many historical sightings trace back to U-2, SR-71, F-117, RQ-170 and similar classified programs unknown to the witnessing public.</a:t>
            </a:r>
            <a:endParaRPr lang="en-US" sz="1150" dirty="0"/>
          </a:p>
        </p:txBody>
      </p:sp>
      <p:sp>
        <p:nvSpPr>
          <p:cNvPr id="46" name="Text 44"/>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Report on the Historical Record of U.S. Government Involvement with UAP, Vol. I (Mar 2024, 63 pp.) — Vol. II forthcoming.</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DOC-032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AARO CASELOAD · FY2024</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THE MODERN CASELOAD</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32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10</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Modern Caseload  ·  FY2024</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4937760" cy="388620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86200"/>
          </a:xfrm>
          <a:prstGeom prst="rect">
            <a:avLst/>
          </a:prstGeom>
          <a:solidFill>
            <a:srgbClr val="38D9F0"/>
          </a:solidFill>
          <a:ln w="12700">
            <a:solidFill>
              <a:srgbClr val="38D9F0"/>
            </a:solidFill>
            <a:prstDash val="solid"/>
          </a:ln>
        </p:spPr>
      </p:sp>
      <p:sp>
        <p:nvSpPr>
          <p:cNvPr id="26" name="Text 24"/>
          <p:cNvSpPr/>
          <p:nvPr/>
        </p:nvSpPr>
        <p:spPr>
          <a:xfrm>
            <a:off x="777240" y="2377440"/>
            <a:ext cx="4480560" cy="274320"/>
          </a:xfrm>
          <a:prstGeom prst="rect">
            <a:avLst/>
          </a:prstGeom>
          <a:noFill/>
          <a:ln/>
        </p:spPr>
        <p:txBody>
          <a:bodyPr wrap="square" lIns="0" tIns="0" rIns="0" bIns="0" rtlCol="0" anchor="ctr"/>
          <a:lstStyle/>
          <a:p>
            <a:pPr indent="0" marL="0">
              <a:buNone/>
            </a:pPr>
            <a:r>
              <a:rPr lang="en-US" sz="1000" b="1" spc="500" kern="0" dirty="0">
                <a:solidFill>
                  <a:srgbClr val="38D9F0"/>
                </a:solidFill>
                <a:latin typeface="Consolas" pitchFamily="34" charset="0"/>
                <a:ea typeface="Consolas" pitchFamily="34" charset="-122"/>
                <a:cs typeface="Consolas" pitchFamily="34" charset="-120"/>
              </a:rPr>
              <a:t>AARO ANNUAL REPORT</a:t>
            </a:r>
            <a:endParaRPr lang="en-US" sz="1000" dirty="0"/>
          </a:p>
        </p:txBody>
      </p:sp>
      <p:sp>
        <p:nvSpPr>
          <p:cNvPr id="27" name="Shape 25"/>
          <p:cNvSpPr/>
          <p:nvPr/>
        </p:nvSpPr>
        <p:spPr>
          <a:xfrm>
            <a:off x="777240" y="2743200"/>
            <a:ext cx="91440" cy="640080"/>
          </a:xfrm>
          <a:prstGeom prst="rect">
            <a:avLst/>
          </a:prstGeom>
          <a:solidFill>
            <a:srgbClr val="38D9F0"/>
          </a:solidFill>
          <a:ln w="12700">
            <a:solidFill>
              <a:srgbClr val="38D9F0"/>
            </a:solidFill>
            <a:prstDash val="solid"/>
          </a:ln>
        </p:spPr>
      </p:sp>
      <p:sp>
        <p:nvSpPr>
          <p:cNvPr id="28" name="Text 26"/>
          <p:cNvSpPr/>
          <p:nvPr/>
        </p:nvSpPr>
        <p:spPr>
          <a:xfrm>
            <a:off x="960120" y="2633472"/>
            <a:ext cx="1645920" cy="822960"/>
          </a:xfrm>
          <a:prstGeom prst="rect">
            <a:avLst/>
          </a:prstGeom>
          <a:noFill/>
          <a:ln/>
        </p:spPr>
        <p:txBody>
          <a:bodyPr wrap="square" lIns="0" tIns="0" rIns="0" bIns="0" rtlCol="0" anchor="ctr"/>
          <a:lstStyle/>
          <a:p>
            <a:pPr indent="0" marL="0">
              <a:buNone/>
            </a:pPr>
            <a:r>
              <a:rPr lang="en-US" sz="4000" dirty="0">
                <a:solidFill>
                  <a:srgbClr val="38D9F0"/>
                </a:solidFill>
                <a:latin typeface="Arial Black" pitchFamily="34" charset="0"/>
                <a:ea typeface="Arial Black" pitchFamily="34" charset="-122"/>
                <a:cs typeface="Arial Black" pitchFamily="34" charset="-120"/>
              </a:rPr>
              <a:t>757</a:t>
            </a:r>
            <a:endParaRPr lang="en-US" sz="4000" dirty="0"/>
          </a:p>
        </p:txBody>
      </p:sp>
      <p:sp>
        <p:nvSpPr>
          <p:cNvPr id="29" name="Text 27"/>
          <p:cNvSpPr/>
          <p:nvPr/>
        </p:nvSpPr>
        <p:spPr>
          <a:xfrm>
            <a:off x="2651760" y="2834640"/>
            <a:ext cx="2743200" cy="548640"/>
          </a:xfrm>
          <a:prstGeom prst="rect">
            <a:avLst/>
          </a:prstGeom>
          <a:noFill/>
          <a:ln/>
        </p:spPr>
        <p:txBody>
          <a:bodyPr wrap="square" lIns="0" tIns="0" rIns="0" bIns="0" rtlCol="0" anchor="ctr"/>
          <a:lstStyle/>
          <a:p>
            <a:pPr indent="0" marL="0">
              <a:buNone/>
            </a:pPr>
            <a:r>
              <a:rPr lang="en-US" sz="1100" b="1" spc="300" kern="0" dirty="0">
                <a:solidFill>
                  <a:srgbClr val="ECF1F8"/>
                </a:solidFill>
                <a:latin typeface="Consolas" pitchFamily="34" charset="0"/>
                <a:ea typeface="Consolas" pitchFamily="34" charset="-122"/>
                <a:cs typeface="Consolas" pitchFamily="34" charset="-120"/>
              </a:rPr>
              <a:t>REPORTS RECEIVED</a:t>
            </a:r>
            <a:endParaRPr lang="en-US" sz="1100" dirty="0"/>
          </a:p>
        </p:txBody>
      </p:sp>
      <p:sp>
        <p:nvSpPr>
          <p:cNvPr id="30" name="Shape 28"/>
          <p:cNvSpPr/>
          <p:nvPr/>
        </p:nvSpPr>
        <p:spPr>
          <a:xfrm>
            <a:off x="777240" y="3657600"/>
            <a:ext cx="91440" cy="640080"/>
          </a:xfrm>
          <a:prstGeom prst="rect">
            <a:avLst/>
          </a:prstGeom>
          <a:solidFill>
            <a:srgbClr val="F5B024"/>
          </a:solidFill>
          <a:ln w="12700">
            <a:solidFill>
              <a:srgbClr val="F5B024"/>
            </a:solidFill>
            <a:prstDash val="solid"/>
          </a:ln>
        </p:spPr>
      </p:sp>
      <p:sp>
        <p:nvSpPr>
          <p:cNvPr id="31" name="Text 29"/>
          <p:cNvSpPr/>
          <p:nvPr/>
        </p:nvSpPr>
        <p:spPr>
          <a:xfrm>
            <a:off x="960120" y="3547872"/>
            <a:ext cx="1645920" cy="822960"/>
          </a:xfrm>
          <a:prstGeom prst="rect">
            <a:avLst/>
          </a:prstGeom>
          <a:noFill/>
          <a:ln/>
        </p:spPr>
        <p:txBody>
          <a:bodyPr wrap="square" lIns="0" tIns="0" rIns="0" bIns="0" rtlCol="0" anchor="ctr"/>
          <a:lstStyle/>
          <a:p>
            <a:pPr indent="0" marL="0">
              <a:buNone/>
            </a:pPr>
            <a:r>
              <a:rPr lang="en-US" sz="4000" dirty="0">
                <a:solidFill>
                  <a:srgbClr val="F5B024"/>
                </a:solidFill>
                <a:latin typeface="Arial Black" pitchFamily="34" charset="0"/>
                <a:ea typeface="Arial Black" pitchFamily="34" charset="-122"/>
                <a:cs typeface="Arial Black" pitchFamily="34" charset="-120"/>
              </a:rPr>
              <a:t>485</a:t>
            </a:r>
            <a:endParaRPr lang="en-US" sz="4000" dirty="0"/>
          </a:p>
        </p:txBody>
      </p:sp>
      <p:sp>
        <p:nvSpPr>
          <p:cNvPr id="32" name="Text 30"/>
          <p:cNvSpPr/>
          <p:nvPr/>
        </p:nvSpPr>
        <p:spPr>
          <a:xfrm>
            <a:off x="2651760" y="3749040"/>
            <a:ext cx="2743200" cy="548640"/>
          </a:xfrm>
          <a:prstGeom prst="rect">
            <a:avLst/>
          </a:prstGeom>
          <a:noFill/>
          <a:ln/>
        </p:spPr>
        <p:txBody>
          <a:bodyPr wrap="square" lIns="0" tIns="0" rIns="0" bIns="0" rtlCol="0" anchor="ctr"/>
          <a:lstStyle/>
          <a:p>
            <a:pPr indent="0" marL="0">
              <a:buNone/>
            </a:pPr>
            <a:r>
              <a:rPr lang="en-US" sz="1100" b="1" spc="300" kern="0" dirty="0">
                <a:solidFill>
                  <a:srgbClr val="ECF1F8"/>
                </a:solidFill>
                <a:latin typeface="Consolas" pitchFamily="34" charset="0"/>
                <a:ea typeface="Consolas" pitchFamily="34" charset="-122"/>
                <a:cs typeface="Consolas" pitchFamily="34" charset="-120"/>
              </a:rPr>
              <a:t>NEW UAP CASES</a:t>
            </a:r>
            <a:endParaRPr lang="en-US" sz="1100" dirty="0"/>
          </a:p>
        </p:txBody>
      </p:sp>
      <p:sp>
        <p:nvSpPr>
          <p:cNvPr id="33" name="Shape 31"/>
          <p:cNvSpPr/>
          <p:nvPr/>
        </p:nvSpPr>
        <p:spPr>
          <a:xfrm>
            <a:off x="777240" y="4572000"/>
            <a:ext cx="91440" cy="640080"/>
          </a:xfrm>
          <a:prstGeom prst="rect">
            <a:avLst/>
          </a:prstGeom>
          <a:solidFill>
            <a:srgbClr val="5DD39E"/>
          </a:solidFill>
          <a:ln w="12700">
            <a:solidFill>
              <a:srgbClr val="5DD39E"/>
            </a:solidFill>
            <a:prstDash val="solid"/>
          </a:ln>
        </p:spPr>
      </p:sp>
      <p:sp>
        <p:nvSpPr>
          <p:cNvPr id="34" name="Text 32"/>
          <p:cNvSpPr/>
          <p:nvPr/>
        </p:nvSpPr>
        <p:spPr>
          <a:xfrm>
            <a:off x="960120" y="4462272"/>
            <a:ext cx="1645920" cy="822960"/>
          </a:xfrm>
          <a:prstGeom prst="rect">
            <a:avLst/>
          </a:prstGeom>
          <a:noFill/>
          <a:ln/>
        </p:spPr>
        <p:txBody>
          <a:bodyPr wrap="square" lIns="0" tIns="0" rIns="0" bIns="0" rtlCol="0" anchor="ctr"/>
          <a:lstStyle/>
          <a:p>
            <a:pPr indent="0" marL="0">
              <a:buNone/>
            </a:pPr>
            <a:r>
              <a:rPr lang="en-US" sz="4000" dirty="0">
                <a:solidFill>
                  <a:srgbClr val="5DD39E"/>
                </a:solidFill>
                <a:latin typeface="Arial Black" pitchFamily="34" charset="0"/>
                <a:ea typeface="Arial Black" pitchFamily="34" charset="-122"/>
                <a:cs typeface="Arial Black" pitchFamily="34" charset="-120"/>
              </a:rPr>
              <a:t>49</a:t>
            </a:r>
            <a:endParaRPr lang="en-US" sz="4000" dirty="0"/>
          </a:p>
        </p:txBody>
      </p:sp>
      <p:sp>
        <p:nvSpPr>
          <p:cNvPr id="35" name="Text 33"/>
          <p:cNvSpPr/>
          <p:nvPr/>
        </p:nvSpPr>
        <p:spPr>
          <a:xfrm>
            <a:off x="2651760" y="4663440"/>
            <a:ext cx="2743200" cy="548640"/>
          </a:xfrm>
          <a:prstGeom prst="rect">
            <a:avLst/>
          </a:prstGeom>
          <a:noFill/>
          <a:ln/>
        </p:spPr>
        <p:txBody>
          <a:bodyPr wrap="square" lIns="0" tIns="0" rIns="0" bIns="0" rtlCol="0" anchor="ctr"/>
          <a:lstStyle/>
          <a:p>
            <a:pPr indent="0" marL="0">
              <a:buNone/>
            </a:pPr>
            <a:r>
              <a:rPr lang="en-US" sz="1100" b="1" spc="300" kern="0" dirty="0">
                <a:solidFill>
                  <a:srgbClr val="ECF1F8"/>
                </a:solidFill>
                <a:latin typeface="Consolas" pitchFamily="34" charset="0"/>
                <a:ea typeface="Consolas" pitchFamily="34" charset="-122"/>
                <a:cs typeface="Consolas" pitchFamily="34" charset="-120"/>
              </a:rPr>
              <a:t>CASES RESOLVED</a:t>
            </a:r>
            <a:endParaRPr lang="en-US" sz="1100" dirty="0"/>
          </a:p>
        </p:txBody>
      </p:sp>
      <p:sp>
        <p:nvSpPr>
          <p:cNvPr id="36" name="Shape 34"/>
          <p:cNvSpPr/>
          <p:nvPr/>
        </p:nvSpPr>
        <p:spPr>
          <a:xfrm>
            <a:off x="777240" y="5486400"/>
            <a:ext cx="91440" cy="640080"/>
          </a:xfrm>
          <a:prstGeom prst="rect">
            <a:avLst/>
          </a:prstGeom>
          <a:solidFill>
            <a:srgbClr val="E8434C"/>
          </a:solidFill>
          <a:ln w="12700">
            <a:solidFill>
              <a:srgbClr val="E8434C"/>
            </a:solidFill>
            <a:prstDash val="solid"/>
          </a:ln>
        </p:spPr>
      </p:sp>
      <p:sp>
        <p:nvSpPr>
          <p:cNvPr id="37" name="Text 35"/>
          <p:cNvSpPr/>
          <p:nvPr/>
        </p:nvSpPr>
        <p:spPr>
          <a:xfrm>
            <a:off x="960120" y="5376672"/>
            <a:ext cx="1645920" cy="822960"/>
          </a:xfrm>
          <a:prstGeom prst="rect">
            <a:avLst/>
          </a:prstGeom>
          <a:noFill/>
          <a:ln/>
        </p:spPr>
        <p:txBody>
          <a:bodyPr wrap="square" lIns="0" tIns="0" rIns="0" bIns="0" rtlCol="0" anchor="ctr"/>
          <a:lstStyle/>
          <a:p>
            <a:pPr indent="0" marL="0">
              <a:buNone/>
            </a:pPr>
            <a:r>
              <a:rPr lang="en-US" sz="4000" dirty="0">
                <a:solidFill>
                  <a:srgbClr val="E8434C"/>
                </a:solidFill>
                <a:latin typeface="Arial Black" pitchFamily="34" charset="0"/>
                <a:ea typeface="Arial Black" pitchFamily="34" charset="-122"/>
                <a:cs typeface="Arial Black" pitchFamily="34" charset="-120"/>
              </a:rPr>
              <a:t>21</a:t>
            </a:r>
            <a:endParaRPr lang="en-US" sz="4000" dirty="0"/>
          </a:p>
        </p:txBody>
      </p:sp>
      <p:sp>
        <p:nvSpPr>
          <p:cNvPr id="38" name="Text 36"/>
          <p:cNvSpPr/>
          <p:nvPr/>
        </p:nvSpPr>
        <p:spPr>
          <a:xfrm>
            <a:off x="2651760" y="5577840"/>
            <a:ext cx="2743200" cy="548640"/>
          </a:xfrm>
          <a:prstGeom prst="rect">
            <a:avLst/>
          </a:prstGeom>
          <a:noFill/>
          <a:ln/>
        </p:spPr>
        <p:txBody>
          <a:bodyPr wrap="square" lIns="0" tIns="0" rIns="0" bIns="0" rtlCol="0" anchor="ctr"/>
          <a:lstStyle/>
          <a:p>
            <a:pPr indent="0" marL="0">
              <a:buNone/>
            </a:pPr>
            <a:r>
              <a:rPr lang="en-US" sz="1100" b="1" spc="300" kern="0" dirty="0">
                <a:solidFill>
                  <a:srgbClr val="ECF1F8"/>
                </a:solidFill>
                <a:latin typeface="Consolas" pitchFamily="34" charset="0"/>
                <a:ea typeface="Consolas" pitchFamily="34" charset="-122"/>
                <a:cs typeface="Consolas" pitchFamily="34" charset="-120"/>
              </a:rPr>
              <a:t>“TRULY ANOMALOUS”</a:t>
            </a:r>
            <a:endParaRPr lang="en-US" sz="1100" dirty="0"/>
          </a:p>
        </p:txBody>
      </p:sp>
      <p:sp>
        <p:nvSpPr>
          <p:cNvPr id="39" name="Shape 37"/>
          <p:cNvSpPr/>
          <p:nvPr/>
        </p:nvSpPr>
        <p:spPr>
          <a:xfrm>
            <a:off x="5669280" y="2194560"/>
            <a:ext cx="5943600" cy="3886200"/>
          </a:xfrm>
          <a:prstGeom prst="rect">
            <a:avLst/>
          </a:prstGeom>
          <a:solidFill>
            <a:srgbClr val="0F1624"/>
          </a:solidFill>
          <a:ln w="9525">
            <a:solidFill>
              <a:srgbClr val="2B3A55"/>
            </a:solidFill>
            <a:prstDash val="solid"/>
          </a:ln>
        </p:spPr>
      </p:sp>
      <p:sp>
        <p:nvSpPr>
          <p:cNvPr id="40" name="Shape 38"/>
          <p:cNvSpPr/>
          <p:nvPr/>
        </p:nvSpPr>
        <p:spPr>
          <a:xfrm>
            <a:off x="5669280" y="2194560"/>
            <a:ext cx="54864" cy="3886200"/>
          </a:xfrm>
          <a:prstGeom prst="rect">
            <a:avLst/>
          </a:prstGeom>
          <a:solidFill>
            <a:srgbClr val="F5B024"/>
          </a:solidFill>
          <a:ln w="12700">
            <a:solidFill>
              <a:srgbClr val="F5B024"/>
            </a:solidFill>
            <a:prstDash val="solid"/>
          </a:ln>
        </p:spPr>
      </p:sp>
      <p:sp>
        <p:nvSpPr>
          <p:cNvPr id="41" name="Text 39"/>
          <p:cNvSpPr/>
          <p:nvPr/>
        </p:nvSpPr>
        <p:spPr>
          <a:xfrm>
            <a:off x="5897880" y="2377440"/>
            <a:ext cx="5486400" cy="274320"/>
          </a:xfrm>
          <a:prstGeom prst="rect">
            <a:avLst/>
          </a:prstGeom>
          <a:noFill/>
          <a:ln/>
        </p:spPr>
        <p:txBody>
          <a:bodyPr wrap="square" lIns="0" tIns="0" rIns="0" bIns="0" rtlCol="0" anchor="ctr"/>
          <a:lstStyle/>
          <a:p>
            <a:pPr indent="0" marL="0">
              <a:buNone/>
            </a:pPr>
            <a:r>
              <a:rPr lang="en-US" sz="1000" b="1" spc="500" kern="0" dirty="0">
                <a:solidFill>
                  <a:srgbClr val="F5B024"/>
                </a:solidFill>
                <a:latin typeface="Consolas" pitchFamily="34" charset="0"/>
                <a:ea typeface="Consolas" pitchFamily="34" charset="-122"/>
                <a:cs typeface="Consolas" pitchFamily="34" charset="-120"/>
              </a:rPr>
              <a:t>ACTIVE ARCHIVE</a:t>
            </a:r>
            <a:endParaRPr lang="en-US" sz="1000" dirty="0"/>
          </a:p>
        </p:txBody>
      </p:sp>
      <p:sp>
        <p:nvSpPr>
          <p:cNvPr id="42" name="Text 40"/>
          <p:cNvSpPr/>
          <p:nvPr/>
        </p:nvSpPr>
        <p:spPr>
          <a:xfrm>
            <a:off x="5897880" y="2697480"/>
            <a:ext cx="5486400" cy="640080"/>
          </a:xfrm>
          <a:prstGeom prst="rect">
            <a:avLst/>
          </a:prstGeom>
          <a:noFill/>
          <a:ln/>
        </p:spPr>
        <p:txBody>
          <a:bodyPr wrap="square" lIns="0" tIns="0" rIns="0" bIns="0" rtlCol="0" anchor="ctr"/>
          <a:lstStyle/>
          <a:p>
            <a:pPr indent="0" marL="0">
              <a:buNone/>
            </a:pPr>
            <a:r>
              <a:rPr lang="en-US" sz="4000" dirty="0">
                <a:solidFill>
                  <a:srgbClr val="ECF1F8"/>
                </a:solidFill>
                <a:latin typeface="Arial Black" pitchFamily="34" charset="0"/>
                <a:ea typeface="Arial Black" pitchFamily="34" charset="-122"/>
                <a:cs typeface="Arial Black" pitchFamily="34" charset="-120"/>
              </a:rPr>
              <a:t>444 cases</a:t>
            </a:r>
            <a:endParaRPr lang="en-US" sz="4000" dirty="0"/>
          </a:p>
        </p:txBody>
      </p:sp>
      <p:sp>
        <p:nvSpPr>
          <p:cNvPr id="43" name="Text 41"/>
          <p:cNvSpPr/>
          <p:nvPr/>
        </p:nvSpPr>
        <p:spPr>
          <a:xfrm>
            <a:off x="5897880" y="3337560"/>
            <a:ext cx="5486400" cy="320040"/>
          </a:xfrm>
          <a:prstGeom prst="rect">
            <a:avLst/>
          </a:prstGeom>
          <a:noFill/>
          <a:ln/>
        </p:spPr>
        <p:txBody>
          <a:bodyPr wrap="square" lIns="0" tIns="0" rIns="0" bIns="0" rtlCol="0" anchor="ctr"/>
          <a:lstStyle/>
          <a:p>
            <a:pPr indent="0" marL="0">
              <a:buNone/>
            </a:pPr>
            <a:r>
              <a:rPr lang="en-US" sz="1300" i="1" dirty="0">
                <a:solidFill>
                  <a:srgbClr val="8A97AD"/>
                </a:solidFill>
                <a:latin typeface="Calibri" pitchFamily="34" charset="0"/>
                <a:ea typeface="Calibri" pitchFamily="34" charset="-122"/>
                <a:cs typeface="Calibri" pitchFamily="34" charset="-120"/>
              </a:rPr>
              <a:t>under continued review as of Sept 2024.</a:t>
            </a:r>
            <a:endParaRPr lang="en-US" sz="1300" dirty="0"/>
          </a:p>
        </p:txBody>
      </p:sp>
      <p:sp>
        <p:nvSpPr>
          <p:cNvPr id="44" name="Shape 42"/>
          <p:cNvSpPr/>
          <p:nvPr/>
        </p:nvSpPr>
        <p:spPr>
          <a:xfrm>
            <a:off x="5897880" y="3794760"/>
            <a:ext cx="5486400" cy="0"/>
          </a:xfrm>
          <a:prstGeom prst="line">
            <a:avLst/>
          </a:prstGeom>
          <a:noFill/>
          <a:ln w="9525">
            <a:solidFill>
              <a:srgbClr val="2B3A55"/>
            </a:solidFill>
            <a:prstDash val="solid"/>
          </a:ln>
        </p:spPr>
      </p:sp>
      <p:sp>
        <p:nvSpPr>
          <p:cNvPr id="45" name="Text 43"/>
          <p:cNvSpPr/>
          <p:nvPr/>
        </p:nvSpPr>
        <p:spPr>
          <a:xfrm>
            <a:off x="5897880" y="3931920"/>
            <a:ext cx="3108960" cy="274320"/>
          </a:xfrm>
          <a:prstGeom prst="rect">
            <a:avLst/>
          </a:prstGeom>
          <a:noFill/>
          <a:ln/>
        </p:spPr>
        <p:txBody>
          <a:bodyPr wrap="square" lIns="0" tIns="0" rIns="0" bIns="0" rtlCol="0" anchor="ctr"/>
          <a:lstStyle/>
          <a:p>
            <a:pPr indent="0" marL="0">
              <a:buNone/>
            </a:pPr>
            <a:r>
              <a:rPr lang="en-US" sz="950" spc="200" kern="0" dirty="0">
                <a:solidFill>
                  <a:srgbClr val="ECF1F8"/>
                </a:solidFill>
                <a:latin typeface="Consolas" pitchFamily="34" charset="0"/>
                <a:ea typeface="Consolas" pitchFamily="34" charset="-122"/>
                <a:cs typeface="Consolas" pitchFamily="34" charset="-120"/>
              </a:rPr>
              <a:t>MILITARY PERSONNEL</a:t>
            </a:r>
            <a:endParaRPr lang="en-US" sz="950" dirty="0"/>
          </a:p>
        </p:txBody>
      </p:sp>
      <p:sp>
        <p:nvSpPr>
          <p:cNvPr id="46" name="Shape 44"/>
          <p:cNvSpPr/>
          <p:nvPr/>
        </p:nvSpPr>
        <p:spPr>
          <a:xfrm>
            <a:off x="9006840" y="3977640"/>
            <a:ext cx="1828800" cy="182880"/>
          </a:xfrm>
          <a:prstGeom prst="rect">
            <a:avLst/>
          </a:prstGeom>
          <a:solidFill>
            <a:srgbClr val="121B2E"/>
          </a:solidFill>
          <a:ln w="12700">
            <a:solidFill>
              <a:srgbClr val="2B3A55"/>
            </a:solidFill>
            <a:prstDash val="solid"/>
          </a:ln>
        </p:spPr>
      </p:sp>
      <p:sp>
        <p:nvSpPr>
          <p:cNvPr id="47" name="Shape 45"/>
          <p:cNvSpPr/>
          <p:nvPr/>
        </p:nvSpPr>
        <p:spPr>
          <a:xfrm>
            <a:off x="9006840" y="3977640"/>
            <a:ext cx="950976" cy="182880"/>
          </a:xfrm>
          <a:prstGeom prst="rect">
            <a:avLst/>
          </a:prstGeom>
          <a:solidFill>
            <a:srgbClr val="F5B024"/>
          </a:solidFill>
          <a:ln w="12700">
            <a:solidFill>
              <a:srgbClr val="F5B024"/>
            </a:solidFill>
            <a:prstDash val="solid"/>
          </a:ln>
        </p:spPr>
      </p:sp>
      <p:sp>
        <p:nvSpPr>
          <p:cNvPr id="48" name="Text 46"/>
          <p:cNvSpPr/>
          <p:nvPr/>
        </p:nvSpPr>
        <p:spPr>
          <a:xfrm>
            <a:off x="10881360" y="3931920"/>
            <a:ext cx="640080" cy="274320"/>
          </a:xfrm>
          <a:prstGeom prst="rect">
            <a:avLst/>
          </a:prstGeom>
          <a:noFill/>
          <a:ln/>
        </p:spPr>
        <p:txBody>
          <a:bodyPr wrap="square" lIns="0" tIns="0" rIns="0" bIns="0" rtlCol="0" anchor="ctr"/>
          <a:lstStyle/>
          <a:p>
            <a:pPr algn="r" indent="0" marL="0">
              <a:buNone/>
            </a:pPr>
            <a:r>
              <a:rPr lang="en-US" sz="1200" dirty="0">
                <a:solidFill>
                  <a:srgbClr val="ECF1F8"/>
                </a:solidFill>
                <a:latin typeface="Arial Black" pitchFamily="34" charset="0"/>
                <a:ea typeface="Arial Black" pitchFamily="34" charset="-122"/>
                <a:cs typeface="Arial Black" pitchFamily="34" charset="-120"/>
              </a:rPr>
              <a:t>392</a:t>
            </a:r>
            <a:endParaRPr lang="en-US" sz="1200" dirty="0"/>
          </a:p>
        </p:txBody>
      </p:sp>
      <p:sp>
        <p:nvSpPr>
          <p:cNvPr id="49" name="Text 47"/>
          <p:cNvSpPr/>
          <p:nvPr/>
        </p:nvSpPr>
        <p:spPr>
          <a:xfrm>
            <a:off x="5897880" y="4462272"/>
            <a:ext cx="3108960" cy="274320"/>
          </a:xfrm>
          <a:prstGeom prst="rect">
            <a:avLst/>
          </a:prstGeom>
          <a:noFill/>
          <a:ln/>
        </p:spPr>
        <p:txBody>
          <a:bodyPr wrap="square" lIns="0" tIns="0" rIns="0" bIns="0" rtlCol="0" anchor="ctr"/>
          <a:lstStyle/>
          <a:p>
            <a:pPr indent="0" marL="0">
              <a:buNone/>
            </a:pPr>
            <a:r>
              <a:rPr lang="en-US" sz="950" spc="200" kern="0" dirty="0">
                <a:solidFill>
                  <a:srgbClr val="ECF1F8"/>
                </a:solidFill>
                <a:latin typeface="Consolas" pitchFamily="34" charset="0"/>
                <a:ea typeface="Consolas" pitchFamily="34" charset="-122"/>
                <a:cs typeface="Consolas" pitchFamily="34" charset="-120"/>
              </a:rPr>
              <a:t>COMMERCIAL PILOTS</a:t>
            </a:r>
            <a:endParaRPr lang="en-US" sz="950" dirty="0"/>
          </a:p>
        </p:txBody>
      </p:sp>
      <p:sp>
        <p:nvSpPr>
          <p:cNvPr id="50" name="Shape 48"/>
          <p:cNvSpPr/>
          <p:nvPr/>
        </p:nvSpPr>
        <p:spPr>
          <a:xfrm>
            <a:off x="9006840" y="4507992"/>
            <a:ext cx="1828800" cy="182880"/>
          </a:xfrm>
          <a:prstGeom prst="rect">
            <a:avLst/>
          </a:prstGeom>
          <a:solidFill>
            <a:srgbClr val="121B2E"/>
          </a:solidFill>
          <a:ln w="12700">
            <a:solidFill>
              <a:srgbClr val="2B3A55"/>
            </a:solidFill>
            <a:prstDash val="solid"/>
          </a:ln>
        </p:spPr>
      </p:sp>
      <p:sp>
        <p:nvSpPr>
          <p:cNvPr id="51" name="Shape 49"/>
          <p:cNvSpPr/>
          <p:nvPr/>
        </p:nvSpPr>
        <p:spPr>
          <a:xfrm>
            <a:off x="9006840" y="4507992"/>
            <a:ext cx="402336" cy="182880"/>
          </a:xfrm>
          <a:prstGeom prst="rect">
            <a:avLst/>
          </a:prstGeom>
          <a:solidFill>
            <a:srgbClr val="F5B024"/>
          </a:solidFill>
          <a:ln w="12700">
            <a:solidFill>
              <a:srgbClr val="F5B024"/>
            </a:solidFill>
            <a:prstDash val="solid"/>
          </a:ln>
        </p:spPr>
      </p:sp>
      <p:sp>
        <p:nvSpPr>
          <p:cNvPr id="52" name="Text 50"/>
          <p:cNvSpPr/>
          <p:nvPr/>
        </p:nvSpPr>
        <p:spPr>
          <a:xfrm>
            <a:off x="10881360" y="4462272"/>
            <a:ext cx="640080" cy="274320"/>
          </a:xfrm>
          <a:prstGeom prst="rect">
            <a:avLst/>
          </a:prstGeom>
          <a:noFill/>
          <a:ln/>
        </p:spPr>
        <p:txBody>
          <a:bodyPr wrap="square" lIns="0" tIns="0" rIns="0" bIns="0" rtlCol="0" anchor="ctr"/>
          <a:lstStyle/>
          <a:p>
            <a:pPr algn="r" indent="0" marL="0">
              <a:buNone/>
            </a:pPr>
            <a:r>
              <a:rPr lang="en-US" sz="1200" dirty="0">
                <a:solidFill>
                  <a:srgbClr val="ECF1F8"/>
                </a:solidFill>
                <a:latin typeface="Arial Black" pitchFamily="34" charset="0"/>
                <a:ea typeface="Arial Black" pitchFamily="34" charset="-122"/>
                <a:cs typeface="Arial Black" pitchFamily="34" charset="-120"/>
              </a:rPr>
              <a:t>168</a:t>
            </a:r>
            <a:endParaRPr lang="en-US" sz="1200" dirty="0"/>
          </a:p>
        </p:txBody>
      </p:sp>
      <p:sp>
        <p:nvSpPr>
          <p:cNvPr id="53" name="Text 51"/>
          <p:cNvSpPr/>
          <p:nvPr/>
        </p:nvSpPr>
        <p:spPr>
          <a:xfrm>
            <a:off x="5897880" y="4992624"/>
            <a:ext cx="3108960" cy="274320"/>
          </a:xfrm>
          <a:prstGeom prst="rect">
            <a:avLst/>
          </a:prstGeom>
          <a:noFill/>
          <a:ln/>
        </p:spPr>
        <p:txBody>
          <a:bodyPr wrap="square" lIns="0" tIns="0" rIns="0" bIns="0" rtlCol="0" anchor="ctr"/>
          <a:lstStyle/>
          <a:p>
            <a:pPr indent="0" marL="0">
              <a:buNone/>
            </a:pPr>
            <a:r>
              <a:rPr lang="en-US" sz="950" spc="200" kern="0" dirty="0">
                <a:solidFill>
                  <a:srgbClr val="ECF1F8"/>
                </a:solidFill>
                <a:latin typeface="Consolas" pitchFamily="34" charset="0"/>
                <a:ea typeface="Consolas" pitchFamily="34" charset="-122"/>
                <a:cs typeface="Consolas" pitchFamily="34" charset="-120"/>
              </a:rPr>
              <a:t>CIVILIAN OBSERVERS</a:t>
            </a:r>
            <a:endParaRPr lang="en-US" sz="950" dirty="0"/>
          </a:p>
        </p:txBody>
      </p:sp>
      <p:sp>
        <p:nvSpPr>
          <p:cNvPr id="54" name="Shape 52"/>
          <p:cNvSpPr/>
          <p:nvPr/>
        </p:nvSpPr>
        <p:spPr>
          <a:xfrm>
            <a:off x="9006840" y="5038344"/>
            <a:ext cx="1828800" cy="182880"/>
          </a:xfrm>
          <a:prstGeom prst="rect">
            <a:avLst/>
          </a:prstGeom>
          <a:solidFill>
            <a:srgbClr val="121B2E"/>
          </a:solidFill>
          <a:ln w="12700">
            <a:solidFill>
              <a:srgbClr val="2B3A55"/>
            </a:solidFill>
            <a:prstDash val="solid"/>
          </a:ln>
        </p:spPr>
      </p:sp>
      <p:sp>
        <p:nvSpPr>
          <p:cNvPr id="55" name="Shape 53"/>
          <p:cNvSpPr/>
          <p:nvPr/>
        </p:nvSpPr>
        <p:spPr>
          <a:xfrm>
            <a:off x="9006840" y="5038344"/>
            <a:ext cx="347472" cy="182880"/>
          </a:xfrm>
          <a:prstGeom prst="rect">
            <a:avLst/>
          </a:prstGeom>
          <a:solidFill>
            <a:srgbClr val="F5B024"/>
          </a:solidFill>
          <a:ln w="12700">
            <a:solidFill>
              <a:srgbClr val="F5B024"/>
            </a:solidFill>
            <a:prstDash val="solid"/>
          </a:ln>
        </p:spPr>
      </p:sp>
      <p:sp>
        <p:nvSpPr>
          <p:cNvPr id="56" name="Text 54"/>
          <p:cNvSpPr/>
          <p:nvPr/>
        </p:nvSpPr>
        <p:spPr>
          <a:xfrm>
            <a:off x="10881360" y="4992624"/>
            <a:ext cx="640080" cy="274320"/>
          </a:xfrm>
          <a:prstGeom prst="rect">
            <a:avLst/>
          </a:prstGeom>
          <a:noFill/>
          <a:ln/>
        </p:spPr>
        <p:txBody>
          <a:bodyPr wrap="square" lIns="0" tIns="0" rIns="0" bIns="0" rtlCol="0" anchor="ctr"/>
          <a:lstStyle/>
          <a:p>
            <a:pPr algn="r" indent="0" marL="0">
              <a:buNone/>
            </a:pPr>
            <a:r>
              <a:rPr lang="en-US" sz="1200" dirty="0">
                <a:solidFill>
                  <a:srgbClr val="ECF1F8"/>
                </a:solidFill>
                <a:latin typeface="Arial Black" pitchFamily="34" charset="0"/>
                <a:ea typeface="Arial Black" pitchFamily="34" charset="-122"/>
                <a:cs typeface="Arial Black" pitchFamily="34" charset="-120"/>
              </a:rPr>
              <a:t>141</a:t>
            </a:r>
            <a:endParaRPr lang="en-US" sz="1200" dirty="0"/>
          </a:p>
        </p:txBody>
      </p:sp>
      <p:sp>
        <p:nvSpPr>
          <p:cNvPr id="57" name="Text 55"/>
          <p:cNvSpPr/>
          <p:nvPr/>
        </p:nvSpPr>
        <p:spPr>
          <a:xfrm>
            <a:off x="5897880" y="5522976"/>
            <a:ext cx="3108960" cy="274320"/>
          </a:xfrm>
          <a:prstGeom prst="rect">
            <a:avLst/>
          </a:prstGeom>
          <a:noFill/>
          <a:ln/>
        </p:spPr>
        <p:txBody>
          <a:bodyPr wrap="square" lIns="0" tIns="0" rIns="0" bIns="0" rtlCol="0" anchor="ctr"/>
          <a:lstStyle/>
          <a:p>
            <a:pPr indent="0" marL="0">
              <a:buNone/>
            </a:pPr>
            <a:r>
              <a:rPr lang="en-US" sz="950" spc="200" kern="0" dirty="0">
                <a:solidFill>
                  <a:srgbClr val="ECF1F8"/>
                </a:solidFill>
                <a:latin typeface="Consolas" pitchFamily="34" charset="0"/>
                <a:ea typeface="Consolas" pitchFamily="34" charset="-122"/>
                <a:cs typeface="Consolas" pitchFamily="34" charset="-120"/>
              </a:rPr>
              <a:t>OTHER / UNDETERMINED</a:t>
            </a:r>
            <a:endParaRPr lang="en-US" sz="950" dirty="0"/>
          </a:p>
        </p:txBody>
      </p:sp>
      <p:sp>
        <p:nvSpPr>
          <p:cNvPr id="58" name="Shape 56"/>
          <p:cNvSpPr/>
          <p:nvPr/>
        </p:nvSpPr>
        <p:spPr>
          <a:xfrm>
            <a:off x="9006840" y="5568696"/>
            <a:ext cx="1828800" cy="182880"/>
          </a:xfrm>
          <a:prstGeom prst="rect">
            <a:avLst/>
          </a:prstGeom>
          <a:solidFill>
            <a:srgbClr val="121B2E"/>
          </a:solidFill>
          <a:ln w="12700">
            <a:solidFill>
              <a:srgbClr val="2B3A55"/>
            </a:solidFill>
            <a:prstDash val="solid"/>
          </a:ln>
        </p:spPr>
      </p:sp>
      <p:sp>
        <p:nvSpPr>
          <p:cNvPr id="59" name="Shape 57"/>
          <p:cNvSpPr/>
          <p:nvPr/>
        </p:nvSpPr>
        <p:spPr>
          <a:xfrm>
            <a:off x="9006840" y="5568696"/>
            <a:ext cx="128016" cy="182880"/>
          </a:xfrm>
          <a:prstGeom prst="rect">
            <a:avLst/>
          </a:prstGeom>
          <a:solidFill>
            <a:srgbClr val="F5B024"/>
          </a:solidFill>
          <a:ln w="12700">
            <a:solidFill>
              <a:srgbClr val="F5B024"/>
            </a:solidFill>
            <a:prstDash val="solid"/>
          </a:ln>
        </p:spPr>
      </p:sp>
      <p:sp>
        <p:nvSpPr>
          <p:cNvPr id="60" name="Text 58"/>
          <p:cNvSpPr/>
          <p:nvPr/>
        </p:nvSpPr>
        <p:spPr>
          <a:xfrm>
            <a:off x="10881360" y="5522976"/>
            <a:ext cx="640080" cy="274320"/>
          </a:xfrm>
          <a:prstGeom prst="rect">
            <a:avLst/>
          </a:prstGeom>
          <a:noFill/>
          <a:ln/>
        </p:spPr>
        <p:txBody>
          <a:bodyPr wrap="square" lIns="0" tIns="0" rIns="0" bIns="0" rtlCol="0" anchor="ctr"/>
          <a:lstStyle/>
          <a:p>
            <a:pPr algn="r" indent="0" marL="0">
              <a:buNone/>
            </a:pPr>
            <a:r>
              <a:rPr lang="en-US" sz="1200" dirty="0">
                <a:solidFill>
                  <a:srgbClr val="ECF1F8"/>
                </a:solidFill>
                <a:latin typeface="Arial Black" pitchFamily="34" charset="0"/>
                <a:ea typeface="Arial Black" pitchFamily="34" charset="-122"/>
                <a:cs typeface="Arial Black" pitchFamily="34" charset="-120"/>
              </a:rPr>
              <a:t>56</a:t>
            </a:r>
            <a:endParaRPr lang="en-US" sz="1200" dirty="0"/>
          </a:p>
        </p:txBody>
      </p:sp>
      <p:sp>
        <p:nvSpPr>
          <p:cNvPr id="61" name="Text 59"/>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Source: AARO Consolidated Annual Report on UAP, FY2024 (Nov 2024).</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DOC-033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DECLASSIFIED · DRAMATIS PERSONAE</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DISCLOSURE PLAYERS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33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11</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Disclosure Players  ·  Who Drove the Story</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3553968" cy="1828800"/>
          </a:xfrm>
          <a:prstGeom prst="rect">
            <a:avLst/>
          </a:prstGeom>
          <a:solidFill>
            <a:srgbClr val="0F1624"/>
          </a:solidFill>
          <a:ln w="9525">
            <a:solidFill>
              <a:srgbClr val="2B3A55"/>
            </a:solidFill>
            <a:prstDash val="solid"/>
          </a:ln>
        </p:spPr>
      </p:sp>
      <p:sp>
        <p:nvSpPr>
          <p:cNvPr id="25" name="Shape 23"/>
          <p:cNvSpPr/>
          <p:nvPr/>
        </p:nvSpPr>
        <p:spPr>
          <a:xfrm>
            <a:off x="548640" y="2194560"/>
            <a:ext cx="54864" cy="1828800"/>
          </a:xfrm>
          <a:prstGeom prst="rect">
            <a:avLst/>
          </a:prstGeom>
          <a:solidFill>
            <a:srgbClr val="E8434C"/>
          </a:solidFill>
          <a:ln w="12700">
            <a:solidFill>
              <a:srgbClr val="E8434C"/>
            </a:solidFill>
            <a:prstDash val="solid"/>
          </a:ln>
        </p:spPr>
      </p:sp>
      <p:sp>
        <p:nvSpPr>
          <p:cNvPr id="26" name="Text 24"/>
          <p:cNvSpPr/>
          <p:nvPr/>
        </p:nvSpPr>
        <p:spPr>
          <a:xfrm>
            <a:off x="777240" y="2331720"/>
            <a:ext cx="3188208"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LUIS ELIZONDO</a:t>
            </a:r>
            <a:endParaRPr lang="en-US" sz="1500" dirty="0"/>
          </a:p>
        </p:txBody>
      </p:sp>
      <p:sp>
        <p:nvSpPr>
          <p:cNvPr id="27" name="Text 25"/>
          <p:cNvSpPr/>
          <p:nvPr/>
        </p:nvSpPr>
        <p:spPr>
          <a:xfrm>
            <a:off x="777240" y="2697480"/>
            <a:ext cx="3188208" cy="274320"/>
          </a:xfrm>
          <a:prstGeom prst="rect">
            <a:avLst/>
          </a:prstGeom>
          <a:noFill/>
          <a:ln/>
        </p:spPr>
        <p:txBody>
          <a:bodyPr wrap="square" lIns="0" tIns="0" rIns="0" bIns="0" rtlCol="0" anchor="ctr"/>
          <a:lstStyle/>
          <a:p>
            <a:pPr indent="0" marL="0">
              <a:buNone/>
            </a:pPr>
            <a:r>
              <a:rPr lang="en-US" sz="900" b="1" spc="300" kern="0" dirty="0">
                <a:solidFill>
                  <a:srgbClr val="E8434C"/>
                </a:solidFill>
                <a:latin typeface="Consolas" pitchFamily="34" charset="0"/>
                <a:ea typeface="Consolas" pitchFamily="34" charset="-122"/>
                <a:cs typeface="Consolas" pitchFamily="34" charset="-120"/>
              </a:rPr>
              <a:t>Fmr. Head, AATIP</a:t>
            </a:r>
            <a:endParaRPr lang="en-US" sz="900" dirty="0"/>
          </a:p>
        </p:txBody>
      </p:sp>
      <p:sp>
        <p:nvSpPr>
          <p:cNvPr id="28" name="Shape 26"/>
          <p:cNvSpPr/>
          <p:nvPr/>
        </p:nvSpPr>
        <p:spPr>
          <a:xfrm>
            <a:off x="777240" y="2999232"/>
            <a:ext cx="3096768" cy="0"/>
          </a:xfrm>
          <a:prstGeom prst="line">
            <a:avLst/>
          </a:prstGeom>
          <a:noFill/>
          <a:ln w="9525">
            <a:solidFill>
              <a:srgbClr val="2B3A55"/>
            </a:solidFill>
            <a:prstDash val="solid"/>
          </a:ln>
        </p:spPr>
      </p:sp>
      <p:sp>
        <p:nvSpPr>
          <p:cNvPr id="29" name="Text 27"/>
          <p:cNvSpPr/>
          <p:nvPr/>
        </p:nvSpPr>
        <p:spPr>
          <a:xfrm>
            <a:off x="777240" y="3063240"/>
            <a:ext cx="3188208" cy="914400"/>
          </a:xfrm>
          <a:prstGeom prst="rect">
            <a:avLst/>
          </a:prstGeom>
          <a:noFill/>
          <a:ln/>
        </p:spPr>
        <p:txBody>
          <a:bodyPr wrap="square" lIns="0" tIns="0" rIns="0" bIns="0" rtlCol="0" anchor="ctr"/>
          <a:lstStyle/>
          <a:p>
            <a:pPr indent="0" marL="0">
              <a:buNone/>
            </a:pPr>
            <a:r>
              <a:rPr lang="en-US" sz="1100" dirty="0">
                <a:solidFill>
                  <a:srgbClr val="8A97AD"/>
                </a:solidFill>
                <a:latin typeface="Calibri" pitchFamily="34" charset="0"/>
                <a:ea typeface="Calibri" pitchFamily="34" charset="-122"/>
                <a:cs typeface="Calibri" pitchFamily="34" charset="-120"/>
              </a:rPr>
              <a:t>Led the Pentagon's UAP effort until his 2017 resignation. Co-founded To the Stars Academy with Tom DeLonge.</a:t>
            </a:r>
            <a:endParaRPr lang="en-US" sz="1100" dirty="0"/>
          </a:p>
        </p:txBody>
      </p:sp>
      <p:sp>
        <p:nvSpPr>
          <p:cNvPr id="30" name="Shape 28"/>
          <p:cNvSpPr/>
          <p:nvPr/>
        </p:nvSpPr>
        <p:spPr>
          <a:xfrm>
            <a:off x="4303776" y="2194560"/>
            <a:ext cx="3553968" cy="1828800"/>
          </a:xfrm>
          <a:prstGeom prst="rect">
            <a:avLst/>
          </a:prstGeom>
          <a:solidFill>
            <a:srgbClr val="0F1624"/>
          </a:solidFill>
          <a:ln w="9525">
            <a:solidFill>
              <a:srgbClr val="2B3A55"/>
            </a:solidFill>
            <a:prstDash val="solid"/>
          </a:ln>
        </p:spPr>
      </p:sp>
      <p:sp>
        <p:nvSpPr>
          <p:cNvPr id="31" name="Shape 29"/>
          <p:cNvSpPr/>
          <p:nvPr/>
        </p:nvSpPr>
        <p:spPr>
          <a:xfrm>
            <a:off x="4303776" y="2194560"/>
            <a:ext cx="54864" cy="1828800"/>
          </a:xfrm>
          <a:prstGeom prst="rect">
            <a:avLst/>
          </a:prstGeom>
          <a:solidFill>
            <a:srgbClr val="F5B024"/>
          </a:solidFill>
          <a:ln w="12700">
            <a:solidFill>
              <a:srgbClr val="F5B024"/>
            </a:solidFill>
            <a:prstDash val="solid"/>
          </a:ln>
        </p:spPr>
      </p:sp>
      <p:sp>
        <p:nvSpPr>
          <p:cNvPr id="32" name="Text 30"/>
          <p:cNvSpPr/>
          <p:nvPr/>
        </p:nvSpPr>
        <p:spPr>
          <a:xfrm>
            <a:off x="4532376" y="2331720"/>
            <a:ext cx="3188208"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CHRIS MELLON</a:t>
            </a:r>
            <a:endParaRPr lang="en-US" sz="1500" dirty="0"/>
          </a:p>
        </p:txBody>
      </p:sp>
      <p:sp>
        <p:nvSpPr>
          <p:cNvPr id="33" name="Text 31"/>
          <p:cNvSpPr/>
          <p:nvPr/>
        </p:nvSpPr>
        <p:spPr>
          <a:xfrm>
            <a:off x="4532376" y="2697480"/>
            <a:ext cx="3188208" cy="274320"/>
          </a:xfrm>
          <a:prstGeom prst="rect">
            <a:avLst/>
          </a:prstGeom>
          <a:noFill/>
          <a:ln/>
        </p:spPr>
        <p:txBody>
          <a:bodyPr wrap="square" lIns="0" tIns="0" rIns="0" bIns="0" rtlCol="0" anchor="ctr"/>
          <a:lstStyle/>
          <a:p>
            <a:pPr indent="0" marL="0">
              <a:buNone/>
            </a:pPr>
            <a:r>
              <a:rPr lang="en-US" sz="900" b="1" spc="300" kern="0" dirty="0">
                <a:solidFill>
                  <a:srgbClr val="F5B024"/>
                </a:solidFill>
                <a:latin typeface="Consolas" pitchFamily="34" charset="0"/>
                <a:ea typeface="Consolas" pitchFamily="34" charset="-122"/>
                <a:cs typeface="Consolas" pitchFamily="34" charset="-120"/>
              </a:rPr>
              <a:t>Fmr. Dep. Asst. Sec. of Defense</a:t>
            </a:r>
            <a:endParaRPr lang="en-US" sz="900" dirty="0"/>
          </a:p>
        </p:txBody>
      </p:sp>
      <p:sp>
        <p:nvSpPr>
          <p:cNvPr id="34" name="Shape 32"/>
          <p:cNvSpPr/>
          <p:nvPr/>
        </p:nvSpPr>
        <p:spPr>
          <a:xfrm>
            <a:off x="4532376" y="2999232"/>
            <a:ext cx="3096768" cy="0"/>
          </a:xfrm>
          <a:prstGeom prst="line">
            <a:avLst/>
          </a:prstGeom>
          <a:noFill/>
          <a:ln w="9525">
            <a:solidFill>
              <a:srgbClr val="2B3A55"/>
            </a:solidFill>
            <a:prstDash val="solid"/>
          </a:ln>
        </p:spPr>
      </p:sp>
      <p:sp>
        <p:nvSpPr>
          <p:cNvPr id="35" name="Text 33"/>
          <p:cNvSpPr/>
          <p:nvPr/>
        </p:nvSpPr>
        <p:spPr>
          <a:xfrm>
            <a:off x="4532376" y="3063240"/>
            <a:ext cx="3188208" cy="914400"/>
          </a:xfrm>
          <a:prstGeom prst="rect">
            <a:avLst/>
          </a:prstGeom>
          <a:noFill/>
          <a:ln/>
        </p:spPr>
        <p:txBody>
          <a:bodyPr wrap="square" lIns="0" tIns="0" rIns="0" bIns="0" rtlCol="0" anchor="ctr"/>
          <a:lstStyle/>
          <a:p>
            <a:pPr indent="0" marL="0">
              <a:buNone/>
            </a:pPr>
            <a:r>
              <a:rPr lang="en-US" sz="1100" dirty="0">
                <a:solidFill>
                  <a:srgbClr val="8A97AD"/>
                </a:solidFill>
                <a:latin typeface="Calibri" pitchFamily="34" charset="0"/>
                <a:ea typeface="Calibri" pitchFamily="34" charset="-122"/>
                <a:cs typeface="Calibri" pitchFamily="34" charset="-120"/>
              </a:rPr>
              <a:t>Intelligence hawk who pushed for pilot safety reporting and Congressional oversight.</a:t>
            </a:r>
            <a:endParaRPr lang="en-US" sz="1100" dirty="0"/>
          </a:p>
        </p:txBody>
      </p:sp>
      <p:sp>
        <p:nvSpPr>
          <p:cNvPr id="36" name="Shape 34"/>
          <p:cNvSpPr/>
          <p:nvPr/>
        </p:nvSpPr>
        <p:spPr>
          <a:xfrm>
            <a:off x="8058912" y="2194560"/>
            <a:ext cx="3553968" cy="1828800"/>
          </a:xfrm>
          <a:prstGeom prst="rect">
            <a:avLst/>
          </a:prstGeom>
          <a:solidFill>
            <a:srgbClr val="0F1624"/>
          </a:solidFill>
          <a:ln w="9525">
            <a:solidFill>
              <a:srgbClr val="2B3A55"/>
            </a:solidFill>
            <a:prstDash val="solid"/>
          </a:ln>
        </p:spPr>
      </p:sp>
      <p:sp>
        <p:nvSpPr>
          <p:cNvPr id="37" name="Shape 35"/>
          <p:cNvSpPr/>
          <p:nvPr/>
        </p:nvSpPr>
        <p:spPr>
          <a:xfrm>
            <a:off x="8058912" y="2194560"/>
            <a:ext cx="54864" cy="1828800"/>
          </a:xfrm>
          <a:prstGeom prst="rect">
            <a:avLst/>
          </a:prstGeom>
          <a:solidFill>
            <a:srgbClr val="38D9F0"/>
          </a:solidFill>
          <a:ln w="12700">
            <a:solidFill>
              <a:srgbClr val="38D9F0"/>
            </a:solidFill>
            <a:prstDash val="solid"/>
          </a:ln>
        </p:spPr>
      </p:sp>
      <p:sp>
        <p:nvSpPr>
          <p:cNvPr id="38" name="Text 36"/>
          <p:cNvSpPr/>
          <p:nvPr/>
        </p:nvSpPr>
        <p:spPr>
          <a:xfrm>
            <a:off x="8287512" y="2331720"/>
            <a:ext cx="3188208"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JAY STRATTON</a:t>
            </a:r>
            <a:endParaRPr lang="en-US" sz="1500" dirty="0"/>
          </a:p>
        </p:txBody>
      </p:sp>
      <p:sp>
        <p:nvSpPr>
          <p:cNvPr id="39" name="Text 37"/>
          <p:cNvSpPr/>
          <p:nvPr/>
        </p:nvSpPr>
        <p:spPr>
          <a:xfrm>
            <a:off x="8287512" y="2697480"/>
            <a:ext cx="3188208" cy="274320"/>
          </a:xfrm>
          <a:prstGeom prst="rect">
            <a:avLst/>
          </a:prstGeom>
          <a:noFill/>
          <a:ln/>
        </p:spPr>
        <p:txBody>
          <a:bodyPr wrap="square" lIns="0" tIns="0" rIns="0" bIns="0" rtlCol="0" anchor="ctr"/>
          <a:lstStyle/>
          <a:p>
            <a:pPr indent="0" marL="0">
              <a:buNone/>
            </a:pPr>
            <a:r>
              <a:rPr lang="en-US" sz="900" b="1" spc="300" kern="0" dirty="0">
                <a:solidFill>
                  <a:srgbClr val="38D9F0"/>
                </a:solidFill>
                <a:latin typeface="Consolas" pitchFamily="34" charset="0"/>
                <a:ea typeface="Consolas" pitchFamily="34" charset="-122"/>
                <a:cs typeface="Consolas" pitchFamily="34" charset="-120"/>
              </a:rPr>
              <a:t>Fmr. Director, UAPTF</a:t>
            </a:r>
            <a:endParaRPr lang="en-US" sz="900" dirty="0"/>
          </a:p>
        </p:txBody>
      </p:sp>
      <p:sp>
        <p:nvSpPr>
          <p:cNvPr id="40" name="Shape 38"/>
          <p:cNvSpPr/>
          <p:nvPr/>
        </p:nvSpPr>
        <p:spPr>
          <a:xfrm>
            <a:off x="8287512" y="2999232"/>
            <a:ext cx="3096768" cy="0"/>
          </a:xfrm>
          <a:prstGeom prst="line">
            <a:avLst/>
          </a:prstGeom>
          <a:noFill/>
          <a:ln w="9525">
            <a:solidFill>
              <a:srgbClr val="2B3A55"/>
            </a:solidFill>
            <a:prstDash val="solid"/>
          </a:ln>
        </p:spPr>
      </p:sp>
      <p:sp>
        <p:nvSpPr>
          <p:cNvPr id="41" name="Text 39"/>
          <p:cNvSpPr/>
          <p:nvPr/>
        </p:nvSpPr>
        <p:spPr>
          <a:xfrm>
            <a:off x="8287512" y="3063240"/>
            <a:ext cx="3188208" cy="914400"/>
          </a:xfrm>
          <a:prstGeom prst="rect">
            <a:avLst/>
          </a:prstGeom>
          <a:noFill/>
          <a:ln/>
        </p:spPr>
        <p:txBody>
          <a:bodyPr wrap="square" lIns="0" tIns="0" rIns="0" bIns="0" rtlCol="0" anchor="ctr"/>
          <a:lstStyle/>
          <a:p>
            <a:pPr indent="0" marL="0">
              <a:buNone/>
            </a:pPr>
            <a:r>
              <a:rPr lang="en-US" sz="1100" dirty="0">
                <a:solidFill>
                  <a:srgbClr val="8A97AD"/>
                </a:solidFill>
                <a:latin typeface="Calibri" pitchFamily="34" charset="0"/>
                <a:ea typeface="Calibri" pitchFamily="34" charset="-122"/>
                <a:cs typeface="Calibri" pitchFamily="34" charset="-120"/>
              </a:rPr>
              <a:t>Headed the UAP Task Force (2020–22), the direct predecessor to AARO, inside the Office of Naval Intelligence.</a:t>
            </a:r>
            <a:endParaRPr lang="en-US" sz="1100" dirty="0"/>
          </a:p>
        </p:txBody>
      </p:sp>
      <p:sp>
        <p:nvSpPr>
          <p:cNvPr id="42" name="Shape 40"/>
          <p:cNvSpPr/>
          <p:nvPr/>
        </p:nvSpPr>
        <p:spPr>
          <a:xfrm>
            <a:off x="548640" y="4224528"/>
            <a:ext cx="3553968" cy="1828800"/>
          </a:xfrm>
          <a:prstGeom prst="rect">
            <a:avLst/>
          </a:prstGeom>
          <a:solidFill>
            <a:srgbClr val="0F1624"/>
          </a:solidFill>
          <a:ln w="9525">
            <a:solidFill>
              <a:srgbClr val="2B3A55"/>
            </a:solidFill>
            <a:prstDash val="solid"/>
          </a:ln>
        </p:spPr>
      </p:sp>
      <p:sp>
        <p:nvSpPr>
          <p:cNvPr id="43" name="Shape 41"/>
          <p:cNvSpPr/>
          <p:nvPr/>
        </p:nvSpPr>
        <p:spPr>
          <a:xfrm>
            <a:off x="548640" y="4224528"/>
            <a:ext cx="54864" cy="1828800"/>
          </a:xfrm>
          <a:prstGeom prst="rect">
            <a:avLst/>
          </a:prstGeom>
          <a:solidFill>
            <a:srgbClr val="5DD39E"/>
          </a:solidFill>
          <a:ln w="12700">
            <a:solidFill>
              <a:srgbClr val="5DD39E"/>
            </a:solidFill>
            <a:prstDash val="solid"/>
          </a:ln>
        </p:spPr>
      </p:sp>
      <p:sp>
        <p:nvSpPr>
          <p:cNvPr id="44" name="Text 42"/>
          <p:cNvSpPr/>
          <p:nvPr/>
        </p:nvSpPr>
        <p:spPr>
          <a:xfrm>
            <a:off x="777240" y="4361688"/>
            <a:ext cx="3188208"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SEAN KIRKPATRICK</a:t>
            </a:r>
            <a:endParaRPr lang="en-US" sz="1500" dirty="0"/>
          </a:p>
        </p:txBody>
      </p:sp>
      <p:sp>
        <p:nvSpPr>
          <p:cNvPr id="45" name="Text 43"/>
          <p:cNvSpPr/>
          <p:nvPr/>
        </p:nvSpPr>
        <p:spPr>
          <a:xfrm>
            <a:off x="777240" y="4727448"/>
            <a:ext cx="3188208" cy="274320"/>
          </a:xfrm>
          <a:prstGeom prst="rect">
            <a:avLst/>
          </a:prstGeom>
          <a:noFill/>
          <a:ln/>
        </p:spPr>
        <p:txBody>
          <a:bodyPr wrap="square" lIns="0" tIns="0" rIns="0" bIns="0" rtlCol="0" anchor="ctr"/>
          <a:lstStyle/>
          <a:p>
            <a:pPr indent="0" marL="0">
              <a:buNone/>
            </a:pPr>
            <a:r>
              <a:rPr lang="en-US" sz="900" b="1" spc="300" kern="0" dirty="0">
                <a:solidFill>
                  <a:srgbClr val="5DD39E"/>
                </a:solidFill>
                <a:latin typeface="Consolas" pitchFamily="34" charset="0"/>
                <a:ea typeface="Consolas" pitchFamily="34" charset="-122"/>
                <a:cs typeface="Consolas" pitchFamily="34" charset="-120"/>
              </a:rPr>
              <a:t>Fmr. Director, AARO</a:t>
            </a:r>
            <a:endParaRPr lang="en-US" sz="900" dirty="0"/>
          </a:p>
        </p:txBody>
      </p:sp>
      <p:sp>
        <p:nvSpPr>
          <p:cNvPr id="46" name="Shape 44"/>
          <p:cNvSpPr/>
          <p:nvPr/>
        </p:nvSpPr>
        <p:spPr>
          <a:xfrm>
            <a:off x="777240" y="5029200"/>
            <a:ext cx="3096768" cy="0"/>
          </a:xfrm>
          <a:prstGeom prst="line">
            <a:avLst/>
          </a:prstGeom>
          <a:noFill/>
          <a:ln w="9525">
            <a:solidFill>
              <a:srgbClr val="2B3A55"/>
            </a:solidFill>
            <a:prstDash val="solid"/>
          </a:ln>
        </p:spPr>
      </p:sp>
      <p:sp>
        <p:nvSpPr>
          <p:cNvPr id="47" name="Text 45"/>
          <p:cNvSpPr/>
          <p:nvPr/>
        </p:nvSpPr>
        <p:spPr>
          <a:xfrm>
            <a:off x="777240" y="5093208"/>
            <a:ext cx="3188208" cy="914400"/>
          </a:xfrm>
          <a:prstGeom prst="rect">
            <a:avLst/>
          </a:prstGeom>
          <a:noFill/>
          <a:ln/>
        </p:spPr>
        <p:txBody>
          <a:bodyPr wrap="square" lIns="0" tIns="0" rIns="0" bIns="0" rtlCol="0" anchor="ctr"/>
          <a:lstStyle/>
          <a:p>
            <a:pPr indent="0" marL="0">
              <a:buNone/>
            </a:pPr>
            <a:r>
              <a:rPr lang="en-US" sz="1100" dirty="0">
                <a:solidFill>
                  <a:srgbClr val="8A97AD"/>
                </a:solidFill>
                <a:latin typeface="Calibri" pitchFamily="34" charset="0"/>
                <a:ea typeface="Calibri" pitchFamily="34" charset="-122"/>
                <a:cs typeface="Calibri" pitchFamily="34" charset="-120"/>
              </a:rPr>
              <a:t>First AARO director (2022–23). Aggressive debunker of extraordinary claims, published “Physical Constraints” paper.</a:t>
            </a:r>
            <a:endParaRPr lang="en-US" sz="1100" dirty="0"/>
          </a:p>
        </p:txBody>
      </p:sp>
      <p:sp>
        <p:nvSpPr>
          <p:cNvPr id="48" name="Shape 46"/>
          <p:cNvSpPr/>
          <p:nvPr/>
        </p:nvSpPr>
        <p:spPr>
          <a:xfrm>
            <a:off x="4303776" y="4224528"/>
            <a:ext cx="3553968" cy="1828800"/>
          </a:xfrm>
          <a:prstGeom prst="rect">
            <a:avLst/>
          </a:prstGeom>
          <a:solidFill>
            <a:srgbClr val="0F1624"/>
          </a:solidFill>
          <a:ln w="9525">
            <a:solidFill>
              <a:srgbClr val="2B3A55"/>
            </a:solidFill>
            <a:prstDash val="solid"/>
          </a:ln>
        </p:spPr>
      </p:sp>
      <p:sp>
        <p:nvSpPr>
          <p:cNvPr id="49" name="Shape 47"/>
          <p:cNvSpPr/>
          <p:nvPr/>
        </p:nvSpPr>
        <p:spPr>
          <a:xfrm>
            <a:off x="4303776" y="4224528"/>
            <a:ext cx="54864" cy="1828800"/>
          </a:xfrm>
          <a:prstGeom prst="rect">
            <a:avLst/>
          </a:prstGeom>
          <a:solidFill>
            <a:srgbClr val="E8434C"/>
          </a:solidFill>
          <a:ln w="12700">
            <a:solidFill>
              <a:srgbClr val="E8434C"/>
            </a:solidFill>
            <a:prstDash val="solid"/>
          </a:ln>
        </p:spPr>
      </p:sp>
      <p:sp>
        <p:nvSpPr>
          <p:cNvPr id="50" name="Text 48"/>
          <p:cNvSpPr/>
          <p:nvPr/>
        </p:nvSpPr>
        <p:spPr>
          <a:xfrm>
            <a:off x="4532376" y="4361688"/>
            <a:ext cx="3188208"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DAVID GRUSCH</a:t>
            </a:r>
            <a:endParaRPr lang="en-US" sz="1500" dirty="0"/>
          </a:p>
        </p:txBody>
      </p:sp>
      <p:sp>
        <p:nvSpPr>
          <p:cNvPr id="51" name="Text 49"/>
          <p:cNvSpPr/>
          <p:nvPr/>
        </p:nvSpPr>
        <p:spPr>
          <a:xfrm>
            <a:off x="4532376" y="4727448"/>
            <a:ext cx="3188208" cy="274320"/>
          </a:xfrm>
          <a:prstGeom prst="rect">
            <a:avLst/>
          </a:prstGeom>
          <a:noFill/>
          <a:ln/>
        </p:spPr>
        <p:txBody>
          <a:bodyPr wrap="square" lIns="0" tIns="0" rIns="0" bIns="0" rtlCol="0" anchor="ctr"/>
          <a:lstStyle/>
          <a:p>
            <a:pPr indent="0" marL="0">
              <a:buNone/>
            </a:pPr>
            <a:r>
              <a:rPr lang="en-US" sz="900" b="1" spc="300" kern="0" dirty="0">
                <a:solidFill>
                  <a:srgbClr val="E8434C"/>
                </a:solidFill>
                <a:latin typeface="Consolas" pitchFamily="34" charset="0"/>
                <a:ea typeface="Consolas" pitchFamily="34" charset="-122"/>
                <a:cs typeface="Consolas" pitchFamily="34" charset="-120"/>
              </a:rPr>
              <a:t>Whistleblower</a:t>
            </a:r>
            <a:endParaRPr lang="en-US" sz="900" dirty="0"/>
          </a:p>
        </p:txBody>
      </p:sp>
      <p:sp>
        <p:nvSpPr>
          <p:cNvPr id="52" name="Shape 50"/>
          <p:cNvSpPr/>
          <p:nvPr/>
        </p:nvSpPr>
        <p:spPr>
          <a:xfrm>
            <a:off x="4532376" y="5029200"/>
            <a:ext cx="3096768" cy="0"/>
          </a:xfrm>
          <a:prstGeom prst="line">
            <a:avLst/>
          </a:prstGeom>
          <a:noFill/>
          <a:ln w="9525">
            <a:solidFill>
              <a:srgbClr val="2B3A55"/>
            </a:solidFill>
            <a:prstDash val="solid"/>
          </a:ln>
        </p:spPr>
      </p:sp>
      <p:sp>
        <p:nvSpPr>
          <p:cNvPr id="53" name="Text 51"/>
          <p:cNvSpPr/>
          <p:nvPr/>
        </p:nvSpPr>
        <p:spPr>
          <a:xfrm>
            <a:off x="4532376" y="5093208"/>
            <a:ext cx="3188208" cy="914400"/>
          </a:xfrm>
          <a:prstGeom prst="rect">
            <a:avLst/>
          </a:prstGeom>
          <a:noFill/>
          <a:ln/>
        </p:spPr>
        <p:txBody>
          <a:bodyPr wrap="square" lIns="0" tIns="0" rIns="0" bIns="0" rtlCol="0" anchor="ctr"/>
          <a:lstStyle/>
          <a:p>
            <a:pPr indent="0" marL="0">
              <a:buNone/>
            </a:pPr>
            <a:r>
              <a:rPr lang="en-US" sz="1100" dirty="0">
                <a:solidFill>
                  <a:srgbClr val="8A97AD"/>
                </a:solidFill>
                <a:latin typeface="Calibri" pitchFamily="34" charset="0"/>
                <a:ea typeface="Calibri" pitchFamily="34" charset="-122"/>
                <a:cs typeface="Calibri" pitchFamily="34" charset="-120"/>
              </a:rPr>
              <a:t>Former NRO / NGA officer whose 2023 Congressional testimony reset the public conversation.</a:t>
            </a:r>
            <a:endParaRPr lang="en-US" sz="1100" dirty="0"/>
          </a:p>
        </p:txBody>
      </p:sp>
      <p:sp>
        <p:nvSpPr>
          <p:cNvPr id="54" name="Shape 52"/>
          <p:cNvSpPr/>
          <p:nvPr/>
        </p:nvSpPr>
        <p:spPr>
          <a:xfrm>
            <a:off x="8058912" y="4224528"/>
            <a:ext cx="3553968" cy="1828800"/>
          </a:xfrm>
          <a:prstGeom prst="rect">
            <a:avLst/>
          </a:prstGeom>
          <a:solidFill>
            <a:srgbClr val="0F1624"/>
          </a:solidFill>
          <a:ln w="9525">
            <a:solidFill>
              <a:srgbClr val="2B3A55"/>
            </a:solidFill>
            <a:prstDash val="solid"/>
          </a:ln>
        </p:spPr>
      </p:sp>
      <p:sp>
        <p:nvSpPr>
          <p:cNvPr id="55" name="Shape 53"/>
          <p:cNvSpPr/>
          <p:nvPr/>
        </p:nvSpPr>
        <p:spPr>
          <a:xfrm>
            <a:off x="8058912" y="4224528"/>
            <a:ext cx="54864" cy="1828800"/>
          </a:xfrm>
          <a:prstGeom prst="rect">
            <a:avLst/>
          </a:prstGeom>
          <a:solidFill>
            <a:srgbClr val="38D9F0"/>
          </a:solidFill>
          <a:ln w="12700">
            <a:solidFill>
              <a:srgbClr val="38D9F0"/>
            </a:solidFill>
            <a:prstDash val="solid"/>
          </a:ln>
        </p:spPr>
      </p:sp>
      <p:sp>
        <p:nvSpPr>
          <p:cNvPr id="56" name="Text 54"/>
          <p:cNvSpPr/>
          <p:nvPr/>
        </p:nvSpPr>
        <p:spPr>
          <a:xfrm>
            <a:off x="8287512" y="4361688"/>
            <a:ext cx="3188208" cy="365760"/>
          </a:xfrm>
          <a:prstGeom prst="rect">
            <a:avLst/>
          </a:prstGeom>
          <a:noFill/>
          <a:ln/>
        </p:spPr>
        <p:txBody>
          <a:bodyPr wrap="square" lIns="0" tIns="0" rIns="0" bIns="0" rtlCol="0" anchor="ctr"/>
          <a:lstStyle/>
          <a:p>
            <a:pPr indent="0" marL="0">
              <a:buNone/>
            </a:pPr>
            <a:r>
              <a:rPr lang="en-US" sz="1500" dirty="0">
                <a:solidFill>
                  <a:srgbClr val="ECF1F8"/>
                </a:solidFill>
                <a:latin typeface="Arial Black" pitchFamily="34" charset="0"/>
                <a:ea typeface="Arial Black" pitchFamily="34" charset="-122"/>
                <a:cs typeface="Arial Black" pitchFamily="34" charset="-120"/>
              </a:rPr>
              <a:t>SEN. GILLIBRAND</a:t>
            </a:r>
            <a:endParaRPr lang="en-US" sz="1500" dirty="0"/>
          </a:p>
        </p:txBody>
      </p:sp>
      <p:sp>
        <p:nvSpPr>
          <p:cNvPr id="57" name="Text 55"/>
          <p:cNvSpPr/>
          <p:nvPr/>
        </p:nvSpPr>
        <p:spPr>
          <a:xfrm>
            <a:off x="8287512" y="4727448"/>
            <a:ext cx="3188208" cy="274320"/>
          </a:xfrm>
          <a:prstGeom prst="rect">
            <a:avLst/>
          </a:prstGeom>
          <a:noFill/>
          <a:ln/>
        </p:spPr>
        <p:txBody>
          <a:bodyPr wrap="square" lIns="0" tIns="0" rIns="0" bIns="0" rtlCol="0" anchor="ctr"/>
          <a:lstStyle/>
          <a:p>
            <a:pPr indent="0" marL="0">
              <a:buNone/>
            </a:pPr>
            <a:r>
              <a:rPr lang="en-US" sz="900" b="1" spc="300" kern="0" dirty="0">
                <a:solidFill>
                  <a:srgbClr val="38D9F0"/>
                </a:solidFill>
                <a:latin typeface="Consolas" pitchFamily="34" charset="0"/>
                <a:ea typeface="Consolas" pitchFamily="34" charset="-122"/>
                <a:cs typeface="Consolas" pitchFamily="34" charset="-120"/>
              </a:rPr>
              <a:t>Architect, UAPDA</a:t>
            </a:r>
            <a:endParaRPr lang="en-US" sz="900" dirty="0"/>
          </a:p>
        </p:txBody>
      </p:sp>
      <p:sp>
        <p:nvSpPr>
          <p:cNvPr id="58" name="Shape 56"/>
          <p:cNvSpPr/>
          <p:nvPr/>
        </p:nvSpPr>
        <p:spPr>
          <a:xfrm>
            <a:off x="8287512" y="5029200"/>
            <a:ext cx="3096768" cy="0"/>
          </a:xfrm>
          <a:prstGeom prst="line">
            <a:avLst/>
          </a:prstGeom>
          <a:noFill/>
          <a:ln w="9525">
            <a:solidFill>
              <a:srgbClr val="2B3A55"/>
            </a:solidFill>
            <a:prstDash val="solid"/>
          </a:ln>
        </p:spPr>
      </p:sp>
      <p:sp>
        <p:nvSpPr>
          <p:cNvPr id="59" name="Text 57"/>
          <p:cNvSpPr/>
          <p:nvPr/>
        </p:nvSpPr>
        <p:spPr>
          <a:xfrm>
            <a:off x="8287512" y="5093208"/>
            <a:ext cx="3188208" cy="914400"/>
          </a:xfrm>
          <a:prstGeom prst="rect">
            <a:avLst/>
          </a:prstGeom>
          <a:noFill/>
          <a:ln/>
        </p:spPr>
        <p:txBody>
          <a:bodyPr wrap="square" lIns="0" tIns="0" rIns="0" bIns="0" rtlCol="0" anchor="ctr"/>
          <a:lstStyle/>
          <a:p>
            <a:pPr indent="0" marL="0">
              <a:buNone/>
            </a:pPr>
            <a:r>
              <a:rPr lang="en-US" sz="1100" dirty="0">
                <a:solidFill>
                  <a:srgbClr val="8A97AD"/>
                </a:solidFill>
                <a:latin typeface="Calibri" pitchFamily="34" charset="0"/>
                <a:ea typeface="Calibri" pitchFamily="34" charset="-122"/>
                <a:cs typeface="Calibri" pitchFamily="34" charset="-120"/>
              </a:rPr>
              <a:t>Drove the legislative framework behind AARO and the UAP Disclosure Act amendments.</a:t>
            </a:r>
            <a:endParaRPr lang="en-US" sz="1100" dirty="0"/>
          </a:p>
        </p:txBody>
      </p:sp>
      <p:sp>
        <p:nvSpPr>
          <p:cNvPr id="60" name="Text 58"/>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A small and highly networked group — intelligence veterans, aerospace executives, and legislators — drove the modern disclosure push.</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DOC-034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POLLING · 2021 – 2024</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PUBLIC OPINION</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34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12</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Public Opinion  ·  A Nation Looks Up</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30352" y="2194560"/>
            <a:ext cx="3566160" cy="2743200"/>
          </a:xfrm>
          <a:prstGeom prst="rect">
            <a:avLst/>
          </a:prstGeom>
          <a:solidFill>
            <a:srgbClr val="0F1624"/>
          </a:solidFill>
          <a:ln w="9525">
            <a:solidFill>
              <a:srgbClr val="2B3A55"/>
            </a:solidFill>
            <a:prstDash val="solid"/>
          </a:ln>
        </p:spPr>
      </p:sp>
      <p:sp>
        <p:nvSpPr>
          <p:cNvPr id="25" name="Shape 23"/>
          <p:cNvSpPr/>
          <p:nvPr/>
        </p:nvSpPr>
        <p:spPr>
          <a:xfrm>
            <a:off x="530352" y="2194560"/>
            <a:ext cx="54864" cy="2743200"/>
          </a:xfrm>
          <a:prstGeom prst="rect">
            <a:avLst/>
          </a:prstGeom>
          <a:solidFill>
            <a:srgbClr val="38D9F0"/>
          </a:solidFill>
          <a:ln w="12700">
            <a:solidFill>
              <a:srgbClr val="38D9F0"/>
            </a:solidFill>
            <a:prstDash val="solid"/>
          </a:ln>
        </p:spPr>
      </p:sp>
      <p:sp>
        <p:nvSpPr>
          <p:cNvPr id="26" name="Shape 24"/>
          <p:cNvSpPr/>
          <p:nvPr/>
        </p:nvSpPr>
        <p:spPr>
          <a:xfrm>
            <a:off x="1444752" y="2834640"/>
            <a:ext cx="1280160" cy="1280160"/>
          </a:xfrm>
          <a:prstGeom prst="ellipse">
            <a:avLst/>
          </a:prstGeom>
          <a:solidFill>
            <a:srgbClr val="121B2E"/>
          </a:solidFill>
          <a:ln w="38100">
            <a:solidFill>
              <a:srgbClr val="38D9F0"/>
            </a:solidFill>
            <a:prstDash val="solid"/>
          </a:ln>
        </p:spPr>
      </p:sp>
      <p:sp>
        <p:nvSpPr>
          <p:cNvPr id="27" name="Text 25"/>
          <p:cNvSpPr/>
          <p:nvPr/>
        </p:nvSpPr>
        <p:spPr>
          <a:xfrm>
            <a:off x="1444752" y="3154680"/>
            <a:ext cx="1280160" cy="640080"/>
          </a:xfrm>
          <a:prstGeom prst="rect">
            <a:avLst/>
          </a:prstGeom>
          <a:noFill/>
          <a:ln/>
        </p:spPr>
        <p:txBody>
          <a:bodyPr wrap="square" lIns="0" tIns="0" rIns="0" bIns="0" rtlCol="0" anchor="ctr"/>
          <a:lstStyle/>
          <a:p>
            <a:pPr algn="ctr" indent="0" marL="0">
              <a:buNone/>
            </a:pPr>
            <a:r>
              <a:rPr lang="en-US" sz="2400" dirty="0">
                <a:solidFill>
                  <a:srgbClr val="38D9F0"/>
                </a:solidFill>
                <a:latin typeface="Arial Black" pitchFamily="34" charset="0"/>
                <a:ea typeface="Arial Black" pitchFamily="34" charset="-122"/>
                <a:cs typeface="Arial Black" pitchFamily="34" charset="-120"/>
              </a:rPr>
              <a:t>53%</a:t>
            </a:r>
            <a:endParaRPr lang="en-US" sz="2400" dirty="0"/>
          </a:p>
        </p:txBody>
      </p:sp>
      <p:sp>
        <p:nvSpPr>
          <p:cNvPr id="28" name="Text 26"/>
          <p:cNvSpPr/>
          <p:nvPr/>
        </p:nvSpPr>
        <p:spPr>
          <a:xfrm>
            <a:off x="758952" y="4206240"/>
            <a:ext cx="3200400" cy="411480"/>
          </a:xfrm>
          <a:prstGeom prst="rect">
            <a:avLst/>
          </a:prstGeom>
          <a:noFill/>
          <a:ln/>
        </p:spPr>
        <p:txBody>
          <a:bodyPr wrap="square" lIns="0" tIns="0" rIns="0" bIns="0" rtlCol="0" anchor="ctr"/>
          <a:lstStyle/>
          <a:p>
            <a:pPr indent="0" marL="0">
              <a:buNone/>
            </a:pPr>
            <a:r>
              <a:rPr lang="en-US" sz="1050" b="1" spc="300" kern="0" dirty="0">
                <a:solidFill>
                  <a:srgbClr val="ECF1F8"/>
                </a:solidFill>
                <a:latin typeface="Consolas" pitchFamily="34" charset="0"/>
                <a:ea typeface="Consolas" pitchFamily="34" charset="-122"/>
                <a:cs typeface="Consolas" pitchFamily="34" charset="-120"/>
              </a:rPr>
              <a:t>BELIEVE ALIEN LIFE EXISTS</a:t>
            </a:r>
            <a:endParaRPr lang="en-US" sz="1050" dirty="0"/>
          </a:p>
        </p:txBody>
      </p:sp>
      <p:sp>
        <p:nvSpPr>
          <p:cNvPr id="29" name="Text 27"/>
          <p:cNvSpPr/>
          <p:nvPr/>
        </p:nvSpPr>
        <p:spPr>
          <a:xfrm>
            <a:off x="758952" y="4617720"/>
            <a:ext cx="3200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Pew Research, 2021</a:t>
            </a:r>
            <a:endParaRPr lang="en-US" sz="900" dirty="0"/>
          </a:p>
        </p:txBody>
      </p:sp>
      <p:sp>
        <p:nvSpPr>
          <p:cNvPr id="30" name="Shape 28"/>
          <p:cNvSpPr/>
          <p:nvPr/>
        </p:nvSpPr>
        <p:spPr>
          <a:xfrm>
            <a:off x="4297680" y="2194560"/>
            <a:ext cx="3566160" cy="2743200"/>
          </a:xfrm>
          <a:prstGeom prst="rect">
            <a:avLst/>
          </a:prstGeom>
          <a:solidFill>
            <a:srgbClr val="0F1624"/>
          </a:solidFill>
          <a:ln w="9525">
            <a:solidFill>
              <a:srgbClr val="2B3A55"/>
            </a:solidFill>
            <a:prstDash val="solid"/>
          </a:ln>
        </p:spPr>
      </p:sp>
      <p:sp>
        <p:nvSpPr>
          <p:cNvPr id="31" name="Shape 29"/>
          <p:cNvSpPr/>
          <p:nvPr/>
        </p:nvSpPr>
        <p:spPr>
          <a:xfrm>
            <a:off x="4297680" y="2194560"/>
            <a:ext cx="54864" cy="2743200"/>
          </a:xfrm>
          <a:prstGeom prst="rect">
            <a:avLst/>
          </a:prstGeom>
          <a:solidFill>
            <a:srgbClr val="F5B024"/>
          </a:solidFill>
          <a:ln w="12700">
            <a:solidFill>
              <a:srgbClr val="F5B024"/>
            </a:solidFill>
            <a:prstDash val="solid"/>
          </a:ln>
        </p:spPr>
      </p:sp>
      <p:sp>
        <p:nvSpPr>
          <p:cNvPr id="32" name="Shape 30"/>
          <p:cNvSpPr/>
          <p:nvPr/>
        </p:nvSpPr>
        <p:spPr>
          <a:xfrm>
            <a:off x="5212080" y="2834640"/>
            <a:ext cx="1280160" cy="1280160"/>
          </a:xfrm>
          <a:prstGeom prst="ellipse">
            <a:avLst/>
          </a:prstGeom>
          <a:solidFill>
            <a:srgbClr val="121B2E"/>
          </a:solidFill>
          <a:ln w="38100">
            <a:solidFill>
              <a:srgbClr val="F5B024"/>
            </a:solidFill>
            <a:prstDash val="solid"/>
          </a:ln>
        </p:spPr>
      </p:sp>
      <p:sp>
        <p:nvSpPr>
          <p:cNvPr id="33" name="Text 31"/>
          <p:cNvSpPr/>
          <p:nvPr/>
        </p:nvSpPr>
        <p:spPr>
          <a:xfrm>
            <a:off x="5212080" y="3154680"/>
            <a:ext cx="1280160" cy="640080"/>
          </a:xfrm>
          <a:prstGeom prst="rect">
            <a:avLst/>
          </a:prstGeom>
          <a:noFill/>
          <a:ln/>
        </p:spPr>
        <p:txBody>
          <a:bodyPr wrap="square" lIns="0" tIns="0" rIns="0" bIns="0" rtlCol="0" anchor="ctr"/>
          <a:lstStyle/>
          <a:p>
            <a:pPr algn="ctr" indent="0" marL="0">
              <a:buNone/>
            </a:pPr>
            <a:r>
              <a:rPr lang="en-US" sz="2400" dirty="0">
                <a:solidFill>
                  <a:srgbClr val="F5B024"/>
                </a:solidFill>
                <a:latin typeface="Arial Black" pitchFamily="34" charset="0"/>
                <a:ea typeface="Arial Black" pitchFamily="34" charset="-122"/>
                <a:cs typeface="Arial Black" pitchFamily="34" charset="-120"/>
              </a:rPr>
              <a:t>34%</a:t>
            </a:r>
            <a:endParaRPr lang="en-US" sz="2400" dirty="0"/>
          </a:p>
        </p:txBody>
      </p:sp>
      <p:sp>
        <p:nvSpPr>
          <p:cNvPr id="34" name="Text 32"/>
          <p:cNvSpPr/>
          <p:nvPr/>
        </p:nvSpPr>
        <p:spPr>
          <a:xfrm>
            <a:off x="4526280" y="4206240"/>
            <a:ext cx="3200400" cy="411480"/>
          </a:xfrm>
          <a:prstGeom prst="rect">
            <a:avLst/>
          </a:prstGeom>
          <a:noFill/>
          <a:ln/>
        </p:spPr>
        <p:txBody>
          <a:bodyPr wrap="square" lIns="0" tIns="0" rIns="0" bIns="0" rtlCol="0" anchor="ctr"/>
          <a:lstStyle/>
          <a:p>
            <a:pPr indent="0" marL="0">
              <a:buNone/>
            </a:pPr>
            <a:r>
              <a:rPr lang="en-US" sz="1050" b="1" spc="300" kern="0" dirty="0">
                <a:solidFill>
                  <a:srgbClr val="ECF1F8"/>
                </a:solidFill>
                <a:latin typeface="Consolas" pitchFamily="34" charset="0"/>
                <a:ea typeface="Consolas" pitchFamily="34" charset="-122"/>
                <a:cs typeface="Consolas" pitchFamily="34" charset="-120"/>
              </a:rPr>
              <a:t>SAY UFOs ARE ALIEN CRAFT</a:t>
            </a:r>
            <a:endParaRPr lang="en-US" sz="1050" dirty="0"/>
          </a:p>
        </p:txBody>
      </p:sp>
      <p:sp>
        <p:nvSpPr>
          <p:cNvPr id="35" name="Text 33"/>
          <p:cNvSpPr/>
          <p:nvPr/>
        </p:nvSpPr>
        <p:spPr>
          <a:xfrm>
            <a:off x="4526280" y="4617720"/>
            <a:ext cx="3200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Pew Research, 2021</a:t>
            </a:r>
            <a:endParaRPr lang="en-US" sz="900" dirty="0"/>
          </a:p>
        </p:txBody>
      </p:sp>
      <p:sp>
        <p:nvSpPr>
          <p:cNvPr id="36" name="Shape 34"/>
          <p:cNvSpPr/>
          <p:nvPr/>
        </p:nvSpPr>
        <p:spPr>
          <a:xfrm>
            <a:off x="8065008" y="2194560"/>
            <a:ext cx="3566160" cy="2743200"/>
          </a:xfrm>
          <a:prstGeom prst="rect">
            <a:avLst/>
          </a:prstGeom>
          <a:solidFill>
            <a:srgbClr val="0F1624"/>
          </a:solidFill>
          <a:ln w="9525">
            <a:solidFill>
              <a:srgbClr val="2B3A55"/>
            </a:solidFill>
            <a:prstDash val="solid"/>
          </a:ln>
        </p:spPr>
      </p:sp>
      <p:sp>
        <p:nvSpPr>
          <p:cNvPr id="37" name="Shape 35"/>
          <p:cNvSpPr/>
          <p:nvPr/>
        </p:nvSpPr>
        <p:spPr>
          <a:xfrm>
            <a:off x="8065008" y="2194560"/>
            <a:ext cx="54864" cy="2743200"/>
          </a:xfrm>
          <a:prstGeom prst="rect">
            <a:avLst/>
          </a:prstGeom>
          <a:solidFill>
            <a:srgbClr val="E8434C"/>
          </a:solidFill>
          <a:ln w="12700">
            <a:solidFill>
              <a:srgbClr val="E8434C"/>
            </a:solidFill>
            <a:prstDash val="solid"/>
          </a:ln>
        </p:spPr>
      </p:sp>
      <p:sp>
        <p:nvSpPr>
          <p:cNvPr id="38" name="Shape 36"/>
          <p:cNvSpPr/>
          <p:nvPr/>
        </p:nvSpPr>
        <p:spPr>
          <a:xfrm>
            <a:off x="8979408" y="2834640"/>
            <a:ext cx="1280160" cy="1280160"/>
          </a:xfrm>
          <a:prstGeom prst="ellipse">
            <a:avLst/>
          </a:prstGeom>
          <a:solidFill>
            <a:srgbClr val="121B2E"/>
          </a:solidFill>
          <a:ln w="38100">
            <a:solidFill>
              <a:srgbClr val="E8434C"/>
            </a:solidFill>
            <a:prstDash val="solid"/>
          </a:ln>
        </p:spPr>
      </p:sp>
      <p:sp>
        <p:nvSpPr>
          <p:cNvPr id="39" name="Text 37"/>
          <p:cNvSpPr/>
          <p:nvPr/>
        </p:nvSpPr>
        <p:spPr>
          <a:xfrm>
            <a:off x="8979408" y="3154680"/>
            <a:ext cx="1280160" cy="640080"/>
          </a:xfrm>
          <a:prstGeom prst="rect">
            <a:avLst/>
          </a:prstGeom>
          <a:noFill/>
          <a:ln/>
        </p:spPr>
        <p:txBody>
          <a:bodyPr wrap="square" lIns="0" tIns="0" rIns="0" bIns="0" rtlCol="0" anchor="ctr"/>
          <a:lstStyle/>
          <a:p>
            <a:pPr algn="ctr" indent="0" marL="0">
              <a:buNone/>
            </a:pPr>
            <a:r>
              <a:rPr lang="en-US" sz="2400" dirty="0">
                <a:solidFill>
                  <a:srgbClr val="E8434C"/>
                </a:solidFill>
                <a:latin typeface="Arial Black" pitchFamily="34" charset="0"/>
                <a:ea typeface="Arial Black" pitchFamily="34" charset="-122"/>
                <a:cs typeface="Arial Black" pitchFamily="34" charset="-120"/>
              </a:rPr>
              <a:t>60%</a:t>
            </a:r>
            <a:endParaRPr lang="en-US" sz="2400" dirty="0"/>
          </a:p>
        </p:txBody>
      </p:sp>
      <p:sp>
        <p:nvSpPr>
          <p:cNvPr id="40" name="Text 38"/>
          <p:cNvSpPr/>
          <p:nvPr/>
        </p:nvSpPr>
        <p:spPr>
          <a:xfrm>
            <a:off x="8293608" y="4206240"/>
            <a:ext cx="3200400" cy="411480"/>
          </a:xfrm>
          <a:prstGeom prst="rect">
            <a:avLst/>
          </a:prstGeom>
          <a:noFill/>
          <a:ln/>
        </p:spPr>
        <p:txBody>
          <a:bodyPr wrap="square" lIns="0" tIns="0" rIns="0" bIns="0" rtlCol="0" anchor="ctr"/>
          <a:lstStyle/>
          <a:p>
            <a:pPr indent="0" marL="0">
              <a:buNone/>
            </a:pPr>
            <a:r>
              <a:rPr lang="en-US" sz="1050" b="1" spc="300" kern="0" dirty="0">
                <a:solidFill>
                  <a:srgbClr val="ECF1F8"/>
                </a:solidFill>
                <a:latin typeface="Consolas" pitchFamily="34" charset="0"/>
                <a:ea typeface="Consolas" pitchFamily="34" charset="-122"/>
                <a:cs typeface="Consolas" pitchFamily="34" charset="-120"/>
              </a:rPr>
              <a:t>SAY GOVERNMENT IS CONCEALING IT</a:t>
            </a:r>
            <a:endParaRPr lang="en-US" sz="1050" dirty="0"/>
          </a:p>
        </p:txBody>
      </p:sp>
      <p:sp>
        <p:nvSpPr>
          <p:cNvPr id="41" name="Text 39"/>
          <p:cNvSpPr/>
          <p:nvPr/>
        </p:nvSpPr>
        <p:spPr>
          <a:xfrm>
            <a:off x="8293608" y="4617720"/>
            <a:ext cx="3200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Gallup, 2024</a:t>
            </a:r>
            <a:endParaRPr lang="en-US" sz="900" dirty="0"/>
          </a:p>
        </p:txBody>
      </p:sp>
      <p:sp>
        <p:nvSpPr>
          <p:cNvPr id="42" name="Shape 40"/>
          <p:cNvSpPr/>
          <p:nvPr/>
        </p:nvSpPr>
        <p:spPr>
          <a:xfrm>
            <a:off x="548640" y="5029200"/>
            <a:ext cx="11064240" cy="1051560"/>
          </a:xfrm>
          <a:prstGeom prst="rect">
            <a:avLst/>
          </a:prstGeom>
          <a:solidFill>
            <a:srgbClr val="0F1624"/>
          </a:solidFill>
          <a:ln w="9525">
            <a:solidFill>
              <a:srgbClr val="2B3A55"/>
            </a:solidFill>
            <a:prstDash val="solid"/>
          </a:ln>
        </p:spPr>
      </p:sp>
      <p:sp>
        <p:nvSpPr>
          <p:cNvPr id="43" name="Shape 41"/>
          <p:cNvSpPr/>
          <p:nvPr/>
        </p:nvSpPr>
        <p:spPr>
          <a:xfrm>
            <a:off x="548640" y="5029200"/>
            <a:ext cx="54864" cy="1051560"/>
          </a:xfrm>
          <a:prstGeom prst="rect">
            <a:avLst/>
          </a:prstGeom>
          <a:solidFill>
            <a:srgbClr val="5DD39E"/>
          </a:solidFill>
          <a:ln w="12700">
            <a:solidFill>
              <a:srgbClr val="5DD39E"/>
            </a:solidFill>
            <a:prstDash val="solid"/>
          </a:ln>
        </p:spPr>
      </p:sp>
      <p:sp>
        <p:nvSpPr>
          <p:cNvPr id="44" name="Text 42"/>
          <p:cNvSpPr/>
          <p:nvPr/>
        </p:nvSpPr>
        <p:spPr>
          <a:xfrm>
            <a:off x="777240" y="5138928"/>
            <a:ext cx="1828800" cy="274320"/>
          </a:xfrm>
          <a:prstGeom prst="rect">
            <a:avLst/>
          </a:prstGeom>
          <a:noFill/>
          <a:ln/>
        </p:spPr>
        <p:txBody>
          <a:bodyPr wrap="square" lIns="0" tIns="0" rIns="0" bIns="0" rtlCol="0" anchor="ctr"/>
          <a:lstStyle/>
          <a:p>
            <a:pPr indent="0" marL="0">
              <a:buNone/>
            </a:pPr>
            <a:r>
              <a:rPr lang="en-US" sz="1000" b="1" spc="500" kern="0" dirty="0">
                <a:solidFill>
                  <a:srgbClr val="5DD39E"/>
                </a:solidFill>
                <a:latin typeface="Consolas" pitchFamily="34" charset="0"/>
                <a:ea typeface="Consolas" pitchFamily="34" charset="-122"/>
                <a:cs typeface="Consolas" pitchFamily="34" charset="-120"/>
              </a:rPr>
              <a:t>TREND</a:t>
            </a:r>
            <a:endParaRPr lang="en-US" sz="1000" dirty="0"/>
          </a:p>
        </p:txBody>
      </p:sp>
      <p:sp>
        <p:nvSpPr>
          <p:cNvPr id="45" name="Text 43"/>
          <p:cNvSpPr/>
          <p:nvPr/>
        </p:nvSpPr>
        <p:spPr>
          <a:xfrm>
            <a:off x="777240" y="5394960"/>
            <a:ext cx="10607040" cy="594360"/>
          </a:xfrm>
          <a:prstGeom prst="rect">
            <a:avLst/>
          </a:prstGeom>
          <a:noFill/>
          <a:ln/>
        </p:spPr>
        <p:txBody>
          <a:bodyPr wrap="square" lIns="0" tIns="0" rIns="0" bIns="0" rtlCol="0" anchor="ctr"/>
          <a:lstStyle/>
          <a:p>
            <a:pPr indent="0" marL="0">
              <a:buNone/>
            </a:pPr>
            <a:r>
              <a:rPr lang="en-US" sz="1200" i="1" dirty="0">
                <a:solidFill>
                  <a:srgbClr val="ECF1F8"/>
                </a:solidFill>
                <a:latin typeface="Calibri" pitchFamily="34" charset="0"/>
                <a:ea typeface="Calibri" pitchFamily="34" charset="-122"/>
                <a:cs typeface="Calibri" pitchFamily="34" charset="-120"/>
              </a:rPr>
              <a:t>Belief in extraterrestrial life has climbed steadily since the 1990s; trust in the government on the subject has not — the modern disclosure era has widened that gap rather than narrowed it.</a:t>
            </a:r>
            <a:endParaRPr lang="en-US" sz="1200" dirty="0"/>
          </a:p>
        </p:txBody>
      </p:sp>
      <p:sp>
        <p:nvSpPr>
          <p:cNvPr id="46" name="Text 44"/>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Sources: Pew Research Center (Jun 2021), Gallup (Aug 2024).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DOC-035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NUFORC · 1974 – 2024</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GEOGRAPHY &amp; TREND</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35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13</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Geography &amp; Trend  ·  Five Decades of Reports</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3566160" cy="1280160"/>
          </a:xfrm>
          <a:prstGeom prst="rect">
            <a:avLst/>
          </a:prstGeom>
          <a:solidFill>
            <a:srgbClr val="0F1624"/>
          </a:solidFill>
          <a:ln w="9525">
            <a:solidFill>
              <a:srgbClr val="2B3A55"/>
            </a:solidFill>
            <a:prstDash val="solid"/>
          </a:ln>
        </p:spPr>
      </p:sp>
      <p:sp>
        <p:nvSpPr>
          <p:cNvPr id="25" name="Shape 23"/>
          <p:cNvSpPr/>
          <p:nvPr/>
        </p:nvSpPr>
        <p:spPr>
          <a:xfrm>
            <a:off x="548640" y="2194560"/>
            <a:ext cx="54864" cy="1280160"/>
          </a:xfrm>
          <a:prstGeom prst="rect">
            <a:avLst/>
          </a:prstGeom>
          <a:solidFill>
            <a:srgbClr val="38D9F0"/>
          </a:solidFill>
          <a:ln w="12700">
            <a:solidFill>
              <a:srgbClr val="38D9F0"/>
            </a:solidFill>
            <a:prstDash val="solid"/>
          </a:ln>
        </p:spPr>
      </p:sp>
      <p:sp>
        <p:nvSpPr>
          <p:cNvPr id="26" name="Text 24"/>
          <p:cNvSpPr/>
          <p:nvPr/>
        </p:nvSpPr>
        <p:spPr>
          <a:xfrm>
            <a:off x="777240" y="2286000"/>
            <a:ext cx="3200400" cy="502920"/>
          </a:xfrm>
          <a:prstGeom prst="rect">
            <a:avLst/>
          </a:prstGeom>
          <a:noFill/>
          <a:ln/>
        </p:spPr>
        <p:txBody>
          <a:bodyPr wrap="square" lIns="0" tIns="0" rIns="0" bIns="0" rtlCol="0" anchor="ctr"/>
          <a:lstStyle/>
          <a:p>
            <a:pPr indent="0" marL="0">
              <a:buNone/>
            </a:pPr>
            <a:r>
              <a:rPr lang="en-US" sz="2800" dirty="0">
                <a:solidFill>
                  <a:srgbClr val="38D9F0"/>
                </a:solidFill>
                <a:latin typeface="Arial Black" pitchFamily="34" charset="0"/>
                <a:ea typeface="Arial Black" pitchFamily="34" charset="-122"/>
                <a:cs typeface="Arial Black" pitchFamily="34" charset="-120"/>
              </a:rPr>
              <a:t>170,000+</a:t>
            </a:r>
            <a:endParaRPr lang="en-US" sz="2800" dirty="0"/>
          </a:p>
        </p:txBody>
      </p:sp>
      <p:sp>
        <p:nvSpPr>
          <p:cNvPr id="27" name="Text 25"/>
          <p:cNvSpPr/>
          <p:nvPr/>
        </p:nvSpPr>
        <p:spPr>
          <a:xfrm>
            <a:off x="777240" y="2788920"/>
            <a:ext cx="3200400" cy="274320"/>
          </a:xfrm>
          <a:prstGeom prst="rect">
            <a:avLst/>
          </a:prstGeom>
          <a:noFill/>
          <a:ln/>
        </p:spPr>
        <p:txBody>
          <a:bodyPr wrap="square" lIns="0" tIns="0" rIns="0" bIns="0" rtlCol="0" anchor="ctr"/>
          <a:lstStyle/>
          <a:p>
            <a:pPr indent="0" marL="0">
              <a:buNone/>
            </a:pPr>
            <a:r>
              <a:rPr lang="en-US" sz="1000" b="1" spc="300" kern="0" dirty="0">
                <a:solidFill>
                  <a:srgbClr val="ECF1F8"/>
                </a:solidFill>
                <a:latin typeface="Consolas" pitchFamily="34" charset="0"/>
                <a:ea typeface="Consolas" pitchFamily="34" charset="-122"/>
                <a:cs typeface="Consolas" pitchFamily="34" charset="-120"/>
              </a:rPr>
              <a:t>U.S. REPORTS</a:t>
            </a:r>
            <a:endParaRPr lang="en-US" sz="1000" dirty="0"/>
          </a:p>
        </p:txBody>
      </p:sp>
      <p:sp>
        <p:nvSpPr>
          <p:cNvPr id="28" name="Text 26"/>
          <p:cNvSpPr/>
          <p:nvPr/>
        </p:nvSpPr>
        <p:spPr>
          <a:xfrm>
            <a:off x="777240" y="3063240"/>
            <a:ext cx="3200400" cy="274320"/>
          </a:xfrm>
          <a:prstGeom prst="rect">
            <a:avLst/>
          </a:prstGeom>
          <a:noFill/>
          <a:ln/>
        </p:spPr>
        <p:txBody>
          <a:bodyPr wrap="square" lIns="0" tIns="0" rIns="0" bIns="0" rtlCol="0" anchor="ctr"/>
          <a:lstStyle/>
          <a:p>
            <a:pPr indent="0" marL="0">
              <a:buNone/>
            </a:pPr>
            <a:r>
              <a:rPr lang="en-US" sz="900" spc="200" kern="0" dirty="0">
                <a:solidFill>
                  <a:srgbClr val="8A97AD"/>
                </a:solidFill>
                <a:latin typeface="Consolas" pitchFamily="34" charset="0"/>
                <a:ea typeface="Consolas" pitchFamily="34" charset="-122"/>
                <a:cs typeface="Consolas" pitchFamily="34" charset="-120"/>
              </a:rPr>
              <a:t>NUFORC database, all-time</a:t>
            </a:r>
            <a:endParaRPr lang="en-US" sz="900" dirty="0"/>
          </a:p>
        </p:txBody>
      </p:sp>
      <p:sp>
        <p:nvSpPr>
          <p:cNvPr id="29" name="Shape 27"/>
          <p:cNvSpPr/>
          <p:nvPr/>
        </p:nvSpPr>
        <p:spPr>
          <a:xfrm>
            <a:off x="4297680" y="2194560"/>
            <a:ext cx="3566160" cy="1280160"/>
          </a:xfrm>
          <a:prstGeom prst="rect">
            <a:avLst/>
          </a:prstGeom>
          <a:solidFill>
            <a:srgbClr val="0F1624"/>
          </a:solidFill>
          <a:ln w="9525">
            <a:solidFill>
              <a:srgbClr val="2B3A55"/>
            </a:solidFill>
            <a:prstDash val="solid"/>
          </a:ln>
        </p:spPr>
      </p:sp>
      <p:sp>
        <p:nvSpPr>
          <p:cNvPr id="30" name="Shape 28"/>
          <p:cNvSpPr/>
          <p:nvPr/>
        </p:nvSpPr>
        <p:spPr>
          <a:xfrm>
            <a:off x="4297680" y="2194560"/>
            <a:ext cx="54864" cy="1280160"/>
          </a:xfrm>
          <a:prstGeom prst="rect">
            <a:avLst/>
          </a:prstGeom>
          <a:solidFill>
            <a:srgbClr val="38D9F0"/>
          </a:solidFill>
          <a:ln w="12700">
            <a:solidFill>
              <a:srgbClr val="38D9F0"/>
            </a:solidFill>
            <a:prstDash val="solid"/>
          </a:ln>
        </p:spPr>
      </p:sp>
      <p:sp>
        <p:nvSpPr>
          <p:cNvPr id="31" name="Text 29"/>
          <p:cNvSpPr/>
          <p:nvPr/>
        </p:nvSpPr>
        <p:spPr>
          <a:xfrm>
            <a:off x="4526280" y="2286000"/>
            <a:ext cx="3200400" cy="502920"/>
          </a:xfrm>
          <a:prstGeom prst="rect">
            <a:avLst/>
          </a:prstGeom>
          <a:noFill/>
          <a:ln/>
        </p:spPr>
        <p:txBody>
          <a:bodyPr wrap="square" lIns="0" tIns="0" rIns="0" bIns="0" rtlCol="0" anchor="ctr"/>
          <a:lstStyle/>
          <a:p>
            <a:pPr indent="0" marL="0">
              <a:buNone/>
            </a:pPr>
            <a:r>
              <a:rPr lang="en-US" sz="2800" dirty="0">
                <a:solidFill>
                  <a:srgbClr val="38D9F0"/>
                </a:solidFill>
                <a:latin typeface="Arial Black" pitchFamily="34" charset="0"/>
                <a:ea typeface="Arial Black" pitchFamily="34" charset="-122"/>
                <a:cs typeface="Arial Black" pitchFamily="34" charset="-120"/>
              </a:rPr>
              <a:t>2014</a:t>
            </a:r>
            <a:endParaRPr lang="en-US" sz="2800" dirty="0"/>
          </a:p>
        </p:txBody>
      </p:sp>
      <p:sp>
        <p:nvSpPr>
          <p:cNvPr id="32" name="Text 30"/>
          <p:cNvSpPr/>
          <p:nvPr/>
        </p:nvSpPr>
        <p:spPr>
          <a:xfrm>
            <a:off x="4526280" y="2788920"/>
            <a:ext cx="3200400" cy="274320"/>
          </a:xfrm>
          <a:prstGeom prst="rect">
            <a:avLst/>
          </a:prstGeom>
          <a:noFill/>
          <a:ln/>
        </p:spPr>
        <p:txBody>
          <a:bodyPr wrap="square" lIns="0" tIns="0" rIns="0" bIns="0" rtlCol="0" anchor="ctr"/>
          <a:lstStyle/>
          <a:p>
            <a:pPr indent="0" marL="0">
              <a:buNone/>
            </a:pPr>
            <a:r>
              <a:rPr lang="en-US" sz="1000" b="1" spc="300" kern="0" dirty="0">
                <a:solidFill>
                  <a:srgbClr val="ECF1F8"/>
                </a:solidFill>
                <a:latin typeface="Consolas" pitchFamily="34" charset="0"/>
                <a:ea typeface="Consolas" pitchFamily="34" charset="-122"/>
                <a:cs typeface="Consolas" pitchFamily="34" charset="-120"/>
              </a:rPr>
              <a:t>PEAK YEAR</a:t>
            </a:r>
            <a:endParaRPr lang="en-US" sz="1000" dirty="0"/>
          </a:p>
        </p:txBody>
      </p:sp>
      <p:sp>
        <p:nvSpPr>
          <p:cNvPr id="33" name="Text 31"/>
          <p:cNvSpPr/>
          <p:nvPr/>
        </p:nvSpPr>
        <p:spPr>
          <a:xfrm>
            <a:off x="4526280" y="3063240"/>
            <a:ext cx="3200400" cy="274320"/>
          </a:xfrm>
          <a:prstGeom prst="rect">
            <a:avLst/>
          </a:prstGeom>
          <a:noFill/>
          <a:ln/>
        </p:spPr>
        <p:txBody>
          <a:bodyPr wrap="square" lIns="0" tIns="0" rIns="0" bIns="0" rtlCol="0" anchor="ctr"/>
          <a:lstStyle/>
          <a:p>
            <a:pPr indent="0" marL="0">
              <a:buNone/>
            </a:pPr>
            <a:r>
              <a:rPr lang="en-US" sz="900" spc="200" kern="0" dirty="0">
                <a:solidFill>
                  <a:srgbClr val="8A97AD"/>
                </a:solidFill>
                <a:latin typeface="Consolas" pitchFamily="34" charset="0"/>
                <a:ea typeface="Consolas" pitchFamily="34" charset="-122"/>
                <a:cs typeface="Consolas" pitchFamily="34" charset="-120"/>
              </a:rPr>
              <a:t>~8,000 U.S. reports</a:t>
            </a:r>
            <a:endParaRPr lang="en-US" sz="900" dirty="0"/>
          </a:p>
        </p:txBody>
      </p:sp>
      <p:sp>
        <p:nvSpPr>
          <p:cNvPr id="34" name="Shape 32"/>
          <p:cNvSpPr/>
          <p:nvPr/>
        </p:nvSpPr>
        <p:spPr>
          <a:xfrm>
            <a:off x="8046720" y="2194560"/>
            <a:ext cx="3566160" cy="1280160"/>
          </a:xfrm>
          <a:prstGeom prst="rect">
            <a:avLst/>
          </a:prstGeom>
          <a:solidFill>
            <a:srgbClr val="0F1624"/>
          </a:solidFill>
          <a:ln w="9525">
            <a:solidFill>
              <a:srgbClr val="2B3A55"/>
            </a:solidFill>
            <a:prstDash val="solid"/>
          </a:ln>
        </p:spPr>
      </p:sp>
      <p:sp>
        <p:nvSpPr>
          <p:cNvPr id="35" name="Shape 33"/>
          <p:cNvSpPr/>
          <p:nvPr/>
        </p:nvSpPr>
        <p:spPr>
          <a:xfrm>
            <a:off x="8046720" y="2194560"/>
            <a:ext cx="54864" cy="1280160"/>
          </a:xfrm>
          <a:prstGeom prst="rect">
            <a:avLst/>
          </a:prstGeom>
          <a:solidFill>
            <a:srgbClr val="38D9F0"/>
          </a:solidFill>
          <a:ln w="12700">
            <a:solidFill>
              <a:srgbClr val="38D9F0"/>
            </a:solidFill>
            <a:prstDash val="solid"/>
          </a:ln>
        </p:spPr>
      </p:sp>
      <p:sp>
        <p:nvSpPr>
          <p:cNvPr id="36" name="Text 34"/>
          <p:cNvSpPr/>
          <p:nvPr/>
        </p:nvSpPr>
        <p:spPr>
          <a:xfrm>
            <a:off x="8275320" y="2286000"/>
            <a:ext cx="3200400" cy="502920"/>
          </a:xfrm>
          <a:prstGeom prst="rect">
            <a:avLst/>
          </a:prstGeom>
          <a:noFill/>
          <a:ln/>
        </p:spPr>
        <p:txBody>
          <a:bodyPr wrap="square" lIns="0" tIns="0" rIns="0" bIns="0" rtlCol="0" anchor="ctr"/>
          <a:lstStyle/>
          <a:p>
            <a:pPr indent="0" marL="0">
              <a:buNone/>
            </a:pPr>
            <a:r>
              <a:rPr lang="en-US" sz="2800" dirty="0">
                <a:solidFill>
                  <a:srgbClr val="38D9F0"/>
                </a:solidFill>
                <a:latin typeface="Arial Black" pitchFamily="34" charset="0"/>
                <a:ea typeface="Arial Black" pitchFamily="34" charset="-122"/>
                <a:cs typeface="Arial Black" pitchFamily="34" charset="-120"/>
              </a:rPr>
              <a:t>NEVADA</a:t>
            </a:r>
            <a:endParaRPr lang="en-US" sz="2800" dirty="0"/>
          </a:p>
        </p:txBody>
      </p:sp>
      <p:sp>
        <p:nvSpPr>
          <p:cNvPr id="37" name="Text 35"/>
          <p:cNvSpPr/>
          <p:nvPr/>
        </p:nvSpPr>
        <p:spPr>
          <a:xfrm>
            <a:off x="8275320" y="2788920"/>
            <a:ext cx="3200400" cy="274320"/>
          </a:xfrm>
          <a:prstGeom prst="rect">
            <a:avLst/>
          </a:prstGeom>
          <a:noFill/>
          <a:ln/>
        </p:spPr>
        <p:txBody>
          <a:bodyPr wrap="square" lIns="0" tIns="0" rIns="0" bIns="0" rtlCol="0" anchor="ctr"/>
          <a:lstStyle/>
          <a:p>
            <a:pPr indent="0" marL="0">
              <a:buNone/>
            </a:pPr>
            <a:r>
              <a:rPr lang="en-US" sz="1000" b="1" spc="300" kern="0" dirty="0">
                <a:solidFill>
                  <a:srgbClr val="ECF1F8"/>
                </a:solidFill>
                <a:latin typeface="Consolas" pitchFamily="34" charset="0"/>
                <a:ea typeface="Consolas" pitchFamily="34" charset="-122"/>
                <a:cs typeface="Consolas" pitchFamily="34" charset="-120"/>
              </a:rPr>
              <a:t>HIGHEST PER CAPITA</a:t>
            </a:r>
            <a:endParaRPr lang="en-US" sz="1000" dirty="0"/>
          </a:p>
        </p:txBody>
      </p:sp>
      <p:sp>
        <p:nvSpPr>
          <p:cNvPr id="38" name="Text 36"/>
          <p:cNvSpPr/>
          <p:nvPr/>
        </p:nvSpPr>
        <p:spPr>
          <a:xfrm>
            <a:off x="8275320" y="3063240"/>
            <a:ext cx="3200400" cy="274320"/>
          </a:xfrm>
          <a:prstGeom prst="rect">
            <a:avLst/>
          </a:prstGeom>
          <a:noFill/>
          <a:ln/>
        </p:spPr>
        <p:txBody>
          <a:bodyPr wrap="square" lIns="0" tIns="0" rIns="0" bIns="0" rtlCol="0" anchor="ctr"/>
          <a:lstStyle/>
          <a:p>
            <a:pPr indent="0" marL="0">
              <a:buNone/>
            </a:pPr>
            <a:r>
              <a:rPr lang="en-US" sz="900" spc="200" kern="0" dirty="0">
                <a:solidFill>
                  <a:srgbClr val="8A97AD"/>
                </a:solidFill>
                <a:latin typeface="Consolas" pitchFamily="34" charset="0"/>
                <a:ea typeface="Consolas" pitchFamily="34" charset="-122"/>
                <a:cs typeface="Consolas" pitchFamily="34" charset="-120"/>
              </a:rPr>
              <a:t>10.7 per 100k residents</a:t>
            </a:r>
            <a:endParaRPr lang="en-US" sz="900" dirty="0"/>
          </a:p>
        </p:txBody>
      </p:sp>
      <p:sp>
        <p:nvSpPr>
          <p:cNvPr id="39" name="Shape 37"/>
          <p:cNvSpPr/>
          <p:nvPr/>
        </p:nvSpPr>
        <p:spPr>
          <a:xfrm>
            <a:off x="548640" y="3611880"/>
            <a:ext cx="11064240" cy="2468880"/>
          </a:xfrm>
          <a:prstGeom prst="rect">
            <a:avLst/>
          </a:prstGeom>
          <a:solidFill>
            <a:srgbClr val="0F1624"/>
          </a:solidFill>
          <a:ln w="9525">
            <a:solidFill>
              <a:srgbClr val="2B3A55"/>
            </a:solidFill>
            <a:prstDash val="solid"/>
          </a:ln>
        </p:spPr>
      </p:sp>
      <p:sp>
        <p:nvSpPr>
          <p:cNvPr id="40" name="Shape 38"/>
          <p:cNvSpPr/>
          <p:nvPr/>
        </p:nvSpPr>
        <p:spPr>
          <a:xfrm>
            <a:off x="548640" y="3611880"/>
            <a:ext cx="54864" cy="2468880"/>
          </a:xfrm>
          <a:prstGeom prst="rect">
            <a:avLst/>
          </a:prstGeom>
          <a:solidFill>
            <a:srgbClr val="F5B024"/>
          </a:solidFill>
          <a:ln w="12700">
            <a:solidFill>
              <a:srgbClr val="F5B024"/>
            </a:solidFill>
            <a:prstDash val="solid"/>
          </a:ln>
        </p:spPr>
      </p:sp>
      <p:sp>
        <p:nvSpPr>
          <p:cNvPr id="41" name="Text 39"/>
          <p:cNvSpPr/>
          <p:nvPr/>
        </p:nvSpPr>
        <p:spPr>
          <a:xfrm>
            <a:off x="777240" y="3749040"/>
            <a:ext cx="10607040" cy="274320"/>
          </a:xfrm>
          <a:prstGeom prst="rect">
            <a:avLst/>
          </a:prstGeom>
          <a:noFill/>
          <a:ln/>
        </p:spPr>
        <p:txBody>
          <a:bodyPr wrap="square" lIns="0" tIns="0" rIns="0" bIns="0" rtlCol="0" anchor="ctr"/>
          <a:lstStyle/>
          <a:p>
            <a:pPr indent="0" marL="0">
              <a:buNone/>
            </a:pPr>
            <a:r>
              <a:rPr lang="en-US" sz="1000" b="1" spc="500" kern="0" dirty="0">
                <a:solidFill>
                  <a:srgbClr val="F5B024"/>
                </a:solidFill>
                <a:latin typeface="Consolas" pitchFamily="34" charset="0"/>
                <a:ea typeface="Consolas" pitchFamily="34" charset="-122"/>
                <a:cs typeface="Consolas" pitchFamily="34" charset="-120"/>
              </a:rPr>
              <a:t>U.S. UFO REPORTS BY DECADE  ·  NUFORC</a:t>
            </a:r>
            <a:endParaRPr lang="en-US" sz="1000" dirty="0"/>
          </a:p>
        </p:txBody>
      </p:sp>
      <p:sp>
        <p:nvSpPr>
          <p:cNvPr id="42" name="Shape 40"/>
          <p:cNvSpPr/>
          <p:nvPr/>
        </p:nvSpPr>
        <p:spPr>
          <a:xfrm>
            <a:off x="960120" y="5205845"/>
            <a:ext cx="1371600" cy="51955"/>
          </a:xfrm>
          <a:prstGeom prst="rect">
            <a:avLst/>
          </a:prstGeom>
          <a:solidFill>
            <a:srgbClr val="F5B024"/>
          </a:solidFill>
          <a:ln w="12700">
            <a:solidFill>
              <a:srgbClr val="F5B024"/>
            </a:solidFill>
            <a:prstDash val="solid"/>
          </a:ln>
        </p:spPr>
      </p:sp>
      <p:sp>
        <p:nvSpPr>
          <p:cNvPr id="43" name="Text 41"/>
          <p:cNvSpPr/>
          <p:nvPr/>
        </p:nvSpPr>
        <p:spPr>
          <a:xfrm>
            <a:off x="822960" y="4885805"/>
            <a:ext cx="1645920" cy="274320"/>
          </a:xfrm>
          <a:prstGeom prst="rect">
            <a:avLst/>
          </a:prstGeom>
          <a:noFill/>
          <a:ln/>
        </p:spPr>
        <p:txBody>
          <a:bodyPr wrap="square" lIns="0" tIns="0" rIns="0" bIns="0" rtlCol="0" anchor="ctr"/>
          <a:lstStyle/>
          <a:p>
            <a:pPr algn="ctr" indent="0" marL="0">
              <a:buNone/>
            </a:pPr>
            <a:r>
              <a:rPr lang="en-US" sz="900" b="1" dirty="0">
                <a:solidFill>
                  <a:srgbClr val="8A97AD"/>
                </a:solidFill>
                <a:latin typeface="Consolas" pitchFamily="34" charset="0"/>
                <a:ea typeface="Consolas" pitchFamily="34" charset="-122"/>
                <a:cs typeface="Consolas" pitchFamily="34" charset="-120"/>
              </a:rPr>
              <a:t>3,500</a:t>
            </a:r>
            <a:endParaRPr lang="en-US" sz="900" dirty="0"/>
          </a:p>
        </p:txBody>
      </p:sp>
      <p:sp>
        <p:nvSpPr>
          <p:cNvPr id="44" name="Text 42"/>
          <p:cNvSpPr/>
          <p:nvPr/>
        </p:nvSpPr>
        <p:spPr>
          <a:xfrm>
            <a:off x="822960" y="5349240"/>
            <a:ext cx="1645920" cy="274320"/>
          </a:xfrm>
          <a:prstGeom prst="rect">
            <a:avLst/>
          </a:prstGeom>
          <a:noFill/>
          <a:ln/>
        </p:spPr>
        <p:txBody>
          <a:bodyPr wrap="square" lIns="0" tIns="0" rIns="0" bIns="0" rtlCol="0" anchor="ctr"/>
          <a:lstStyle/>
          <a:p>
            <a:pPr algn="ctr" indent="0" marL="0">
              <a:buNone/>
            </a:pPr>
            <a:r>
              <a:rPr lang="en-US" sz="1000" b="1" spc="200" kern="0" dirty="0">
                <a:solidFill>
                  <a:srgbClr val="ECF1F8"/>
                </a:solidFill>
                <a:latin typeface="Consolas" pitchFamily="34" charset="0"/>
                <a:ea typeface="Consolas" pitchFamily="34" charset="-122"/>
                <a:cs typeface="Consolas" pitchFamily="34" charset="-120"/>
              </a:rPr>
              <a:t>'70s</a:t>
            </a:r>
            <a:endParaRPr lang="en-US" sz="1000" dirty="0"/>
          </a:p>
        </p:txBody>
      </p:sp>
      <p:sp>
        <p:nvSpPr>
          <p:cNvPr id="45" name="Shape 43"/>
          <p:cNvSpPr/>
          <p:nvPr/>
        </p:nvSpPr>
        <p:spPr>
          <a:xfrm>
            <a:off x="2651760" y="5150922"/>
            <a:ext cx="1371600" cy="106878"/>
          </a:xfrm>
          <a:prstGeom prst="rect">
            <a:avLst/>
          </a:prstGeom>
          <a:solidFill>
            <a:srgbClr val="F5B024"/>
          </a:solidFill>
          <a:ln w="12700">
            <a:solidFill>
              <a:srgbClr val="F5B024"/>
            </a:solidFill>
            <a:prstDash val="solid"/>
          </a:ln>
        </p:spPr>
      </p:sp>
      <p:sp>
        <p:nvSpPr>
          <p:cNvPr id="46" name="Text 44"/>
          <p:cNvSpPr/>
          <p:nvPr/>
        </p:nvSpPr>
        <p:spPr>
          <a:xfrm>
            <a:off x="2514600" y="4830882"/>
            <a:ext cx="1645920" cy="274320"/>
          </a:xfrm>
          <a:prstGeom prst="rect">
            <a:avLst/>
          </a:prstGeom>
          <a:noFill/>
          <a:ln/>
        </p:spPr>
        <p:txBody>
          <a:bodyPr wrap="square" lIns="0" tIns="0" rIns="0" bIns="0" rtlCol="0" anchor="ctr"/>
          <a:lstStyle/>
          <a:p>
            <a:pPr algn="ctr" indent="0" marL="0">
              <a:buNone/>
            </a:pPr>
            <a:r>
              <a:rPr lang="en-US" sz="900" b="1" dirty="0">
                <a:solidFill>
                  <a:srgbClr val="8A97AD"/>
                </a:solidFill>
                <a:latin typeface="Consolas" pitchFamily="34" charset="0"/>
                <a:ea typeface="Consolas" pitchFamily="34" charset="-122"/>
                <a:cs typeface="Consolas" pitchFamily="34" charset="-120"/>
              </a:rPr>
              <a:t>7,200</a:t>
            </a:r>
            <a:endParaRPr lang="en-US" sz="900" dirty="0"/>
          </a:p>
        </p:txBody>
      </p:sp>
      <p:sp>
        <p:nvSpPr>
          <p:cNvPr id="47" name="Text 45"/>
          <p:cNvSpPr/>
          <p:nvPr/>
        </p:nvSpPr>
        <p:spPr>
          <a:xfrm>
            <a:off x="2514600" y="5349240"/>
            <a:ext cx="1645920" cy="274320"/>
          </a:xfrm>
          <a:prstGeom prst="rect">
            <a:avLst/>
          </a:prstGeom>
          <a:noFill/>
          <a:ln/>
        </p:spPr>
        <p:txBody>
          <a:bodyPr wrap="square" lIns="0" tIns="0" rIns="0" bIns="0" rtlCol="0" anchor="ctr"/>
          <a:lstStyle/>
          <a:p>
            <a:pPr algn="ctr" indent="0" marL="0">
              <a:buNone/>
            </a:pPr>
            <a:r>
              <a:rPr lang="en-US" sz="1000" b="1" spc="200" kern="0" dirty="0">
                <a:solidFill>
                  <a:srgbClr val="ECF1F8"/>
                </a:solidFill>
                <a:latin typeface="Consolas" pitchFamily="34" charset="0"/>
                <a:ea typeface="Consolas" pitchFamily="34" charset="-122"/>
                <a:cs typeface="Consolas" pitchFamily="34" charset="-120"/>
              </a:rPr>
              <a:t>'80s</a:t>
            </a:r>
            <a:endParaRPr lang="en-US" sz="1000" dirty="0"/>
          </a:p>
        </p:txBody>
      </p:sp>
      <p:sp>
        <p:nvSpPr>
          <p:cNvPr id="48" name="Shape 46"/>
          <p:cNvSpPr/>
          <p:nvPr/>
        </p:nvSpPr>
        <p:spPr>
          <a:xfrm>
            <a:off x="4343400" y="4931229"/>
            <a:ext cx="1371600" cy="326571"/>
          </a:xfrm>
          <a:prstGeom prst="rect">
            <a:avLst/>
          </a:prstGeom>
          <a:solidFill>
            <a:srgbClr val="F5B024"/>
          </a:solidFill>
          <a:ln w="12700">
            <a:solidFill>
              <a:srgbClr val="F5B024"/>
            </a:solidFill>
            <a:prstDash val="solid"/>
          </a:ln>
        </p:spPr>
      </p:sp>
      <p:sp>
        <p:nvSpPr>
          <p:cNvPr id="49" name="Text 47"/>
          <p:cNvSpPr/>
          <p:nvPr/>
        </p:nvSpPr>
        <p:spPr>
          <a:xfrm>
            <a:off x="4206240" y="4611189"/>
            <a:ext cx="1645920" cy="274320"/>
          </a:xfrm>
          <a:prstGeom prst="rect">
            <a:avLst/>
          </a:prstGeom>
          <a:noFill/>
          <a:ln/>
        </p:spPr>
        <p:txBody>
          <a:bodyPr wrap="square" lIns="0" tIns="0" rIns="0" bIns="0" rtlCol="0" anchor="ctr"/>
          <a:lstStyle/>
          <a:p>
            <a:pPr algn="ctr" indent="0" marL="0">
              <a:buNone/>
            </a:pPr>
            <a:r>
              <a:rPr lang="en-US" sz="900" b="1" dirty="0">
                <a:solidFill>
                  <a:srgbClr val="8A97AD"/>
                </a:solidFill>
                <a:latin typeface="Consolas" pitchFamily="34" charset="0"/>
                <a:ea typeface="Consolas" pitchFamily="34" charset="-122"/>
                <a:cs typeface="Consolas" pitchFamily="34" charset="-120"/>
              </a:rPr>
              <a:t>22,000</a:t>
            </a:r>
            <a:endParaRPr lang="en-US" sz="900" dirty="0"/>
          </a:p>
        </p:txBody>
      </p:sp>
      <p:sp>
        <p:nvSpPr>
          <p:cNvPr id="50" name="Text 48"/>
          <p:cNvSpPr/>
          <p:nvPr/>
        </p:nvSpPr>
        <p:spPr>
          <a:xfrm>
            <a:off x="4206240" y="5349240"/>
            <a:ext cx="1645920" cy="274320"/>
          </a:xfrm>
          <a:prstGeom prst="rect">
            <a:avLst/>
          </a:prstGeom>
          <a:noFill/>
          <a:ln/>
        </p:spPr>
        <p:txBody>
          <a:bodyPr wrap="square" lIns="0" tIns="0" rIns="0" bIns="0" rtlCol="0" anchor="ctr"/>
          <a:lstStyle/>
          <a:p>
            <a:pPr algn="ctr" indent="0" marL="0">
              <a:buNone/>
            </a:pPr>
            <a:r>
              <a:rPr lang="en-US" sz="1000" b="1" spc="200" kern="0" dirty="0">
                <a:solidFill>
                  <a:srgbClr val="ECF1F8"/>
                </a:solidFill>
                <a:latin typeface="Consolas" pitchFamily="34" charset="0"/>
                <a:ea typeface="Consolas" pitchFamily="34" charset="-122"/>
                <a:cs typeface="Consolas" pitchFamily="34" charset="-120"/>
              </a:rPr>
              <a:t>'90s</a:t>
            </a:r>
            <a:endParaRPr lang="en-US" sz="1000" dirty="0"/>
          </a:p>
        </p:txBody>
      </p:sp>
      <p:sp>
        <p:nvSpPr>
          <p:cNvPr id="51" name="Shape 49"/>
          <p:cNvSpPr/>
          <p:nvPr/>
        </p:nvSpPr>
        <p:spPr>
          <a:xfrm>
            <a:off x="6035040" y="4686300"/>
            <a:ext cx="1371600" cy="571500"/>
          </a:xfrm>
          <a:prstGeom prst="rect">
            <a:avLst/>
          </a:prstGeom>
          <a:solidFill>
            <a:srgbClr val="F5B024"/>
          </a:solidFill>
          <a:ln w="12700">
            <a:solidFill>
              <a:srgbClr val="F5B024"/>
            </a:solidFill>
            <a:prstDash val="solid"/>
          </a:ln>
        </p:spPr>
      </p:sp>
      <p:sp>
        <p:nvSpPr>
          <p:cNvPr id="52" name="Text 50"/>
          <p:cNvSpPr/>
          <p:nvPr/>
        </p:nvSpPr>
        <p:spPr>
          <a:xfrm>
            <a:off x="5897880" y="4366260"/>
            <a:ext cx="1645920" cy="274320"/>
          </a:xfrm>
          <a:prstGeom prst="rect">
            <a:avLst/>
          </a:prstGeom>
          <a:noFill/>
          <a:ln/>
        </p:spPr>
        <p:txBody>
          <a:bodyPr wrap="square" lIns="0" tIns="0" rIns="0" bIns="0" rtlCol="0" anchor="ctr"/>
          <a:lstStyle/>
          <a:p>
            <a:pPr algn="ctr" indent="0" marL="0">
              <a:buNone/>
            </a:pPr>
            <a:r>
              <a:rPr lang="en-US" sz="900" b="1" dirty="0">
                <a:solidFill>
                  <a:srgbClr val="8A97AD"/>
                </a:solidFill>
                <a:latin typeface="Consolas" pitchFamily="34" charset="0"/>
                <a:ea typeface="Consolas" pitchFamily="34" charset="-122"/>
                <a:cs typeface="Consolas" pitchFamily="34" charset="-120"/>
              </a:rPr>
              <a:t>38,500</a:t>
            </a:r>
            <a:endParaRPr lang="en-US" sz="900" dirty="0"/>
          </a:p>
        </p:txBody>
      </p:sp>
      <p:sp>
        <p:nvSpPr>
          <p:cNvPr id="53" name="Text 51"/>
          <p:cNvSpPr/>
          <p:nvPr/>
        </p:nvSpPr>
        <p:spPr>
          <a:xfrm>
            <a:off x="5897880" y="5349240"/>
            <a:ext cx="1645920" cy="274320"/>
          </a:xfrm>
          <a:prstGeom prst="rect">
            <a:avLst/>
          </a:prstGeom>
          <a:noFill/>
          <a:ln/>
        </p:spPr>
        <p:txBody>
          <a:bodyPr wrap="square" lIns="0" tIns="0" rIns="0" bIns="0" rtlCol="0" anchor="ctr"/>
          <a:lstStyle/>
          <a:p>
            <a:pPr algn="ctr" indent="0" marL="0">
              <a:buNone/>
            </a:pPr>
            <a:r>
              <a:rPr lang="en-US" sz="1000" b="1" spc="200" kern="0" dirty="0">
                <a:solidFill>
                  <a:srgbClr val="ECF1F8"/>
                </a:solidFill>
                <a:latin typeface="Consolas" pitchFamily="34" charset="0"/>
                <a:ea typeface="Consolas" pitchFamily="34" charset="-122"/>
                <a:cs typeface="Consolas" pitchFamily="34" charset="-120"/>
              </a:rPr>
              <a:t>'00s</a:t>
            </a:r>
            <a:endParaRPr lang="en-US" sz="1000" dirty="0"/>
          </a:p>
        </p:txBody>
      </p:sp>
      <p:sp>
        <p:nvSpPr>
          <p:cNvPr id="54" name="Shape 52"/>
          <p:cNvSpPr/>
          <p:nvPr/>
        </p:nvSpPr>
        <p:spPr>
          <a:xfrm>
            <a:off x="7726680" y="4114800"/>
            <a:ext cx="1371600" cy="1143000"/>
          </a:xfrm>
          <a:prstGeom prst="rect">
            <a:avLst/>
          </a:prstGeom>
          <a:solidFill>
            <a:srgbClr val="F5B024"/>
          </a:solidFill>
          <a:ln w="12700">
            <a:solidFill>
              <a:srgbClr val="F5B024"/>
            </a:solidFill>
            <a:prstDash val="solid"/>
          </a:ln>
        </p:spPr>
      </p:sp>
      <p:sp>
        <p:nvSpPr>
          <p:cNvPr id="55" name="Text 53"/>
          <p:cNvSpPr/>
          <p:nvPr/>
        </p:nvSpPr>
        <p:spPr>
          <a:xfrm>
            <a:off x="7589520" y="3794760"/>
            <a:ext cx="1645920" cy="274320"/>
          </a:xfrm>
          <a:prstGeom prst="rect">
            <a:avLst/>
          </a:prstGeom>
          <a:noFill/>
          <a:ln/>
        </p:spPr>
        <p:txBody>
          <a:bodyPr wrap="square" lIns="0" tIns="0" rIns="0" bIns="0" rtlCol="0" anchor="ctr"/>
          <a:lstStyle/>
          <a:p>
            <a:pPr algn="ctr" indent="0" marL="0">
              <a:buNone/>
            </a:pPr>
            <a:r>
              <a:rPr lang="en-US" sz="900" b="1" dirty="0">
                <a:solidFill>
                  <a:srgbClr val="8A97AD"/>
                </a:solidFill>
                <a:latin typeface="Consolas" pitchFamily="34" charset="0"/>
                <a:ea typeface="Consolas" pitchFamily="34" charset="-122"/>
                <a:cs typeface="Consolas" pitchFamily="34" charset="-120"/>
              </a:rPr>
              <a:t>77,000</a:t>
            </a:r>
            <a:endParaRPr lang="en-US" sz="900" dirty="0"/>
          </a:p>
        </p:txBody>
      </p:sp>
      <p:sp>
        <p:nvSpPr>
          <p:cNvPr id="56" name="Text 54"/>
          <p:cNvSpPr/>
          <p:nvPr/>
        </p:nvSpPr>
        <p:spPr>
          <a:xfrm>
            <a:off x="7589520" y="5349240"/>
            <a:ext cx="1645920" cy="274320"/>
          </a:xfrm>
          <a:prstGeom prst="rect">
            <a:avLst/>
          </a:prstGeom>
          <a:noFill/>
          <a:ln/>
        </p:spPr>
        <p:txBody>
          <a:bodyPr wrap="square" lIns="0" tIns="0" rIns="0" bIns="0" rtlCol="0" anchor="ctr"/>
          <a:lstStyle/>
          <a:p>
            <a:pPr algn="ctr" indent="0" marL="0">
              <a:buNone/>
            </a:pPr>
            <a:r>
              <a:rPr lang="en-US" sz="1000" b="1" spc="200" kern="0" dirty="0">
                <a:solidFill>
                  <a:srgbClr val="ECF1F8"/>
                </a:solidFill>
                <a:latin typeface="Consolas" pitchFamily="34" charset="0"/>
                <a:ea typeface="Consolas" pitchFamily="34" charset="-122"/>
                <a:cs typeface="Consolas" pitchFamily="34" charset="-120"/>
              </a:rPr>
              <a:t>'10s</a:t>
            </a:r>
            <a:endParaRPr lang="en-US" sz="1000" dirty="0"/>
          </a:p>
        </p:txBody>
      </p:sp>
      <p:sp>
        <p:nvSpPr>
          <p:cNvPr id="57" name="Shape 55"/>
          <p:cNvSpPr/>
          <p:nvPr/>
        </p:nvSpPr>
        <p:spPr>
          <a:xfrm>
            <a:off x="9418320" y="4827319"/>
            <a:ext cx="1371600" cy="430481"/>
          </a:xfrm>
          <a:prstGeom prst="rect">
            <a:avLst/>
          </a:prstGeom>
          <a:solidFill>
            <a:srgbClr val="F5B024"/>
          </a:solidFill>
          <a:ln w="12700">
            <a:solidFill>
              <a:srgbClr val="F5B024"/>
            </a:solidFill>
            <a:prstDash val="solid"/>
          </a:ln>
        </p:spPr>
      </p:sp>
      <p:sp>
        <p:nvSpPr>
          <p:cNvPr id="58" name="Text 56"/>
          <p:cNvSpPr/>
          <p:nvPr/>
        </p:nvSpPr>
        <p:spPr>
          <a:xfrm>
            <a:off x="9281160" y="4507279"/>
            <a:ext cx="1645920" cy="274320"/>
          </a:xfrm>
          <a:prstGeom prst="rect">
            <a:avLst/>
          </a:prstGeom>
          <a:noFill/>
          <a:ln/>
        </p:spPr>
        <p:txBody>
          <a:bodyPr wrap="square" lIns="0" tIns="0" rIns="0" bIns="0" rtlCol="0" anchor="ctr"/>
          <a:lstStyle/>
          <a:p>
            <a:pPr algn="ctr" indent="0" marL="0">
              <a:buNone/>
            </a:pPr>
            <a:r>
              <a:rPr lang="en-US" sz="900" b="1" dirty="0">
                <a:solidFill>
                  <a:srgbClr val="8A97AD"/>
                </a:solidFill>
                <a:latin typeface="Consolas" pitchFamily="34" charset="0"/>
                <a:ea typeface="Consolas" pitchFamily="34" charset="-122"/>
                <a:cs typeface="Consolas" pitchFamily="34" charset="-120"/>
              </a:rPr>
              <a:t>29,000</a:t>
            </a:r>
            <a:endParaRPr lang="en-US" sz="900" dirty="0"/>
          </a:p>
        </p:txBody>
      </p:sp>
      <p:sp>
        <p:nvSpPr>
          <p:cNvPr id="59" name="Text 57"/>
          <p:cNvSpPr/>
          <p:nvPr/>
        </p:nvSpPr>
        <p:spPr>
          <a:xfrm>
            <a:off x="9281160" y="5349240"/>
            <a:ext cx="1645920" cy="274320"/>
          </a:xfrm>
          <a:prstGeom prst="rect">
            <a:avLst/>
          </a:prstGeom>
          <a:noFill/>
          <a:ln/>
        </p:spPr>
        <p:txBody>
          <a:bodyPr wrap="square" lIns="0" tIns="0" rIns="0" bIns="0" rtlCol="0" anchor="ctr"/>
          <a:lstStyle/>
          <a:p>
            <a:pPr algn="ctr" indent="0" marL="0">
              <a:buNone/>
            </a:pPr>
            <a:r>
              <a:rPr lang="en-US" sz="1000" b="1" spc="200" kern="0" dirty="0">
                <a:solidFill>
                  <a:srgbClr val="ECF1F8"/>
                </a:solidFill>
                <a:latin typeface="Consolas" pitchFamily="34" charset="0"/>
                <a:ea typeface="Consolas" pitchFamily="34" charset="-122"/>
                <a:cs typeface="Consolas" pitchFamily="34" charset="-120"/>
              </a:rPr>
              <a:t>'20s*</a:t>
            </a:r>
            <a:endParaRPr lang="en-US" sz="1000" dirty="0"/>
          </a:p>
        </p:txBody>
      </p:sp>
      <p:sp>
        <p:nvSpPr>
          <p:cNvPr id="60" name="Text 58"/>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NUFORC cumulative totals. '20s* includes data through mid-2024.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DOC-036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COUNTERPOINT · ANALYSIS</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THE SKEPTICAL LENS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36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14</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The Skeptical Lens  ·  Mundane Explanations</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5440680" cy="1828800"/>
          </a:xfrm>
          <a:prstGeom prst="rect">
            <a:avLst/>
          </a:prstGeom>
          <a:solidFill>
            <a:srgbClr val="0F1624"/>
          </a:solidFill>
          <a:ln w="9525">
            <a:solidFill>
              <a:srgbClr val="2B3A55"/>
            </a:solidFill>
            <a:prstDash val="solid"/>
          </a:ln>
        </p:spPr>
      </p:sp>
      <p:sp>
        <p:nvSpPr>
          <p:cNvPr id="25" name="Shape 23"/>
          <p:cNvSpPr/>
          <p:nvPr/>
        </p:nvSpPr>
        <p:spPr>
          <a:xfrm>
            <a:off x="548640" y="2194560"/>
            <a:ext cx="54864" cy="1828800"/>
          </a:xfrm>
          <a:prstGeom prst="rect">
            <a:avLst/>
          </a:prstGeom>
          <a:solidFill>
            <a:srgbClr val="38D9F0"/>
          </a:solidFill>
          <a:ln w="12700">
            <a:solidFill>
              <a:srgbClr val="38D9F0"/>
            </a:solidFill>
            <a:prstDash val="solid"/>
          </a:ln>
        </p:spPr>
      </p:sp>
      <p:sp>
        <p:nvSpPr>
          <p:cNvPr id="26" name="Text 24"/>
          <p:cNvSpPr/>
          <p:nvPr/>
        </p:nvSpPr>
        <p:spPr>
          <a:xfrm>
            <a:off x="777240" y="2331720"/>
            <a:ext cx="5074920" cy="256032"/>
          </a:xfrm>
          <a:prstGeom prst="rect">
            <a:avLst/>
          </a:prstGeom>
          <a:noFill/>
          <a:ln/>
        </p:spPr>
        <p:txBody>
          <a:bodyPr wrap="square" lIns="0" tIns="0" rIns="0" bIns="0" rtlCol="0" anchor="ctr"/>
          <a:lstStyle/>
          <a:p>
            <a:pPr indent="0" marL="0">
              <a:buNone/>
            </a:pPr>
            <a:r>
              <a:rPr lang="en-US" sz="950" b="1" spc="500" kern="0" dirty="0">
                <a:solidFill>
                  <a:srgbClr val="38D9F0"/>
                </a:solidFill>
                <a:latin typeface="Consolas" pitchFamily="34" charset="0"/>
                <a:ea typeface="Consolas" pitchFamily="34" charset="-122"/>
                <a:cs typeface="Consolas" pitchFamily="34" charset="-120"/>
              </a:rPr>
              <a:t>SENSOR ARTIFACTS</a:t>
            </a:r>
            <a:endParaRPr lang="en-US" sz="950" dirty="0"/>
          </a:p>
        </p:txBody>
      </p:sp>
      <p:sp>
        <p:nvSpPr>
          <p:cNvPr id="27" name="Text 25"/>
          <p:cNvSpPr/>
          <p:nvPr/>
        </p:nvSpPr>
        <p:spPr>
          <a:xfrm>
            <a:off x="777240" y="2587752"/>
            <a:ext cx="507492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Parallax &amp; gimbal rotation</a:t>
            </a:r>
            <a:endParaRPr lang="en-US" sz="1600" dirty="0"/>
          </a:p>
        </p:txBody>
      </p:sp>
      <p:sp>
        <p:nvSpPr>
          <p:cNvPr id="28" name="Shape 26"/>
          <p:cNvSpPr/>
          <p:nvPr/>
        </p:nvSpPr>
        <p:spPr>
          <a:xfrm>
            <a:off x="777240" y="3017520"/>
            <a:ext cx="4983480" cy="0"/>
          </a:xfrm>
          <a:prstGeom prst="line">
            <a:avLst/>
          </a:prstGeom>
          <a:noFill/>
          <a:ln w="9525">
            <a:solidFill>
              <a:srgbClr val="2B3A55"/>
            </a:solidFill>
            <a:prstDash val="solid"/>
          </a:ln>
        </p:spPr>
      </p:sp>
      <p:sp>
        <p:nvSpPr>
          <p:cNvPr id="29" name="Text 27"/>
          <p:cNvSpPr/>
          <p:nvPr/>
        </p:nvSpPr>
        <p:spPr>
          <a:xfrm>
            <a:off x="777240" y="3090672"/>
            <a:ext cx="5074920" cy="868680"/>
          </a:xfrm>
          <a:prstGeom prst="rect">
            <a:avLst/>
          </a:prstGeom>
          <a:noFill/>
          <a:ln/>
        </p:spPr>
        <p:txBody>
          <a:bodyPr wrap="square" lIns="0" tIns="0" rIns="0" bIns="0" rtlCol="0" anchor="ctr"/>
          <a:lstStyle/>
          <a:p>
            <a:pPr indent="0" marL="0">
              <a:buNone/>
            </a:pPr>
            <a:r>
              <a:rPr lang="en-US" sz="1150" dirty="0">
                <a:solidFill>
                  <a:srgbClr val="8A97AD"/>
                </a:solidFill>
                <a:latin typeface="Calibri" pitchFamily="34" charset="0"/>
                <a:ea typeface="Calibri" pitchFamily="34" charset="-122"/>
                <a:cs typeface="Calibri" pitchFamily="34" charset="-120"/>
              </a:rPr>
              <a:t>The Gimbal “rotation” is consistent with ATFLIR gimbal mechanics rotating through zero. GoFast’s apparent speed collapses under parallax correction.</a:t>
            </a:r>
            <a:endParaRPr lang="en-US" sz="1150" dirty="0"/>
          </a:p>
        </p:txBody>
      </p:sp>
      <p:sp>
        <p:nvSpPr>
          <p:cNvPr id="30" name="Shape 28"/>
          <p:cNvSpPr/>
          <p:nvPr/>
        </p:nvSpPr>
        <p:spPr>
          <a:xfrm>
            <a:off x="6172200" y="2194560"/>
            <a:ext cx="5440680" cy="1828800"/>
          </a:xfrm>
          <a:prstGeom prst="rect">
            <a:avLst/>
          </a:prstGeom>
          <a:solidFill>
            <a:srgbClr val="0F1624"/>
          </a:solidFill>
          <a:ln w="9525">
            <a:solidFill>
              <a:srgbClr val="2B3A55"/>
            </a:solidFill>
            <a:prstDash val="solid"/>
          </a:ln>
        </p:spPr>
      </p:sp>
      <p:sp>
        <p:nvSpPr>
          <p:cNvPr id="31" name="Shape 29"/>
          <p:cNvSpPr/>
          <p:nvPr/>
        </p:nvSpPr>
        <p:spPr>
          <a:xfrm>
            <a:off x="6172200" y="2194560"/>
            <a:ext cx="54864" cy="1828800"/>
          </a:xfrm>
          <a:prstGeom prst="rect">
            <a:avLst/>
          </a:prstGeom>
          <a:solidFill>
            <a:srgbClr val="F5B024"/>
          </a:solidFill>
          <a:ln w="12700">
            <a:solidFill>
              <a:srgbClr val="F5B024"/>
            </a:solidFill>
            <a:prstDash val="solid"/>
          </a:ln>
        </p:spPr>
      </p:sp>
      <p:sp>
        <p:nvSpPr>
          <p:cNvPr id="32" name="Text 30"/>
          <p:cNvSpPr/>
          <p:nvPr/>
        </p:nvSpPr>
        <p:spPr>
          <a:xfrm>
            <a:off x="6400800" y="2331720"/>
            <a:ext cx="5074920" cy="256032"/>
          </a:xfrm>
          <a:prstGeom prst="rect">
            <a:avLst/>
          </a:prstGeom>
          <a:noFill/>
          <a:ln/>
        </p:spPr>
        <p:txBody>
          <a:bodyPr wrap="square" lIns="0" tIns="0" rIns="0" bIns="0" rtlCol="0" anchor="ctr"/>
          <a:lstStyle/>
          <a:p>
            <a:pPr indent="0" marL="0">
              <a:buNone/>
            </a:pPr>
            <a:r>
              <a:rPr lang="en-US" sz="950" b="1" spc="500" kern="0" dirty="0">
                <a:solidFill>
                  <a:srgbClr val="F5B024"/>
                </a:solidFill>
                <a:latin typeface="Consolas" pitchFamily="34" charset="0"/>
                <a:ea typeface="Consolas" pitchFamily="34" charset="-122"/>
                <a:cs typeface="Consolas" pitchFamily="34" charset="-120"/>
              </a:rPr>
              <a:t>AIR-TRAFFIC</a:t>
            </a:r>
            <a:endParaRPr lang="en-US" sz="950" dirty="0"/>
          </a:p>
        </p:txBody>
      </p:sp>
      <p:sp>
        <p:nvSpPr>
          <p:cNvPr id="33" name="Text 31"/>
          <p:cNvSpPr/>
          <p:nvPr/>
        </p:nvSpPr>
        <p:spPr>
          <a:xfrm>
            <a:off x="6400800" y="2587752"/>
            <a:ext cx="507492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Drones, balloons, debris</a:t>
            </a:r>
            <a:endParaRPr lang="en-US" sz="1600" dirty="0"/>
          </a:p>
        </p:txBody>
      </p:sp>
      <p:sp>
        <p:nvSpPr>
          <p:cNvPr id="34" name="Shape 32"/>
          <p:cNvSpPr/>
          <p:nvPr/>
        </p:nvSpPr>
        <p:spPr>
          <a:xfrm>
            <a:off x="6400800" y="3017520"/>
            <a:ext cx="4983480" cy="0"/>
          </a:xfrm>
          <a:prstGeom prst="line">
            <a:avLst/>
          </a:prstGeom>
          <a:noFill/>
          <a:ln w="9525">
            <a:solidFill>
              <a:srgbClr val="2B3A55"/>
            </a:solidFill>
            <a:prstDash val="solid"/>
          </a:ln>
        </p:spPr>
      </p:sp>
      <p:sp>
        <p:nvSpPr>
          <p:cNvPr id="35" name="Text 33"/>
          <p:cNvSpPr/>
          <p:nvPr/>
        </p:nvSpPr>
        <p:spPr>
          <a:xfrm>
            <a:off x="6400800" y="3090672"/>
            <a:ext cx="5074920" cy="868680"/>
          </a:xfrm>
          <a:prstGeom prst="rect">
            <a:avLst/>
          </a:prstGeom>
          <a:noFill/>
          <a:ln/>
        </p:spPr>
        <p:txBody>
          <a:bodyPr wrap="square" lIns="0" tIns="0" rIns="0" bIns="0" rtlCol="0" anchor="ctr"/>
          <a:lstStyle/>
          <a:p>
            <a:pPr indent="0" marL="0">
              <a:buNone/>
            </a:pPr>
            <a:r>
              <a:rPr lang="en-US" sz="1150" dirty="0">
                <a:solidFill>
                  <a:srgbClr val="8A97AD"/>
                </a:solidFill>
                <a:latin typeface="Calibri" pitchFamily="34" charset="0"/>
                <a:ea typeface="Calibri" pitchFamily="34" charset="-122"/>
                <a:cs typeface="Calibri" pitchFamily="34" charset="-120"/>
              </a:rPr>
              <a:t>AARO: the majority of resolved cases trace to weather balloons, commercial drones, and orbital debris. Chinese surveillance balloon (Feb 2023) was initially logged as UAP.</a:t>
            </a:r>
            <a:endParaRPr lang="en-US" sz="1150" dirty="0"/>
          </a:p>
        </p:txBody>
      </p:sp>
      <p:sp>
        <p:nvSpPr>
          <p:cNvPr id="36" name="Shape 34"/>
          <p:cNvSpPr/>
          <p:nvPr/>
        </p:nvSpPr>
        <p:spPr>
          <a:xfrm>
            <a:off x="548640" y="4206240"/>
            <a:ext cx="5440680" cy="1828800"/>
          </a:xfrm>
          <a:prstGeom prst="rect">
            <a:avLst/>
          </a:prstGeom>
          <a:solidFill>
            <a:srgbClr val="0F1624"/>
          </a:solidFill>
          <a:ln w="9525">
            <a:solidFill>
              <a:srgbClr val="2B3A55"/>
            </a:solidFill>
            <a:prstDash val="solid"/>
          </a:ln>
        </p:spPr>
      </p:sp>
      <p:sp>
        <p:nvSpPr>
          <p:cNvPr id="37" name="Shape 35"/>
          <p:cNvSpPr/>
          <p:nvPr/>
        </p:nvSpPr>
        <p:spPr>
          <a:xfrm>
            <a:off x="548640" y="4206240"/>
            <a:ext cx="54864" cy="1828800"/>
          </a:xfrm>
          <a:prstGeom prst="rect">
            <a:avLst/>
          </a:prstGeom>
          <a:solidFill>
            <a:srgbClr val="5DD39E"/>
          </a:solidFill>
          <a:ln w="12700">
            <a:solidFill>
              <a:srgbClr val="5DD39E"/>
            </a:solidFill>
            <a:prstDash val="solid"/>
          </a:ln>
        </p:spPr>
      </p:sp>
      <p:sp>
        <p:nvSpPr>
          <p:cNvPr id="38" name="Text 36"/>
          <p:cNvSpPr/>
          <p:nvPr/>
        </p:nvSpPr>
        <p:spPr>
          <a:xfrm>
            <a:off x="777240" y="4343400"/>
            <a:ext cx="5074920" cy="256032"/>
          </a:xfrm>
          <a:prstGeom prst="rect">
            <a:avLst/>
          </a:prstGeom>
          <a:noFill/>
          <a:ln/>
        </p:spPr>
        <p:txBody>
          <a:bodyPr wrap="square" lIns="0" tIns="0" rIns="0" bIns="0" rtlCol="0" anchor="ctr"/>
          <a:lstStyle/>
          <a:p>
            <a:pPr indent="0" marL="0">
              <a:buNone/>
            </a:pPr>
            <a:r>
              <a:rPr lang="en-US" sz="950" b="1" spc="500" kern="0" dirty="0">
                <a:solidFill>
                  <a:srgbClr val="5DD39E"/>
                </a:solidFill>
                <a:latin typeface="Consolas" pitchFamily="34" charset="0"/>
                <a:ea typeface="Consolas" pitchFamily="34" charset="-122"/>
                <a:cs typeface="Consolas" pitchFamily="34" charset="-120"/>
              </a:rPr>
              <a:t>CLASSIFIED PROGRAMS</a:t>
            </a:r>
            <a:endParaRPr lang="en-US" sz="950" dirty="0"/>
          </a:p>
        </p:txBody>
      </p:sp>
      <p:sp>
        <p:nvSpPr>
          <p:cNvPr id="39" name="Text 37"/>
          <p:cNvSpPr/>
          <p:nvPr/>
        </p:nvSpPr>
        <p:spPr>
          <a:xfrm>
            <a:off x="777240" y="4599432"/>
            <a:ext cx="507492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Our own aircraft</a:t>
            </a:r>
            <a:endParaRPr lang="en-US" sz="1600" dirty="0"/>
          </a:p>
        </p:txBody>
      </p:sp>
      <p:sp>
        <p:nvSpPr>
          <p:cNvPr id="40" name="Shape 38"/>
          <p:cNvSpPr/>
          <p:nvPr/>
        </p:nvSpPr>
        <p:spPr>
          <a:xfrm>
            <a:off x="777240" y="5029200"/>
            <a:ext cx="4983480" cy="0"/>
          </a:xfrm>
          <a:prstGeom prst="line">
            <a:avLst/>
          </a:prstGeom>
          <a:noFill/>
          <a:ln w="9525">
            <a:solidFill>
              <a:srgbClr val="2B3A55"/>
            </a:solidFill>
            <a:prstDash val="solid"/>
          </a:ln>
        </p:spPr>
      </p:sp>
      <p:sp>
        <p:nvSpPr>
          <p:cNvPr id="41" name="Text 39"/>
          <p:cNvSpPr/>
          <p:nvPr/>
        </p:nvSpPr>
        <p:spPr>
          <a:xfrm>
            <a:off x="777240" y="5102352"/>
            <a:ext cx="5074920" cy="868680"/>
          </a:xfrm>
          <a:prstGeom prst="rect">
            <a:avLst/>
          </a:prstGeom>
          <a:noFill/>
          <a:ln/>
        </p:spPr>
        <p:txBody>
          <a:bodyPr wrap="square" lIns="0" tIns="0" rIns="0" bIns="0" rtlCol="0" anchor="ctr"/>
          <a:lstStyle/>
          <a:p>
            <a:pPr indent="0" marL="0">
              <a:buNone/>
            </a:pPr>
            <a:r>
              <a:rPr lang="en-US" sz="1150" dirty="0">
                <a:solidFill>
                  <a:srgbClr val="8A97AD"/>
                </a:solidFill>
                <a:latin typeface="Calibri" pitchFamily="34" charset="0"/>
                <a:ea typeface="Calibri" pitchFamily="34" charset="-122"/>
                <a:cs typeface="Calibri" pitchFamily="34" charset="-120"/>
              </a:rPr>
              <a:t>Reviews of Roswell and similar incidents repeatedly surface U-2, B-2, RQ-170, and Mogul-style balloon programs unknown to the witnessing public at the time.</a:t>
            </a:r>
            <a:endParaRPr lang="en-US" sz="1150" dirty="0"/>
          </a:p>
        </p:txBody>
      </p:sp>
      <p:sp>
        <p:nvSpPr>
          <p:cNvPr id="42" name="Shape 40"/>
          <p:cNvSpPr/>
          <p:nvPr/>
        </p:nvSpPr>
        <p:spPr>
          <a:xfrm>
            <a:off x="6172200" y="4206240"/>
            <a:ext cx="5440680" cy="1828800"/>
          </a:xfrm>
          <a:prstGeom prst="rect">
            <a:avLst/>
          </a:prstGeom>
          <a:solidFill>
            <a:srgbClr val="0F1624"/>
          </a:solidFill>
          <a:ln w="9525">
            <a:solidFill>
              <a:srgbClr val="2B3A55"/>
            </a:solidFill>
            <a:prstDash val="solid"/>
          </a:ln>
        </p:spPr>
      </p:sp>
      <p:sp>
        <p:nvSpPr>
          <p:cNvPr id="43" name="Shape 41"/>
          <p:cNvSpPr/>
          <p:nvPr/>
        </p:nvSpPr>
        <p:spPr>
          <a:xfrm>
            <a:off x="6172200" y="4206240"/>
            <a:ext cx="54864" cy="1828800"/>
          </a:xfrm>
          <a:prstGeom prst="rect">
            <a:avLst/>
          </a:prstGeom>
          <a:solidFill>
            <a:srgbClr val="E8434C"/>
          </a:solidFill>
          <a:ln w="12700">
            <a:solidFill>
              <a:srgbClr val="E8434C"/>
            </a:solidFill>
            <a:prstDash val="solid"/>
          </a:ln>
        </p:spPr>
      </p:sp>
      <p:sp>
        <p:nvSpPr>
          <p:cNvPr id="44" name="Text 42"/>
          <p:cNvSpPr/>
          <p:nvPr/>
        </p:nvSpPr>
        <p:spPr>
          <a:xfrm>
            <a:off x="6400800" y="4343400"/>
            <a:ext cx="5074920" cy="256032"/>
          </a:xfrm>
          <a:prstGeom prst="rect">
            <a:avLst/>
          </a:prstGeom>
          <a:noFill/>
          <a:ln/>
        </p:spPr>
        <p:txBody>
          <a:bodyPr wrap="square" lIns="0" tIns="0" rIns="0" bIns="0" rtlCol="0" anchor="ctr"/>
          <a:lstStyle/>
          <a:p>
            <a:pPr indent="0" marL="0">
              <a:buNone/>
            </a:pPr>
            <a:r>
              <a:rPr lang="en-US" sz="950" b="1" spc="500" kern="0" dirty="0">
                <a:solidFill>
                  <a:srgbClr val="E8434C"/>
                </a:solidFill>
                <a:latin typeface="Consolas" pitchFamily="34" charset="0"/>
                <a:ea typeface="Consolas" pitchFamily="34" charset="-122"/>
                <a:cs typeface="Consolas" pitchFamily="34" charset="-120"/>
              </a:rPr>
              <a:t>COGNITIVE LOAD</a:t>
            </a:r>
            <a:endParaRPr lang="en-US" sz="950" dirty="0"/>
          </a:p>
        </p:txBody>
      </p:sp>
      <p:sp>
        <p:nvSpPr>
          <p:cNvPr id="45" name="Text 43"/>
          <p:cNvSpPr/>
          <p:nvPr/>
        </p:nvSpPr>
        <p:spPr>
          <a:xfrm>
            <a:off x="6400800" y="4599432"/>
            <a:ext cx="5074920" cy="411480"/>
          </a:xfrm>
          <a:prstGeom prst="rect">
            <a:avLst/>
          </a:prstGeom>
          <a:noFill/>
          <a:ln/>
        </p:spPr>
        <p:txBody>
          <a:bodyPr wrap="square" lIns="0" tIns="0" rIns="0" bIns="0" rtlCol="0" anchor="ctr"/>
          <a:lstStyle/>
          <a:p>
            <a:pPr indent="0" marL="0">
              <a:buNone/>
            </a:pPr>
            <a:r>
              <a:rPr lang="en-US" sz="1600" dirty="0">
                <a:solidFill>
                  <a:srgbClr val="ECF1F8"/>
                </a:solidFill>
                <a:latin typeface="Arial Black" pitchFamily="34" charset="0"/>
                <a:ea typeface="Arial Black" pitchFamily="34" charset="-122"/>
                <a:cs typeface="Arial Black" pitchFamily="34" charset="-120"/>
              </a:rPr>
              <a:t>Observer bias</a:t>
            </a:r>
            <a:endParaRPr lang="en-US" sz="1600" dirty="0"/>
          </a:p>
        </p:txBody>
      </p:sp>
      <p:sp>
        <p:nvSpPr>
          <p:cNvPr id="46" name="Shape 44"/>
          <p:cNvSpPr/>
          <p:nvPr/>
        </p:nvSpPr>
        <p:spPr>
          <a:xfrm>
            <a:off x="6400800" y="5029200"/>
            <a:ext cx="4983480" cy="0"/>
          </a:xfrm>
          <a:prstGeom prst="line">
            <a:avLst/>
          </a:prstGeom>
          <a:noFill/>
          <a:ln w="9525">
            <a:solidFill>
              <a:srgbClr val="2B3A55"/>
            </a:solidFill>
            <a:prstDash val="solid"/>
          </a:ln>
        </p:spPr>
      </p:sp>
      <p:sp>
        <p:nvSpPr>
          <p:cNvPr id="47" name="Text 45"/>
          <p:cNvSpPr/>
          <p:nvPr/>
        </p:nvSpPr>
        <p:spPr>
          <a:xfrm>
            <a:off x="6400800" y="5102352"/>
            <a:ext cx="5074920" cy="868680"/>
          </a:xfrm>
          <a:prstGeom prst="rect">
            <a:avLst/>
          </a:prstGeom>
          <a:noFill/>
          <a:ln/>
        </p:spPr>
        <p:txBody>
          <a:bodyPr wrap="square" lIns="0" tIns="0" rIns="0" bIns="0" rtlCol="0" anchor="ctr"/>
          <a:lstStyle/>
          <a:p>
            <a:pPr indent="0" marL="0">
              <a:buNone/>
            </a:pPr>
            <a:r>
              <a:rPr lang="en-US" sz="1150" dirty="0">
                <a:solidFill>
                  <a:srgbClr val="8A97AD"/>
                </a:solidFill>
                <a:latin typeface="Calibri" pitchFamily="34" charset="0"/>
                <a:ea typeface="Calibri" pitchFamily="34" charset="-122"/>
                <a:cs typeface="Calibri" pitchFamily="34" charset="-120"/>
              </a:rPr>
              <a:t>Pilots operate under high cognitive load at altitude. Post-2017, any unusual sighting is more likely to be classified as “UAP” — a reporting bias, not a physical change.</a:t>
            </a:r>
            <a:endParaRPr lang="en-US" sz="1150" dirty="0"/>
          </a:p>
        </p:txBody>
      </p:sp>
      <p:sp>
        <p:nvSpPr>
          <p:cNvPr id="48" name="Text 46"/>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Extraordinary claims require extraordinary evidence (Sagan). The default hypothesis must remain mundane until the evidence compels otherwise.</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DOC-037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U.S. SENATE · 2023 – 2025</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LEGISLATIVE MOMENTUM</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37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15</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Legislative Momentum  ·  The Disclosure Act</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393192" y="2194560"/>
            <a:ext cx="3657600" cy="3886200"/>
          </a:xfrm>
          <a:prstGeom prst="rect">
            <a:avLst/>
          </a:prstGeom>
          <a:solidFill>
            <a:srgbClr val="0F1624"/>
          </a:solidFill>
          <a:ln w="9525">
            <a:solidFill>
              <a:srgbClr val="2B3A55"/>
            </a:solidFill>
            <a:prstDash val="solid"/>
          </a:ln>
        </p:spPr>
      </p:sp>
      <p:sp>
        <p:nvSpPr>
          <p:cNvPr id="25" name="Shape 23"/>
          <p:cNvSpPr/>
          <p:nvPr/>
        </p:nvSpPr>
        <p:spPr>
          <a:xfrm>
            <a:off x="393192" y="2194560"/>
            <a:ext cx="54864" cy="3886200"/>
          </a:xfrm>
          <a:prstGeom prst="rect">
            <a:avLst/>
          </a:prstGeom>
          <a:solidFill>
            <a:srgbClr val="38D9F0"/>
          </a:solidFill>
          <a:ln w="12700">
            <a:solidFill>
              <a:srgbClr val="38D9F0"/>
            </a:solidFill>
            <a:prstDash val="solid"/>
          </a:ln>
        </p:spPr>
      </p:sp>
      <p:sp>
        <p:nvSpPr>
          <p:cNvPr id="26" name="Text 24"/>
          <p:cNvSpPr/>
          <p:nvPr/>
        </p:nvSpPr>
        <p:spPr>
          <a:xfrm>
            <a:off x="621792" y="2423160"/>
            <a:ext cx="3291840" cy="868680"/>
          </a:xfrm>
          <a:prstGeom prst="rect">
            <a:avLst/>
          </a:prstGeom>
          <a:noFill/>
          <a:ln/>
        </p:spPr>
        <p:txBody>
          <a:bodyPr wrap="square" lIns="0" tIns="0" rIns="0" bIns="0" rtlCol="0" anchor="ctr"/>
          <a:lstStyle/>
          <a:p>
            <a:pPr indent="0" marL="0">
              <a:buNone/>
            </a:pPr>
            <a:r>
              <a:rPr lang="en-US" sz="5600" dirty="0">
                <a:solidFill>
                  <a:srgbClr val="38D9F0"/>
                </a:solidFill>
                <a:latin typeface="Arial Black" pitchFamily="34" charset="0"/>
                <a:ea typeface="Arial Black" pitchFamily="34" charset="-122"/>
                <a:cs typeface="Arial Black" pitchFamily="34" charset="-120"/>
              </a:rPr>
              <a:t>2023</a:t>
            </a:r>
            <a:endParaRPr lang="en-US" sz="5600" dirty="0"/>
          </a:p>
        </p:txBody>
      </p:sp>
      <p:sp>
        <p:nvSpPr>
          <p:cNvPr id="27" name="Text 25"/>
          <p:cNvSpPr/>
          <p:nvPr/>
        </p:nvSpPr>
        <p:spPr>
          <a:xfrm>
            <a:off x="621792" y="3383280"/>
            <a:ext cx="3291840" cy="457200"/>
          </a:xfrm>
          <a:prstGeom prst="rect">
            <a:avLst/>
          </a:prstGeom>
          <a:noFill/>
          <a:ln/>
        </p:spPr>
        <p:txBody>
          <a:bodyPr wrap="square" lIns="0" tIns="0" rIns="0" bIns="0" rtlCol="0" anchor="ctr"/>
          <a:lstStyle/>
          <a:p>
            <a:pPr indent="0" marL="0">
              <a:buNone/>
            </a:pPr>
            <a:r>
              <a:rPr lang="en-US" sz="1100" b="1" spc="400" kern="0" dirty="0">
                <a:solidFill>
                  <a:srgbClr val="ECF1F8"/>
                </a:solidFill>
                <a:latin typeface="Consolas" pitchFamily="34" charset="0"/>
                <a:ea typeface="Consolas" pitchFamily="34" charset="-122"/>
                <a:cs typeface="Consolas" pitchFamily="34" charset="-120"/>
              </a:rPr>
              <a:t>UAP DISCLOSURE ACT</a:t>
            </a:r>
            <a:endParaRPr lang="en-US" sz="1100" dirty="0"/>
          </a:p>
        </p:txBody>
      </p:sp>
      <p:sp>
        <p:nvSpPr>
          <p:cNvPr id="28" name="Shape 26"/>
          <p:cNvSpPr/>
          <p:nvPr/>
        </p:nvSpPr>
        <p:spPr>
          <a:xfrm>
            <a:off x="621792" y="3886200"/>
            <a:ext cx="3200400" cy="0"/>
          </a:xfrm>
          <a:prstGeom prst="line">
            <a:avLst/>
          </a:prstGeom>
          <a:noFill/>
          <a:ln w="9525">
            <a:solidFill>
              <a:srgbClr val="2B3A55"/>
            </a:solidFill>
            <a:prstDash val="solid"/>
          </a:ln>
        </p:spPr>
      </p:sp>
      <p:sp>
        <p:nvSpPr>
          <p:cNvPr id="29" name="Text 27"/>
          <p:cNvSpPr/>
          <p:nvPr/>
        </p:nvSpPr>
        <p:spPr>
          <a:xfrm>
            <a:off x="621792" y="3977640"/>
            <a:ext cx="3291840" cy="1691640"/>
          </a:xfrm>
          <a:prstGeom prst="rect">
            <a:avLst/>
          </a:prstGeom>
          <a:noFill/>
          <a:ln/>
        </p:spPr>
        <p:txBody>
          <a:bodyPr wrap="square" lIns="0" tIns="0" rIns="0" bIns="0" rtlCol="0" anchor="ctr"/>
          <a:lstStyle/>
          <a:p>
            <a:pPr indent="0" marL="0">
              <a:buNone/>
            </a:pPr>
            <a:r>
              <a:rPr lang="en-US" sz="1200" dirty="0">
                <a:solidFill>
                  <a:srgbClr val="8A97AD"/>
                </a:solidFill>
                <a:latin typeface="Calibri" pitchFamily="34" charset="0"/>
                <a:ea typeface="Calibri" pitchFamily="34" charset="-122"/>
                <a:cs typeface="Calibri" pitchFamily="34" charset="-120"/>
              </a:rPr>
              <a:t>Schumer-Rounds amendment to NDAA. Proposed presidential review board with eminent-domain authority over UAP materials. Heavily reduced in conference.</a:t>
            </a:r>
            <a:endParaRPr lang="en-US" sz="1200" dirty="0"/>
          </a:p>
        </p:txBody>
      </p:sp>
      <p:sp>
        <p:nvSpPr>
          <p:cNvPr id="30" name="Text 28"/>
          <p:cNvSpPr/>
          <p:nvPr/>
        </p:nvSpPr>
        <p:spPr>
          <a:xfrm>
            <a:off x="621792" y="5715000"/>
            <a:ext cx="3291840" cy="274320"/>
          </a:xfrm>
          <a:prstGeom prst="rect">
            <a:avLst/>
          </a:prstGeom>
          <a:noFill/>
          <a:ln/>
        </p:spPr>
        <p:txBody>
          <a:bodyPr wrap="square" lIns="0" tIns="0" rIns="0" bIns="0" rtlCol="0" anchor="ctr"/>
          <a:lstStyle/>
          <a:p>
            <a:pPr indent="0" marL="0">
              <a:buNone/>
            </a:pPr>
            <a:r>
              <a:rPr lang="en-US" sz="900" b="1" spc="300" kern="0" dirty="0">
                <a:solidFill>
                  <a:srgbClr val="38D9F0"/>
                </a:solidFill>
                <a:latin typeface="Consolas" pitchFamily="34" charset="0"/>
                <a:ea typeface="Consolas" pitchFamily="34" charset="-122"/>
                <a:cs typeface="Consolas" pitchFamily="34" charset="-120"/>
              </a:rPr>
              <a:t>SCHUMER  ·  ROUNDS  ·  RUBIO</a:t>
            </a:r>
            <a:endParaRPr lang="en-US" sz="900" dirty="0"/>
          </a:p>
        </p:txBody>
      </p:sp>
      <p:sp>
        <p:nvSpPr>
          <p:cNvPr id="31" name="Shape 29"/>
          <p:cNvSpPr/>
          <p:nvPr/>
        </p:nvSpPr>
        <p:spPr>
          <a:xfrm>
            <a:off x="4251960" y="2194560"/>
            <a:ext cx="3657600" cy="3886200"/>
          </a:xfrm>
          <a:prstGeom prst="rect">
            <a:avLst/>
          </a:prstGeom>
          <a:solidFill>
            <a:srgbClr val="0F1624"/>
          </a:solidFill>
          <a:ln w="9525">
            <a:solidFill>
              <a:srgbClr val="2B3A55"/>
            </a:solidFill>
            <a:prstDash val="solid"/>
          </a:ln>
        </p:spPr>
      </p:sp>
      <p:sp>
        <p:nvSpPr>
          <p:cNvPr id="32" name="Shape 30"/>
          <p:cNvSpPr/>
          <p:nvPr/>
        </p:nvSpPr>
        <p:spPr>
          <a:xfrm>
            <a:off x="4251960" y="2194560"/>
            <a:ext cx="54864" cy="3886200"/>
          </a:xfrm>
          <a:prstGeom prst="rect">
            <a:avLst/>
          </a:prstGeom>
          <a:solidFill>
            <a:srgbClr val="F5B024"/>
          </a:solidFill>
          <a:ln w="12700">
            <a:solidFill>
              <a:srgbClr val="F5B024"/>
            </a:solidFill>
            <a:prstDash val="solid"/>
          </a:ln>
        </p:spPr>
      </p:sp>
      <p:sp>
        <p:nvSpPr>
          <p:cNvPr id="33" name="Text 31"/>
          <p:cNvSpPr/>
          <p:nvPr/>
        </p:nvSpPr>
        <p:spPr>
          <a:xfrm>
            <a:off x="4480560" y="2423160"/>
            <a:ext cx="3291840" cy="868680"/>
          </a:xfrm>
          <a:prstGeom prst="rect">
            <a:avLst/>
          </a:prstGeom>
          <a:noFill/>
          <a:ln/>
        </p:spPr>
        <p:txBody>
          <a:bodyPr wrap="square" lIns="0" tIns="0" rIns="0" bIns="0" rtlCol="0" anchor="ctr"/>
          <a:lstStyle/>
          <a:p>
            <a:pPr indent="0" marL="0">
              <a:buNone/>
            </a:pPr>
            <a:r>
              <a:rPr lang="en-US" sz="5600" dirty="0">
                <a:solidFill>
                  <a:srgbClr val="F5B024"/>
                </a:solidFill>
                <a:latin typeface="Arial Black" pitchFamily="34" charset="0"/>
                <a:ea typeface="Arial Black" pitchFamily="34" charset="-122"/>
                <a:cs typeface="Arial Black" pitchFamily="34" charset="-120"/>
              </a:rPr>
              <a:t>2024</a:t>
            </a:r>
            <a:endParaRPr lang="en-US" sz="5600" dirty="0"/>
          </a:p>
        </p:txBody>
      </p:sp>
      <p:sp>
        <p:nvSpPr>
          <p:cNvPr id="34" name="Text 32"/>
          <p:cNvSpPr/>
          <p:nvPr/>
        </p:nvSpPr>
        <p:spPr>
          <a:xfrm>
            <a:off x="4480560" y="3383280"/>
            <a:ext cx="3291840" cy="457200"/>
          </a:xfrm>
          <a:prstGeom prst="rect">
            <a:avLst/>
          </a:prstGeom>
          <a:noFill/>
          <a:ln/>
        </p:spPr>
        <p:txBody>
          <a:bodyPr wrap="square" lIns="0" tIns="0" rIns="0" bIns="0" rtlCol="0" anchor="ctr"/>
          <a:lstStyle/>
          <a:p>
            <a:pPr indent="0" marL="0">
              <a:buNone/>
            </a:pPr>
            <a:r>
              <a:rPr lang="en-US" sz="1100" b="1" spc="400" kern="0" dirty="0">
                <a:solidFill>
                  <a:srgbClr val="ECF1F8"/>
                </a:solidFill>
                <a:latin typeface="Consolas" pitchFamily="34" charset="0"/>
                <a:ea typeface="Consolas" pitchFamily="34" charset="-122"/>
                <a:cs typeface="Consolas" pitchFamily="34" charset="-120"/>
              </a:rPr>
              <a:t>FY25 REINTRODUCTION</a:t>
            </a:r>
            <a:endParaRPr lang="en-US" sz="1100" dirty="0"/>
          </a:p>
        </p:txBody>
      </p:sp>
      <p:sp>
        <p:nvSpPr>
          <p:cNvPr id="35" name="Shape 33"/>
          <p:cNvSpPr/>
          <p:nvPr/>
        </p:nvSpPr>
        <p:spPr>
          <a:xfrm>
            <a:off x="4480560" y="3886200"/>
            <a:ext cx="3200400" cy="0"/>
          </a:xfrm>
          <a:prstGeom prst="line">
            <a:avLst/>
          </a:prstGeom>
          <a:noFill/>
          <a:ln w="9525">
            <a:solidFill>
              <a:srgbClr val="2B3A55"/>
            </a:solidFill>
            <a:prstDash val="solid"/>
          </a:ln>
        </p:spPr>
      </p:sp>
      <p:sp>
        <p:nvSpPr>
          <p:cNvPr id="36" name="Text 34"/>
          <p:cNvSpPr/>
          <p:nvPr/>
        </p:nvSpPr>
        <p:spPr>
          <a:xfrm>
            <a:off x="4480560" y="3977640"/>
            <a:ext cx="3291840" cy="1691640"/>
          </a:xfrm>
          <a:prstGeom prst="rect">
            <a:avLst/>
          </a:prstGeom>
          <a:noFill/>
          <a:ln/>
        </p:spPr>
        <p:txBody>
          <a:bodyPr wrap="square" lIns="0" tIns="0" rIns="0" bIns="0" rtlCol="0" anchor="ctr"/>
          <a:lstStyle/>
          <a:p>
            <a:pPr indent="0" marL="0">
              <a:buNone/>
            </a:pPr>
            <a:r>
              <a:rPr lang="en-US" sz="1200" dirty="0">
                <a:solidFill>
                  <a:srgbClr val="8A97AD"/>
                </a:solidFill>
                <a:latin typeface="Calibri" pitchFamily="34" charset="0"/>
                <a:ea typeface="Calibri" pitchFamily="34" charset="-122"/>
                <a:cs typeface="Calibri" pitchFamily="34" charset="-120"/>
              </a:rPr>
              <a:t>Narrower version. Passed Senate but again weakened at conference. AARO funding preserved; most recovery-program language cut.</a:t>
            </a:r>
            <a:endParaRPr lang="en-US" sz="1200" dirty="0"/>
          </a:p>
        </p:txBody>
      </p:sp>
      <p:sp>
        <p:nvSpPr>
          <p:cNvPr id="37" name="Text 35"/>
          <p:cNvSpPr/>
          <p:nvPr/>
        </p:nvSpPr>
        <p:spPr>
          <a:xfrm>
            <a:off x="4480560" y="5715000"/>
            <a:ext cx="3291840" cy="274320"/>
          </a:xfrm>
          <a:prstGeom prst="rect">
            <a:avLst/>
          </a:prstGeom>
          <a:noFill/>
          <a:ln/>
        </p:spPr>
        <p:txBody>
          <a:bodyPr wrap="square" lIns="0" tIns="0" rIns="0" bIns="0" rtlCol="0" anchor="ctr"/>
          <a:lstStyle/>
          <a:p>
            <a:pPr indent="0" marL="0">
              <a:buNone/>
            </a:pPr>
            <a:r>
              <a:rPr lang="en-US" sz="900" b="1" spc="300" kern="0" dirty="0">
                <a:solidFill>
                  <a:srgbClr val="F5B024"/>
                </a:solidFill>
                <a:latin typeface="Consolas" pitchFamily="34" charset="0"/>
                <a:ea typeface="Consolas" pitchFamily="34" charset="-122"/>
                <a:cs typeface="Consolas" pitchFamily="34" charset="-120"/>
              </a:rPr>
              <a:t>GILLIBRAND  ·  ROUNDS</a:t>
            </a:r>
            <a:endParaRPr lang="en-US" sz="900" dirty="0"/>
          </a:p>
        </p:txBody>
      </p:sp>
      <p:sp>
        <p:nvSpPr>
          <p:cNvPr id="38" name="Shape 36"/>
          <p:cNvSpPr/>
          <p:nvPr/>
        </p:nvSpPr>
        <p:spPr>
          <a:xfrm>
            <a:off x="8110728" y="2194560"/>
            <a:ext cx="3657600" cy="3886200"/>
          </a:xfrm>
          <a:prstGeom prst="rect">
            <a:avLst/>
          </a:prstGeom>
          <a:solidFill>
            <a:srgbClr val="0F1624"/>
          </a:solidFill>
          <a:ln w="9525">
            <a:solidFill>
              <a:srgbClr val="2B3A55"/>
            </a:solidFill>
            <a:prstDash val="solid"/>
          </a:ln>
        </p:spPr>
      </p:sp>
      <p:sp>
        <p:nvSpPr>
          <p:cNvPr id="39" name="Shape 37"/>
          <p:cNvSpPr/>
          <p:nvPr/>
        </p:nvSpPr>
        <p:spPr>
          <a:xfrm>
            <a:off x="8110728" y="2194560"/>
            <a:ext cx="54864" cy="3886200"/>
          </a:xfrm>
          <a:prstGeom prst="rect">
            <a:avLst/>
          </a:prstGeom>
          <a:solidFill>
            <a:srgbClr val="5DD39E"/>
          </a:solidFill>
          <a:ln w="12700">
            <a:solidFill>
              <a:srgbClr val="5DD39E"/>
            </a:solidFill>
            <a:prstDash val="solid"/>
          </a:ln>
        </p:spPr>
      </p:sp>
      <p:sp>
        <p:nvSpPr>
          <p:cNvPr id="40" name="Text 38"/>
          <p:cNvSpPr/>
          <p:nvPr/>
        </p:nvSpPr>
        <p:spPr>
          <a:xfrm>
            <a:off x="8339328" y="2423160"/>
            <a:ext cx="3291840" cy="868680"/>
          </a:xfrm>
          <a:prstGeom prst="rect">
            <a:avLst/>
          </a:prstGeom>
          <a:noFill/>
          <a:ln/>
        </p:spPr>
        <p:txBody>
          <a:bodyPr wrap="square" lIns="0" tIns="0" rIns="0" bIns="0" rtlCol="0" anchor="ctr"/>
          <a:lstStyle/>
          <a:p>
            <a:pPr indent="0" marL="0">
              <a:buNone/>
            </a:pPr>
            <a:r>
              <a:rPr lang="en-US" sz="5600" dirty="0">
                <a:solidFill>
                  <a:srgbClr val="5DD39E"/>
                </a:solidFill>
                <a:latin typeface="Arial Black" pitchFamily="34" charset="0"/>
                <a:ea typeface="Arial Black" pitchFamily="34" charset="-122"/>
                <a:cs typeface="Arial Black" pitchFamily="34" charset="-120"/>
              </a:rPr>
              <a:t>2025</a:t>
            </a:r>
            <a:endParaRPr lang="en-US" sz="5600" dirty="0"/>
          </a:p>
        </p:txBody>
      </p:sp>
      <p:sp>
        <p:nvSpPr>
          <p:cNvPr id="41" name="Text 39"/>
          <p:cNvSpPr/>
          <p:nvPr/>
        </p:nvSpPr>
        <p:spPr>
          <a:xfrm>
            <a:off x="8339328" y="3383280"/>
            <a:ext cx="3291840" cy="457200"/>
          </a:xfrm>
          <a:prstGeom prst="rect">
            <a:avLst/>
          </a:prstGeom>
          <a:noFill/>
          <a:ln/>
        </p:spPr>
        <p:txBody>
          <a:bodyPr wrap="square" lIns="0" tIns="0" rIns="0" bIns="0" rtlCol="0" anchor="ctr"/>
          <a:lstStyle/>
          <a:p>
            <a:pPr indent="0" marL="0">
              <a:buNone/>
            </a:pPr>
            <a:r>
              <a:rPr lang="en-US" sz="1100" b="1" spc="400" kern="0" dirty="0">
                <a:solidFill>
                  <a:srgbClr val="ECF1F8"/>
                </a:solidFill>
                <a:latin typeface="Consolas" pitchFamily="34" charset="0"/>
                <a:ea typeface="Consolas" pitchFamily="34" charset="-122"/>
                <a:cs typeface="Consolas" pitchFamily="34" charset="-120"/>
              </a:rPr>
              <a:t>THIRD ATTEMPT</a:t>
            </a:r>
            <a:endParaRPr lang="en-US" sz="1100" dirty="0"/>
          </a:p>
        </p:txBody>
      </p:sp>
      <p:sp>
        <p:nvSpPr>
          <p:cNvPr id="42" name="Shape 40"/>
          <p:cNvSpPr/>
          <p:nvPr/>
        </p:nvSpPr>
        <p:spPr>
          <a:xfrm>
            <a:off x="8339328" y="3886200"/>
            <a:ext cx="3200400" cy="0"/>
          </a:xfrm>
          <a:prstGeom prst="line">
            <a:avLst/>
          </a:prstGeom>
          <a:noFill/>
          <a:ln w="9525">
            <a:solidFill>
              <a:srgbClr val="2B3A55"/>
            </a:solidFill>
            <a:prstDash val="solid"/>
          </a:ln>
        </p:spPr>
      </p:sp>
      <p:sp>
        <p:nvSpPr>
          <p:cNvPr id="43" name="Text 41"/>
          <p:cNvSpPr/>
          <p:nvPr/>
        </p:nvSpPr>
        <p:spPr>
          <a:xfrm>
            <a:off x="8339328" y="3977640"/>
            <a:ext cx="3291840" cy="1691640"/>
          </a:xfrm>
          <a:prstGeom prst="rect">
            <a:avLst/>
          </a:prstGeom>
          <a:noFill/>
          <a:ln/>
        </p:spPr>
        <p:txBody>
          <a:bodyPr wrap="square" lIns="0" tIns="0" rIns="0" bIns="0" rtlCol="0" anchor="ctr"/>
          <a:lstStyle/>
          <a:p>
            <a:pPr indent="0" marL="0">
              <a:buNone/>
            </a:pPr>
            <a:r>
              <a:rPr lang="en-US" sz="1200" dirty="0">
                <a:solidFill>
                  <a:srgbClr val="8A97AD"/>
                </a:solidFill>
                <a:latin typeface="Calibri" pitchFamily="34" charset="0"/>
                <a:ea typeface="Calibri" pitchFamily="34" charset="-122"/>
                <a:cs typeface="Calibri" pitchFamily="34" charset="-120"/>
              </a:rPr>
              <a:t>Bipartisan reintroduction with expanded whistleblower protections and a narrower declassification timeline. Under review in both chambers.</a:t>
            </a:r>
            <a:endParaRPr lang="en-US" sz="1200" dirty="0"/>
          </a:p>
        </p:txBody>
      </p:sp>
      <p:sp>
        <p:nvSpPr>
          <p:cNvPr id="44" name="Text 42"/>
          <p:cNvSpPr/>
          <p:nvPr/>
        </p:nvSpPr>
        <p:spPr>
          <a:xfrm>
            <a:off x="8339328" y="5715000"/>
            <a:ext cx="3291840" cy="274320"/>
          </a:xfrm>
          <a:prstGeom prst="rect">
            <a:avLst/>
          </a:prstGeom>
          <a:noFill/>
          <a:ln/>
        </p:spPr>
        <p:txBody>
          <a:bodyPr wrap="square" lIns="0" tIns="0" rIns="0" bIns="0" rtlCol="0" anchor="ctr"/>
          <a:lstStyle/>
          <a:p>
            <a:pPr indent="0" marL="0">
              <a:buNone/>
            </a:pPr>
            <a:r>
              <a:rPr lang="en-US" sz="900" b="1" spc="300" kern="0" dirty="0">
                <a:solidFill>
                  <a:srgbClr val="5DD39E"/>
                </a:solidFill>
                <a:latin typeface="Consolas" pitchFamily="34" charset="0"/>
                <a:ea typeface="Consolas" pitchFamily="34" charset="-122"/>
                <a:cs typeface="Consolas" pitchFamily="34" charset="-120"/>
              </a:rPr>
              <a:t>SCHUMER  ·  ROUNDS  ·  LUNA</a:t>
            </a:r>
            <a:endParaRPr lang="en-US" sz="900" dirty="0"/>
          </a:p>
        </p:txBody>
      </p:sp>
      <p:sp>
        <p:nvSpPr>
          <p:cNvPr id="45" name="Text 43"/>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Congressional activity has become annual. The conference committee remains the reliable choke point.</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DOC-038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TIMELINE · 2017 – 2026</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DISCLOSURE TIMELINE</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38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16</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Disclosure Timeline  ·  2017 – 2026</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731520" y="4023360"/>
            <a:ext cx="10698480" cy="0"/>
          </a:xfrm>
          <a:prstGeom prst="line">
            <a:avLst/>
          </a:prstGeom>
          <a:noFill/>
          <a:ln w="25400">
            <a:solidFill>
              <a:srgbClr val="38D9F0"/>
            </a:solidFill>
            <a:prstDash val="solid"/>
          </a:ln>
        </p:spPr>
      </p:sp>
      <p:sp>
        <p:nvSpPr>
          <p:cNvPr id="25" name="Shape 23"/>
          <p:cNvSpPr/>
          <p:nvPr/>
        </p:nvSpPr>
        <p:spPr>
          <a:xfrm>
            <a:off x="1317879" y="3941064"/>
            <a:ext cx="164592" cy="164592"/>
          </a:xfrm>
          <a:prstGeom prst="ellipse">
            <a:avLst/>
          </a:prstGeom>
          <a:solidFill>
            <a:srgbClr val="38D9F0"/>
          </a:solidFill>
          <a:ln w="12700">
            <a:solidFill>
              <a:srgbClr val="070B14"/>
            </a:solidFill>
            <a:prstDash val="solid"/>
          </a:ln>
        </p:spPr>
      </p:sp>
      <p:sp>
        <p:nvSpPr>
          <p:cNvPr id="26" name="Shape 24"/>
          <p:cNvSpPr/>
          <p:nvPr/>
        </p:nvSpPr>
        <p:spPr>
          <a:xfrm>
            <a:off x="1400175" y="3063240"/>
            <a:ext cx="0" cy="868680"/>
          </a:xfrm>
          <a:prstGeom prst="line">
            <a:avLst/>
          </a:prstGeom>
          <a:noFill/>
          <a:ln w="9525">
            <a:solidFill>
              <a:srgbClr val="38D9F0"/>
            </a:solidFill>
            <a:prstDash val="solid"/>
          </a:ln>
        </p:spPr>
      </p:sp>
      <p:sp>
        <p:nvSpPr>
          <p:cNvPr id="27" name="Shape 25"/>
          <p:cNvSpPr/>
          <p:nvPr/>
        </p:nvSpPr>
        <p:spPr>
          <a:xfrm>
            <a:off x="714375" y="2331720"/>
            <a:ext cx="1371600" cy="777240"/>
          </a:xfrm>
          <a:prstGeom prst="rect">
            <a:avLst/>
          </a:prstGeom>
          <a:solidFill>
            <a:srgbClr val="0F1624"/>
          </a:solidFill>
          <a:ln w="9525">
            <a:solidFill>
              <a:srgbClr val="38D9F0"/>
            </a:solidFill>
            <a:prstDash val="solid"/>
          </a:ln>
        </p:spPr>
      </p:sp>
      <p:sp>
        <p:nvSpPr>
          <p:cNvPr id="28" name="Text 26"/>
          <p:cNvSpPr/>
          <p:nvPr/>
        </p:nvSpPr>
        <p:spPr>
          <a:xfrm>
            <a:off x="714375" y="2404872"/>
            <a:ext cx="1371600" cy="228600"/>
          </a:xfrm>
          <a:prstGeom prst="rect">
            <a:avLst/>
          </a:prstGeom>
          <a:noFill/>
          <a:ln/>
        </p:spPr>
        <p:txBody>
          <a:bodyPr wrap="square" lIns="0" tIns="0" rIns="0" bIns="0" rtlCol="0" anchor="ctr"/>
          <a:lstStyle/>
          <a:p>
            <a:pPr algn="ctr" indent="0" marL="0">
              <a:buNone/>
            </a:pPr>
            <a:r>
              <a:rPr lang="en-US" sz="900" b="1" spc="300" kern="0" dirty="0">
                <a:solidFill>
                  <a:srgbClr val="38D9F0"/>
                </a:solidFill>
                <a:latin typeface="Consolas" pitchFamily="34" charset="0"/>
                <a:ea typeface="Consolas" pitchFamily="34" charset="-122"/>
                <a:cs typeface="Consolas" pitchFamily="34" charset="-120"/>
              </a:rPr>
              <a:t>DEC '17</a:t>
            </a:r>
            <a:endParaRPr lang="en-US" sz="900" dirty="0"/>
          </a:p>
        </p:txBody>
      </p:sp>
      <p:sp>
        <p:nvSpPr>
          <p:cNvPr id="29" name="Text 27"/>
          <p:cNvSpPr/>
          <p:nvPr/>
        </p:nvSpPr>
        <p:spPr>
          <a:xfrm>
            <a:off x="760095" y="2633472"/>
            <a:ext cx="1280160" cy="457200"/>
          </a:xfrm>
          <a:prstGeom prst="rect">
            <a:avLst/>
          </a:prstGeom>
          <a:noFill/>
          <a:ln/>
        </p:spPr>
        <p:txBody>
          <a:bodyPr wrap="square" lIns="0" tIns="0" rIns="0" bIns="0" rtlCol="0" anchor="ctr"/>
          <a:lstStyle/>
          <a:p>
            <a:pPr algn="ctr" indent="0" marL="0">
              <a:buNone/>
            </a:pPr>
            <a:r>
              <a:rPr lang="en-US" sz="800" b="1" spc="200" kern="0" dirty="0">
                <a:solidFill>
                  <a:srgbClr val="ECF1F8"/>
                </a:solidFill>
                <a:latin typeface="Consolas" pitchFamily="34" charset="0"/>
                <a:ea typeface="Consolas" pitchFamily="34" charset="-122"/>
                <a:cs typeface="Consolas" pitchFamily="34" charset="-120"/>
              </a:rPr>
              <a:t>NYT REVEALS AATIP</a:t>
            </a:r>
            <a:endParaRPr lang="en-US" sz="800" dirty="0"/>
          </a:p>
        </p:txBody>
      </p:sp>
      <p:sp>
        <p:nvSpPr>
          <p:cNvPr id="30" name="Shape 28"/>
          <p:cNvSpPr/>
          <p:nvPr/>
        </p:nvSpPr>
        <p:spPr>
          <a:xfrm>
            <a:off x="2655189" y="3941064"/>
            <a:ext cx="164592" cy="164592"/>
          </a:xfrm>
          <a:prstGeom prst="ellipse">
            <a:avLst/>
          </a:prstGeom>
          <a:solidFill>
            <a:srgbClr val="F5B024"/>
          </a:solidFill>
          <a:ln w="12700">
            <a:solidFill>
              <a:srgbClr val="070B14"/>
            </a:solidFill>
            <a:prstDash val="solid"/>
          </a:ln>
        </p:spPr>
      </p:sp>
      <p:sp>
        <p:nvSpPr>
          <p:cNvPr id="31" name="Shape 29"/>
          <p:cNvSpPr/>
          <p:nvPr/>
        </p:nvSpPr>
        <p:spPr>
          <a:xfrm>
            <a:off x="2737485" y="4114800"/>
            <a:ext cx="0" cy="868680"/>
          </a:xfrm>
          <a:prstGeom prst="line">
            <a:avLst/>
          </a:prstGeom>
          <a:noFill/>
          <a:ln w="9525">
            <a:solidFill>
              <a:srgbClr val="F5B024"/>
            </a:solidFill>
            <a:prstDash val="solid"/>
          </a:ln>
        </p:spPr>
      </p:sp>
      <p:sp>
        <p:nvSpPr>
          <p:cNvPr id="32" name="Shape 30"/>
          <p:cNvSpPr/>
          <p:nvPr/>
        </p:nvSpPr>
        <p:spPr>
          <a:xfrm>
            <a:off x="2051685" y="5029200"/>
            <a:ext cx="1371600" cy="777240"/>
          </a:xfrm>
          <a:prstGeom prst="rect">
            <a:avLst/>
          </a:prstGeom>
          <a:solidFill>
            <a:srgbClr val="0F1624"/>
          </a:solidFill>
          <a:ln w="9525">
            <a:solidFill>
              <a:srgbClr val="F5B024"/>
            </a:solidFill>
            <a:prstDash val="solid"/>
          </a:ln>
        </p:spPr>
      </p:sp>
      <p:sp>
        <p:nvSpPr>
          <p:cNvPr id="33" name="Text 31"/>
          <p:cNvSpPr/>
          <p:nvPr/>
        </p:nvSpPr>
        <p:spPr>
          <a:xfrm>
            <a:off x="2051685" y="5102352"/>
            <a:ext cx="1371600" cy="228600"/>
          </a:xfrm>
          <a:prstGeom prst="rect">
            <a:avLst/>
          </a:prstGeom>
          <a:noFill/>
          <a:ln/>
        </p:spPr>
        <p:txBody>
          <a:bodyPr wrap="square" lIns="0" tIns="0" rIns="0" bIns="0" rtlCol="0" anchor="ctr"/>
          <a:lstStyle/>
          <a:p>
            <a:pPr algn="ctr" indent="0" marL="0">
              <a:buNone/>
            </a:pPr>
            <a:r>
              <a:rPr lang="en-US" sz="900" b="1" spc="300" kern="0" dirty="0">
                <a:solidFill>
                  <a:srgbClr val="F5B024"/>
                </a:solidFill>
                <a:latin typeface="Consolas" pitchFamily="34" charset="0"/>
                <a:ea typeface="Consolas" pitchFamily="34" charset="-122"/>
                <a:cs typeface="Consolas" pitchFamily="34" charset="-120"/>
              </a:rPr>
              <a:t>APR '20</a:t>
            </a:r>
            <a:endParaRPr lang="en-US" sz="900" dirty="0"/>
          </a:p>
        </p:txBody>
      </p:sp>
      <p:sp>
        <p:nvSpPr>
          <p:cNvPr id="34" name="Text 32"/>
          <p:cNvSpPr/>
          <p:nvPr/>
        </p:nvSpPr>
        <p:spPr>
          <a:xfrm>
            <a:off x="2097405" y="5330952"/>
            <a:ext cx="1280160" cy="457200"/>
          </a:xfrm>
          <a:prstGeom prst="rect">
            <a:avLst/>
          </a:prstGeom>
          <a:noFill/>
          <a:ln/>
        </p:spPr>
        <p:txBody>
          <a:bodyPr wrap="square" lIns="0" tIns="0" rIns="0" bIns="0" rtlCol="0" anchor="ctr"/>
          <a:lstStyle/>
          <a:p>
            <a:pPr algn="ctr" indent="0" marL="0">
              <a:buNone/>
            </a:pPr>
            <a:r>
              <a:rPr lang="en-US" sz="800" b="1" spc="200" kern="0" dirty="0">
                <a:solidFill>
                  <a:srgbClr val="ECF1F8"/>
                </a:solidFill>
                <a:latin typeface="Consolas" pitchFamily="34" charset="0"/>
                <a:ea typeface="Consolas" pitchFamily="34" charset="-122"/>
                <a:cs typeface="Consolas" pitchFamily="34" charset="-120"/>
              </a:rPr>
              <a:t>DoD RELEASES 3 VIDEOS</a:t>
            </a:r>
            <a:endParaRPr lang="en-US" sz="800" dirty="0"/>
          </a:p>
        </p:txBody>
      </p:sp>
      <p:sp>
        <p:nvSpPr>
          <p:cNvPr id="35" name="Shape 33"/>
          <p:cNvSpPr/>
          <p:nvPr/>
        </p:nvSpPr>
        <p:spPr>
          <a:xfrm>
            <a:off x="3992499" y="3941064"/>
            <a:ext cx="164592" cy="164592"/>
          </a:xfrm>
          <a:prstGeom prst="ellipse">
            <a:avLst/>
          </a:prstGeom>
          <a:solidFill>
            <a:srgbClr val="E8434C"/>
          </a:solidFill>
          <a:ln w="12700">
            <a:solidFill>
              <a:srgbClr val="070B14"/>
            </a:solidFill>
            <a:prstDash val="solid"/>
          </a:ln>
        </p:spPr>
      </p:sp>
      <p:sp>
        <p:nvSpPr>
          <p:cNvPr id="36" name="Shape 34"/>
          <p:cNvSpPr/>
          <p:nvPr/>
        </p:nvSpPr>
        <p:spPr>
          <a:xfrm>
            <a:off x="4074795" y="3063240"/>
            <a:ext cx="0" cy="868680"/>
          </a:xfrm>
          <a:prstGeom prst="line">
            <a:avLst/>
          </a:prstGeom>
          <a:noFill/>
          <a:ln w="9525">
            <a:solidFill>
              <a:srgbClr val="E8434C"/>
            </a:solidFill>
            <a:prstDash val="solid"/>
          </a:ln>
        </p:spPr>
      </p:sp>
      <p:sp>
        <p:nvSpPr>
          <p:cNvPr id="37" name="Shape 35"/>
          <p:cNvSpPr/>
          <p:nvPr/>
        </p:nvSpPr>
        <p:spPr>
          <a:xfrm>
            <a:off x="3388995" y="2331720"/>
            <a:ext cx="1371600" cy="777240"/>
          </a:xfrm>
          <a:prstGeom prst="rect">
            <a:avLst/>
          </a:prstGeom>
          <a:solidFill>
            <a:srgbClr val="0F1624"/>
          </a:solidFill>
          <a:ln w="9525">
            <a:solidFill>
              <a:srgbClr val="E8434C"/>
            </a:solidFill>
            <a:prstDash val="solid"/>
          </a:ln>
        </p:spPr>
      </p:sp>
      <p:sp>
        <p:nvSpPr>
          <p:cNvPr id="38" name="Text 36"/>
          <p:cNvSpPr/>
          <p:nvPr/>
        </p:nvSpPr>
        <p:spPr>
          <a:xfrm>
            <a:off x="3388995" y="2404872"/>
            <a:ext cx="1371600" cy="228600"/>
          </a:xfrm>
          <a:prstGeom prst="rect">
            <a:avLst/>
          </a:prstGeom>
          <a:noFill/>
          <a:ln/>
        </p:spPr>
        <p:txBody>
          <a:bodyPr wrap="square" lIns="0" tIns="0" rIns="0" bIns="0" rtlCol="0" anchor="ctr"/>
          <a:lstStyle/>
          <a:p>
            <a:pPr algn="ctr" indent="0" marL="0">
              <a:buNone/>
            </a:pPr>
            <a:r>
              <a:rPr lang="en-US" sz="900" b="1" spc="300" kern="0" dirty="0">
                <a:solidFill>
                  <a:srgbClr val="E8434C"/>
                </a:solidFill>
                <a:latin typeface="Consolas" pitchFamily="34" charset="0"/>
                <a:ea typeface="Consolas" pitchFamily="34" charset="-122"/>
                <a:cs typeface="Consolas" pitchFamily="34" charset="-120"/>
              </a:rPr>
              <a:t>JUN '21</a:t>
            </a:r>
            <a:endParaRPr lang="en-US" sz="900" dirty="0"/>
          </a:p>
        </p:txBody>
      </p:sp>
      <p:sp>
        <p:nvSpPr>
          <p:cNvPr id="39" name="Text 37"/>
          <p:cNvSpPr/>
          <p:nvPr/>
        </p:nvSpPr>
        <p:spPr>
          <a:xfrm>
            <a:off x="3434715" y="2633472"/>
            <a:ext cx="1280160" cy="457200"/>
          </a:xfrm>
          <a:prstGeom prst="rect">
            <a:avLst/>
          </a:prstGeom>
          <a:noFill/>
          <a:ln/>
        </p:spPr>
        <p:txBody>
          <a:bodyPr wrap="square" lIns="0" tIns="0" rIns="0" bIns="0" rtlCol="0" anchor="ctr"/>
          <a:lstStyle/>
          <a:p>
            <a:pPr algn="ctr" indent="0" marL="0">
              <a:buNone/>
            </a:pPr>
            <a:r>
              <a:rPr lang="en-US" sz="800" b="1" spc="200" kern="0" dirty="0">
                <a:solidFill>
                  <a:srgbClr val="ECF1F8"/>
                </a:solidFill>
                <a:latin typeface="Consolas" pitchFamily="34" charset="0"/>
                <a:ea typeface="Consolas" pitchFamily="34" charset="-122"/>
                <a:cs typeface="Consolas" pitchFamily="34" charset="-120"/>
              </a:rPr>
              <a:t>ODNI REPORT · 144 CASES</a:t>
            </a:r>
            <a:endParaRPr lang="en-US" sz="800" dirty="0"/>
          </a:p>
        </p:txBody>
      </p:sp>
      <p:sp>
        <p:nvSpPr>
          <p:cNvPr id="40" name="Shape 38"/>
          <p:cNvSpPr/>
          <p:nvPr/>
        </p:nvSpPr>
        <p:spPr>
          <a:xfrm>
            <a:off x="5329809" y="3941064"/>
            <a:ext cx="164592" cy="164592"/>
          </a:xfrm>
          <a:prstGeom prst="ellipse">
            <a:avLst/>
          </a:prstGeom>
          <a:solidFill>
            <a:srgbClr val="5DD39E"/>
          </a:solidFill>
          <a:ln w="12700">
            <a:solidFill>
              <a:srgbClr val="070B14"/>
            </a:solidFill>
            <a:prstDash val="solid"/>
          </a:ln>
        </p:spPr>
      </p:sp>
      <p:sp>
        <p:nvSpPr>
          <p:cNvPr id="41" name="Shape 39"/>
          <p:cNvSpPr/>
          <p:nvPr/>
        </p:nvSpPr>
        <p:spPr>
          <a:xfrm>
            <a:off x="5412105" y="4114800"/>
            <a:ext cx="0" cy="868680"/>
          </a:xfrm>
          <a:prstGeom prst="line">
            <a:avLst/>
          </a:prstGeom>
          <a:noFill/>
          <a:ln w="9525">
            <a:solidFill>
              <a:srgbClr val="5DD39E"/>
            </a:solidFill>
            <a:prstDash val="solid"/>
          </a:ln>
        </p:spPr>
      </p:sp>
      <p:sp>
        <p:nvSpPr>
          <p:cNvPr id="42" name="Shape 40"/>
          <p:cNvSpPr/>
          <p:nvPr/>
        </p:nvSpPr>
        <p:spPr>
          <a:xfrm>
            <a:off x="4726305" y="5029200"/>
            <a:ext cx="1371600" cy="777240"/>
          </a:xfrm>
          <a:prstGeom prst="rect">
            <a:avLst/>
          </a:prstGeom>
          <a:solidFill>
            <a:srgbClr val="0F1624"/>
          </a:solidFill>
          <a:ln w="9525">
            <a:solidFill>
              <a:srgbClr val="5DD39E"/>
            </a:solidFill>
            <a:prstDash val="solid"/>
          </a:ln>
        </p:spPr>
      </p:sp>
      <p:sp>
        <p:nvSpPr>
          <p:cNvPr id="43" name="Text 41"/>
          <p:cNvSpPr/>
          <p:nvPr/>
        </p:nvSpPr>
        <p:spPr>
          <a:xfrm>
            <a:off x="4726305" y="5102352"/>
            <a:ext cx="1371600" cy="228600"/>
          </a:xfrm>
          <a:prstGeom prst="rect">
            <a:avLst/>
          </a:prstGeom>
          <a:noFill/>
          <a:ln/>
        </p:spPr>
        <p:txBody>
          <a:bodyPr wrap="square" lIns="0" tIns="0" rIns="0" bIns="0" rtlCol="0" anchor="ctr"/>
          <a:lstStyle/>
          <a:p>
            <a:pPr algn="ctr" indent="0" marL="0">
              <a:buNone/>
            </a:pPr>
            <a:r>
              <a:rPr lang="en-US" sz="900" b="1" spc="300" kern="0" dirty="0">
                <a:solidFill>
                  <a:srgbClr val="5DD39E"/>
                </a:solidFill>
                <a:latin typeface="Consolas" pitchFamily="34" charset="0"/>
                <a:ea typeface="Consolas" pitchFamily="34" charset="-122"/>
                <a:cs typeface="Consolas" pitchFamily="34" charset="-120"/>
              </a:rPr>
              <a:t>JUL '22</a:t>
            </a:r>
            <a:endParaRPr lang="en-US" sz="900" dirty="0"/>
          </a:p>
        </p:txBody>
      </p:sp>
      <p:sp>
        <p:nvSpPr>
          <p:cNvPr id="44" name="Text 42"/>
          <p:cNvSpPr/>
          <p:nvPr/>
        </p:nvSpPr>
        <p:spPr>
          <a:xfrm>
            <a:off x="4772025" y="5330952"/>
            <a:ext cx="1280160" cy="457200"/>
          </a:xfrm>
          <a:prstGeom prst="rect">
            <a:avLst/>
          </a:prstGeom>
          <a:noFill/>
          <a:ln/>
        </p:spPr>
        <p:txBody>
          <a:bodyPr wrap="square" lIns="0" tIns="0" rIns="0" bIns="0" rtlCol="0" anchor="ctr"/>
          <a:lstStyle/>
          <a:p>
            <a:pPr algn="ctr" indent="0" marL="0">
              <a:buNone/>
            </a:pPr>
            <a:r>
              <a:rPr lang="en-US" sz="800" b="1" spc="200" kern="0" dirty="0">
                <a:solidFill>
                  <a:srgbClr val="ECF1F8"/>
                </a:solidFill>
                <a:latin typeface="Consolas" pitchFamily="34" charset="0"/>
                <a:ea typeface="Consolas" pitchFamily="34" charset="-122"/>
                <a:cs typeface="Consolas" pitchFamily="34" charset="-120"/>
              </a:rPr>
              <a:t>AARO ESTABLISHED</a:t>
            </a:r>
            <a:endParaRPr lang="en-US" sz="800" dirty="0"/>
          </a:p>
        </p:txBody>
      </p:sp>
      <p:sp>
        <p:nvSpPr>
          <p:cNvPr id="45" name="Shape 43"/>
          <p:cNvSpPr/>
          <p:nvPr/>
        </p:nvSpPr>
        <p:spPr>
          <a:xfrm>
            <a:off x="6667119" y="3941064"/>
            <a:ext cx="164592" cy="164592"/>
          </a:xfrm>
          <a:prstGeom prst="ellipse">
            <a:avLst/>
          </a:prstGeom>
          <a:solidFill>
            <a:srgbClr val="E8434C"/>
          </a:solidFill>
          <a:ln w="12700">
            <a:solidFill>
              <a:srgbClr val="070B14"/>
            </a:solidFill>
            <a:prstDash val="solid"/>
          </a:ln>
        </p:spPr>
      </p:sp>
      <p:sp>
        <p:nvSpPr>
          <p:cNvPr id="46" name="Shape 44"/>
          <p:cNvSpPr/>
          <p:nvPr/>
        </p:nvSpPr>
        <p:spPr>
          <a:xfrm>
            <a:off x="6749415" y="3063240"/>
            <a:ext cx="0" cy="868680"/>
          </a:xfrm>
          <a:prstGeom prst="line">
            <a:avLst/>
          </a:prstGeom>
          <a:noFill/>
          <a:ln w="9525">
            <a:solidFill>
              <a:srgbClr val="E8434C"/>
            </a:solidFill>
            <a:prstDash val="solid"/>
          </a:ln>
        </p:spPr>
      </p:sp>
      <p:sp>
        <p:nvSpPr>
          <p:cNvPr id="47" name="Shape 45"/>
          <p:cNvSpPr/>
          <p:nvPr/>
        </p:nvSpPr>
        <p:spPr>
          <a:xfrm>
            <a:off x="6063615" y="2331720"/>
            <a:ext cx="1371600" cy="777240"/>
          </a:xfrm>
          <a:prstGeom prst="rect">
            <a:avLst/>
          </a:prstGeom>
          <a:solidFill>
            <a:srgbClr val="0F1624"/>
          </a:solidFill>
          <a:ln w="9525">
            <a:solidFill>
              <a:srgbClr val="E8434C"/>
            </a:solidFill>
            <a:prstDash val="solid"/>
          </a:ln>
        </p:spPr>
      </p:sp>
      <p:sp>
        <p:nvSpPr>
          <p:cNvPr id="48" name="Text 46"/>
          <p:cNvSpPr/>
          <p:nvPr/>
        </p:nvSpPr>
        <p:spPr>
          <a:xfrm>
            <a:off x="6063615" y="2404872"/>
            <a:ext cx="1371600" cy="228600"/>
          </a:xfrm>
          <a:prstGeom prst="rect">
            <a:avLst/>
          </a:prstGeom>
          <a:noFill/>
          <a:ln/>
        </p:spPr>
        <p:txBody>
          <a:bodyPr wrap="square" lIns="0" tIns="0" rIns="0" bIns="0" rtlCol="0" anchor="ctr"/>
          <a:lstStyle/>
          <a:p>
            <a:pPr algn="ctr" indent="0" marL="0">
              <a:buNone/>
            </a:pPr>
            <a:r>
              <a:rPr lang="en-US" sz="900" b="1" spc="300" kern="0" dirty="0">
                <a:solidFill>
                  <a:srgbClr val="E8434C"/>
                </a:solidFill>
                <a:latin typeface="Consolas" pitchFamily="34" charset="0"/>
                <a:ea typeface="Consolas" pitchFamily="34" charset="-122"/>
                <a:cs typeface="Consolas" pitchFamily="34" charset="-120"/>
              </a:rPr>
              <a:t>JUL '23</a:t>
            </a:r>
            <a:endParaRPr lang="en-US" sz="900" dirty="0"/>
          </a:p>
        </p:txBody>
      </p:sp>
      <p:sp>
        <p:nvSpPr>
          <p:cNvPr id="49" name="Text 47"/>
          <p:cNvSpPr/>
          <p:nvPr/>
        </p:nvSpPr>
        <p:spPr>
          <a:xfrm>
            <a:off x="6109335" y="2633472"/>
            <a:ext cx="1280160" cy="457200"/>
          </a:xfrm>
          <a:prstGeom prst="rect">
            <a:avLst/>
          </a:prstGeom>
          <a:noFill/>
          <a:ln/>
        </p:spPr>
        <p:txBody>
          <a:bodyPr wrap="square" lIns="0" tIns="0" rIns="0" bIns="0" rtlCol="0" anchor="ctr"/>
          <a:lstStyle/>
          <a:p>
            <a:pPr algn="ctr" indent="0" marL="0">
              <a:buNone/>
            </a:pPr>
            <a:r>
              <a:rPr lang="en-US" sz="800" b="1" spc="200" kern="0" dirty="0">
                <a:solidFill>
                  <a:srgbClr val="ECF1F8"/>
                </a:solidFill>
                <a:latin typeface="Consolas" pitchFamily="34" charset="0"/>
                <a:ea typeface="Consolas" pitchFamily="34" charset="-122"/>
                <a:cs typeface="Consolas" pitchFamily="34" charset="-120"/>
              </a:rPr>
              <a:t>GRUSCH TESTIMONY</a:t>
            </a:r>
            <a:endParaRPr lang="en-US" sz="800" dirty="0"/>
          </a:p>
        </p:txBody>
      </p:sp>
      <p:sp>
        <p:nvSpPr>
          <p:cNvPr id="50" name="Shape 48"/>
          <p:cNvSpPr/>
          <p:nvPr/>
        </p:nvSpPr>
        <p:spPr>
          <a:xfrm>
            <a:off x="8004429" y="3941064"/>
            <a:ext cx="164592" cy="164592"/>
          </a:xfrm>
          <a:prstGeom prst="ellipse">
            <a:avLst/>
          </a:prstGeom>
          <a:solidFill>
            <a:srgbClr val="38D9F0"/>
          </a:solidFill>
          <a:ln w="12700">
            <a:solidFill>
              <a:srgbClr val="070B14"/>
            </a:solidFill>
            <a:prstDash val="solid"/>
          </a:ln>
        </p:spPr>
      </p:sp>
      <p:sp>
        <p:nvSpPr>
          <p:cNvPr id="51" name="Shape 49"/>
          <p:cNvSpPr/>
          <p:nvPr/>
        </p:nvSpPr>
        <p:spPr>
          <a:xfrm>
            <a:off x="8086725" y="4114800"/>
            <a:ext cx="0" cy="868680"/>
          </a:xfrm>
          <a:prstGeom prst="line">
            <a:avLst/>
          </a:prstGeom>
          <a:noFill/>
          <a:ln w="9525">
            <a:solidFill>
              <a:srgbClr val="38D9F0"/>
            </a:solidFill>
            <a:prstDash val="solid"/>
          </a:ln>
        </p:spPr>
      </p:sp>
      <p:sp>
        <p:nvSpPr>
          <p:cNvPr id="52" name="Shape 50"/>
          <p:cNvSpPr/>
          <p:nvPr/>
        </p:nvSpPr>
        <p:spPr>
          <a:xfrm>
            <a:off x="7400925" y="5029200"/>
            <a:ext cx="1371600" cy="777240"/>
          </a:xfrm>
          <a:prstGeom prst="rect">
            <a:avLst/>
          </a:prstGeom>
          <a:solidFill>
            <a:srgbClr val="0F1624"/>
          </a:solidFill>
          <a:ln w="9525">
            <a:solidFill>
              <a:srgbClr val="38D9F0"/>
            </a:solidFill>
            <a:prstDash val="solid"/>
          </a:ln>
        </p:spPr>
      </p:sp>
      <p:sp>
        <p:nvSpPr>
          <p:cNvPr id="53" name="Text 51"/>
          <p:cNvSpPr/>
          <p:nvPr/>
        </p:nvSpPr>
        <p:spPr>
          <a:xfrm>
            <a:off x="7400925" y="5102352"/>
            <a:ext cx="1371600" cy="228600"/>
          </a:xfrm>
          <a:prstGeom prst="rect">
            <a:avLst/>
          </a:prstGeom>
          <a:noFill/>
          <a:ln/>
        </p:spPr>
        <p:txBody>
          <a:bodyPr wrap="square" lIns="0" tIns="0" rIns="0" bIns="0" rtlCol="0" anchor="ctr"/>
          <a:lstStyle/>
          <a:p>
            <a:pPr algn="ctr" indent="0" marL="0">
              <a:buNone/>
            </a:pPr>
            <a:r>
              <a:rPr lang="en-US" sz="900" b="1" spc="300" kern="0" dirty="0">
                <a:solidFill>
                  <a:srgbClr val="38D9F0"/>
                </a:solidFill>
                <a:latin typeface="Consolas" pitchFamily="34" charset="0"/>
                <a:ea typeface="Consolas" pitchFamily="34" charset="-122"/>
                <a:cs typeface="Consolas" pitchFamily="34" charset="-120"/>
              </a:rPr>
              <a:t>SEP '23</a:t>
            </a:r>
            <a:endParaRPr lang="en-US" sz="900" dirty="0"/>
          </a:p>
        </p:txBody>
      </p:sp>
      <p:sp>
        <p:nvSpPr>
          <p:cNvPr id="54" name="Text 52"/>
          <p:cNvSpPr/>
          <p:nvPr/>
        </p:nvSpPr>
        <p:spPr>
          <a:xfrm>
            <a:off x="7446645" y="5330952"/>
            <a:ext cx="1280160" cy="457200"/>
          </a:xfrm>
          <a:prstGeom prst="rect">
            <a:avLst/>
          </a:prstGeom>
          <a:noFill/>
          <a:ln/>
        </p:spPr>
        <p:txBody>
          <a:bodyPr wrap="square" lIns="0" tIns="0" rIns="0" bIns="0" rtlCol="0" anchor="ctr"/>
          <a:lstStyle/>
          <a:p>
            <a:pPr algn="ctr" indent="0" marL="0">
              <a:buNone/>
            </a:pPr>
            <a:r>
              <a:rPr lang="en-US" sz="800" b="1" spc="200" kern="0" dirty="0">
                <a:solidFill>
                  <a:srgbClr val="ECF1F8"/>
                </a:solidFill>
                <a:latin typeface="Consolas" pitchFamily="34" charset="0"/>
                <a:ea typeface="Consolas" pitchFamily="34" charset="-122"/>
                <a:cs typeface="Consolas" pitchFamily="34" charset="-120"/>
              </a:rPr>
              <a:t>NASA REPORT</a:t>
            </a:r>
            <a:endParaRPr lang="en-US" sz="800" dirty="0"/>
          </a:p>
        </p:txBody>
      </p:sp>
      <p:sp>
        <p:nvSpPr>
          <p:cNvPr id="55" name="Shape 53"/>
          <p:cNvSpPr/>
          <p:nvPr/>
        </p:nvSpPr>
        <p:spPr>
          <a:xfrm>
            <a:off x="9341739" y="3941064"/>
            <a:ext cx="164592" cy="164592"/>
          </a:xfrm>
          <a:prstGeom prst="ellipse">
            <a:avLst/>
          </a:prstGeom>
          <a:solidFill>
            <a:srgbClr val="F5B024"/>
          </a:solidFill>
          <a:ln w="12700">
            <a:solidFill>
              <a:srgbClr val="070B14"/>
            </a:solidFill>
            <a:prstDash val="solid"/>
          </a:ln>
        </p:spPr>
      </p:sp>
      <p:sp>
        <p:nvSpPr>
          <p:cNvPr id="56" name="Shape 54"/>
          <p:cNvSpPr/>
          <p:nvPr/>
        </p:nvSpPr>
        <p:spPr>
          <a:xfrm>
            <a:off x="9424035" y="3063240"/>
            <a:ext cx="0" cy="868680"/>
          </a:xfrm>
          <a:prstGeom prst="line">
            <a:avLst/>
          </a:prstGeom>
          <a:noFill/>
          <a:ln w="9525">
            <a:solidFill>
              <a:srgbClr val="F5B024"/>
            </a:solidFill>
            <a:prstDash val="solid"/>
          </a:ln>
        </p:spPr>
      </p:sp>
      <p:sp>
        <p:nvSpPr>
          <p:cNvPr id="57" name="Shape 55"/>
          <p:cNvSpPr/>
          <p:nvPr/>
        </p:nvSpPr>
        <p:spPr>
          <a:xfrm>
            <a:off x="8738235" y="2331720"/>
            <a:ext cx="1371600" cy="777240"/>
          </a:xfrm>
          <a:prstGeom prst="rect">
            <a:avLst/>
          </a:prstGeom>
          <a:solidFill>
            <a:srgbClr val="0F1624"/>
          </a:solidFill>
          <a:ln w="9525">
            <a:solidFill>
              <a:srgbClr val="F5B024"/>
            </a:solidFill>
            <a:prstDash val="solid"/>
          </a:ln>
        </p:spPr>
      </p:sp>
      <p:sp>
        <p:nvSpPr>
          <p:cNvPr id="58" name="Text 56"/>
          <p:cNvSpPr/>
          <p:nvPr/>
        </p:nvSpPr>
        <p:spPr>
          <a:xfrm>
            <a:off x="8738235" y="2404872"/>
            <a:ext cx="1371600" cy="228600"/>
          </a:xfrm>
          <a:prstGeom prst="rect">
            <a:avLst/>
          </a:prstGeom>
          <a:noFill/>
          <a:ln/>
        </p:spPr>
        <p:txBody>
          <a:bodyPr wrap="square" lIns="0" tIns="0" rIns="0" bIns="0" rtlCol="0" anchor="ctr"/>
          <a:lstStyle/>
          <a:p>
            <a:pPr algn="ctr" indent="0" marL="0">
              <a:buNone/>
            </a:pPr>
            <a:r>
              <a:rPr lang="en-US" sz="900" b="1" spc="300" kern="0" dirty="0">
                <a:solidFill>
                  <a:srgbClr val="F5B024"/>
                </a:solidFill>
                <a:latin typeface="Consolas" pitchFamily="34" charset="0"/>
                <a:ea typeface="Consolas" pitchFamily="34" charset="-122"/>
                <a:cs typeface="Consolas" pitchFamily="34" charset="-120"/>
              </a:rPr>
              <a:t>MAR '24</a:t>
            </a:r>
            <a:endParaRPr lang="en-US" sz="900" dirty="0"/>
          </a:p>
        </p:txBody>
      </p:sp>
      <p:sp>
        <p:nvSpPr>
          <p:cNvPr id="59" name="Text 57"/>
          <p:cNvSpPr/>
          <p:nvPr/>
        </p:nvSpPr>
        <p:spPr>
          <a:xfrm>
            <a:off x="8783955" y="2633472"/>
            <a:ext cx="1280160" cy="457200"/>
          </a:xfrm>
          <a:prstGeom prst="rect">
            <a:avLst/>
          </a:prstGeom>
          <a:noFill/>
          <a:ln/>
        </p:spPr>
        <p:txBody>
          <a:bodyPr wrap="square" lIns="0" tIns="0" rIns="0" bIns="0" rtlCol="0" anchor="ctr"/>
          <a:lstStyle/>
          <a:p>
            <a:pPr algn="ctr" indent="0" marL="0">
              <a:buNone/>
            </a:pPr>
            <a:r>
              <a:rPr lang="en-US" sz="800" b="1" spc="200" kern="0" dirty="0">
                <a:solidFill>
                  <a:srgbClr val="ECF1F8"/>
                </a:solidFill>
                <a:latin typeface="Consolas" pitchFamily="34" charset="0"/>
                <a:ea typeface="Consolas" pitchFamily="34" charset="-122"/>
                <a:cs typeface="Consolas" pitchFamily="34" charset="-120"/>
              </a:rPr>
              <a:t>AARO HISTORICAL VOL. I</a:t>
            </a:r>
            <a:endParaRPr lang="en-US" sz="800" dirty="0"/>
          </a:p>
        </p:txBody>
      </p:sp>
      <p:sp>
        <p:nvSpPr>
          <p:cNvPr id="60" name="Shape 58"/>
          <p:cNvSpPr/>
          <p:nvPr/>
        </p:nvSpPr>
        <p:spPr>
          <a:xfrm>
            <a:off x="10679049" y="3941064"/>
            <a:ext cx="164592" cy="164592"/>
          </a:xfrm>
          <a:prstGeom prst="ellipse">
            <a:avLst/>
          </a:prstGeom>
          <a:solidFill>
            <a:srgbClr val="5DD39E"/>
          </a:solidFill>
          <a:ln w="12700">
            <a:solidFill>
              <a:srgbClr val="070B14"/>
            </a:solidFill>
            <a:prstDash val="solid"/>
          </a:ln>
        </p:spPr>
      </p:sp>
      <p:sp>
        <p:nvSpPr>
          <p:cNvPr id="61" name="Shape 59"/>
          <p:cNvSpPr/>
          <p:nvPr/>
        </p:nvSpPr>
        <p:spPr>
          <a:xfrm>
            <a:off x="10761345" y="4114800"/>
            <a:ext cx="0" cy="868680"/>
          </a:xfrm>
          <a:prstGeom prst="line">
            <a:avLst/>
          </a:prstGeom>
          <a:noFill/>
          <a:ln w="9525">
            <a:solidFill>
              <a:srgbClr val="5DD39E"/>
            </a:solidFill>
            <a:prstDash val="solid"/>
          </a:ln>
        </p:spPr>
      </p:sp>
      <p:sp>
        <p:nvSpPr>
          <p:cNvPr id="62" name="Shape 60"/>
          <p:cNvSpPr/>
          <p:nvPr/>
        </p:nvSpPr>
        <p:spPr>
          <a:xfrm>
            <a:off x="10075545" y="5029200"/>
            <a:ext cx="1371600" cy="777240"/>
          </a:xfrm>
          <a:prstGeom prst="rect">
            <a:avLst/>
          </a:prstGeom>
          <a:solidFill>
            <a:srgbClr val="0F1624"/>
          </a:solidFill>
          <a:ln w="9525">
            <a:solidFill>
              <a:srgbClr val="5DD39E"/>
            </a:solidFill>
            <a:prstDash val="solid"/>
          </a:ln>
        </p:spPr>
      </p:sp>
      <p:sp>
        <p:nvSpPr>
          <p:cNvPr id="63" name="Text 61"/>
          <p:cNvSpPr/>
          <p:nvPr/>
        </p:nvSpPr>
        <p:spPr>
          <a:xfrm>
            <a:off x="10075545" y="5102352"/>
            <a:ext cx="1371600" cy="228600"/>
          </a:xfrm>
          <a:prstGeom prst="rect">
            <a:avLst/>
          </a:prstGeom>
          <a:noFill/>
          <a:ln/>
        </p:spPr>
        <p:txBody>
          <a:bodyPr wrap="square" lIns="0" tIns="0" rIns="0" bIns="0" rtlCol="0" anchor="ctr"/>
          <a:lstStyle/>
          <a:p>
            <a:pPr algn="ctr" indent="0" marL="0">
              <a:buNone/>
            </a:pPr>
            <a:r>
              <a:rPr lang="en-US" sz="900" b="1" spc="300" kern="0" dirty="0">
                <a:solidFill>
                  <a:srgbClr val="5DD39E"/>
                </a:solidFill>
                <a:latin typeface="Consolas" pitchFamily="34" charset="0"/>
                <a:ea typeface="Consolas" pitchFamily="34" charset="-122"/>
                <a:cs typeface="Consolas" pitchFamily="34" charset="-120"/>
              </a:rPr>
              <a:t>NOV '24</a:t>
            </a:r>
            <a:endParaRPr lang="en-US" sz="900" dirty="0"/>
          </a:p>
        </p:txBody>
      </p:sp>
      <p:sp>
        <p:nvSpPr>
          <p:cNvPr id="64" name="Text 62"/>
          <p:cNvSpPr/>
          <p:nvPr/>
        </p:nvSpPr>
        <p:spPr>
          <a:xfrm>
            <a:off x="10121265" y="5330952"/>
            <a:ext cx="1280160" cy="457200"/>
          </a:xfrm>
          <a:prstGeom prst="rect">
            <a:avLst/>
          </a:prstGeom>
          <a:noFill/>
          <a:ln/>
        </p:spPr>
        <p:txBody>
          <a:bodyPr wrap="square" lIns="0" tIns="0" rIns="0" bIns="0" rtlCol="0" anchor="ctr"/>
          <a:lstStyle/>
          <a:p>
            <a:pPr algn="ctr" indent="0" marL="0">
              <a:buNone/>
            </a:pPr>
            <a:r>
              <a:rPr lang="en-US" sz="800" b="1" spc="200" kern="0" dirty="0">
                <a:solidFill>
                  <a:srgbClr val="ECF1F8"/>
                </a:solidFill>
                <a:latin typeface="Consolas" pitchFamily="34" charset="0"/>
                <a:ea typeface="Consolas" pitchFamily="34" charset="-122"/>
                <a:cs typeface="Consolas" pitchFamily="34" charset="-120"/>
              </a:rPr>
              <a:t>FY24 ANNUAL REPORT</a:t>
            </a:r>
            <a:endParaRPr lang="en-US" sz="800" dirty="0"/>
          </a:p>
        </p:txBody>
      </p:sp>
      <p:sp>
        <p:nvSpPr>
          <p:cNvPr id="65" name="Shape 63"/>
          <p:cNvSpPr/>
          <p:nvPr/>
        </p:nvSpPr>
        <p:spPr>
          <a:xfrm>
            <a:off x="731520" y="4023360"/>
            <a:ext cx="0" cy="73152"/>
          </a:xfrm>
          <a:prstGeom prst="line">
            <a:avLst/>
          </a:prstGeom>
          <a:noFill/>
          <a:ln w="6350">
            <a:solidFill>
              <a:srgbClr val="5C6A83"/>
            </a:solidFill>
            <a:prstDash val="solid"/>
          </a:ln>
        </p:spPr>
      </p:sp>
      <p:sp>
        <p:nvSpPr>
          <p:cNvPr id="66" name="Text 64"/>
          <p:cNvSpPr/>
          <p:nvPr/>
        </p:nvSpPr>
        <p:spPr>
          <a:xfrm>
            <a:off x="45720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2017</a:t>
            </a:r>
            <a:endParaRPr lang="en-US" sz="800" dirty="0"/>
          </a:p>
        </p:txBody>
      </p:sp>
      <p:sp>
        <p:nvSpPr>
          <p:cNvPr id="67" name="Shape 65"/>
          <p:cNvSpPr/>
          <p:nvPr/>
        </p:nvSpPr>
        <p:spPr>
          <a:xfrm>
            <a:off x="1920240" y="4023360"/>
            <a:ext cx="0" cy="73152"/>
          </a:xfrm>
          <a:prstGeom prst="line">
            <a:avLst/>
          </a:prstGeom>
          <a:noFill/>
          <a:ln w="6350">
            <a:solidFill>
              <a:srgbClr val="5C6A83"/>
            </a:solidFill>
            <a:prstDash val="solid"/>
          </a:ln>
        </p:spPr>
      </p:sp>
      <p:sp>
        <p:nvSpPr>
          <p:cNvPr id="68" name="Text 66"/>
          <p:cNvSpPr/>
          <p:nvPr/>
        </p:nvSpPr>
        <p:spPr>
          <a:xfrm>
            <a:off x="164592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2018</a:t>
            </a:r>
            <a:endParaRPr lang="en-US" sz="800" dirty="0"/>
          </a:p>
        </p:txBody>
      </p:sp>
      <p:sp>
        <p:nvSpPr>
          <p:cNvPr id="69" name="Shape 67"/>
          <p:cNvSpPr/>
          <p:nvPr/>
        </p:nvSpPr>
        <p:spPr>
          <a:xfrm>
            <a:off x="3108960" y="4023360"/>
            <a:ext cx="0" cy="73152"/>
          </a:xfrm>
          <a:prstGeom prst="line">
            <a:avLst/>
          </a:prstGeom>
          <a:noFill/>
          <a:ln w="6350">
            <a:solidFill>
              <a:srgbClr val="5C6A83"/>
            </a:solidFill>
            <a:prstDash val="solid"/>
          </a:ln>
        </p:spPr>
      </p:sp>
      <p:sp>
        <p:nvSpPr>
          <p:cNvPr id="70" name="Text 68"/>
          <p:cNvSpPr/>
          <p:nvPr/>
        </p:nvSpPr>
        <p:spPr>
          <a:xfrm>
            <a:off x="283464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2019</a:t>
            </a:r>
            <a:endParaRPr lang="en-US" sz="800" dirty="0"/>
          </a:p>
        </p:txBody>
      </p:sp>
      <p:sp>
        <p:nvSpPr>
          <p:cNvPr id="71" name="Shape 69"/>
          <p:cNvSpPr/>
          <p:nvPr/>
        </p:nvSpPr>
        <p:spPr>
          <a:xfrm>
            <a:off x="4297680" y="4023360"/>
            <a:ext cx="0" cy="73152"/>
          </a:xfrm>
          <a:prstGeom prst="line">
            <a:avLst/>
          </a:prstGeom>
          <a:noFill/>
          <a:ln w="6350">
            <a:solidFill>
              <a:srgbClr val="5C6A83"/>
            </a:solidFill>
            <a:prstDash val="solid"/>
          </a:ln>
        </p:spPr>
      </p:sp>
      <p:sp>
        <p:nvSpPr>
          <p:cNvPr id="72" name="Text 70"/>
          <p:cNvSpPr/>
          <p:nvPr/>
        </p:nvSpPr>
        <p:spPr>
          <a:xfrm>
            <a:off x="402336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2020</a:t>
            </a:r>
            <a:endParaRPr lang="en-US" sz="800" dirty="0"/>
          </a:p>
        </p:txBody>
      </p:sp>
      <p:sp>
        <p:nvSpPr>
          <p:cNvPr id="73" name="Shape 71"/>
          <p:cNvSpPr/>
          <p:nvPr/>
        </p:nvSpPr>
        <p:spPr>
          <a:xfrm>
            <a:off x="5486400" y="4023360"/>
            <a:ext cx="0" cy="73152"/>
          </a:xfrm>
          <a:prstGeom prst="line">
            <a:avLst/>
          </a:prstGeom>
          <a:noFill/>
          <a:ln w="6350">
            <a:solidFill>
              <a:srgbClr val="5C6A83"/>
            </a:solidFill>
            <a:prstDash val="solid"/>
          </a:ln>
        </p:spPr>
      </p:sp>
      <p:sp>
        <p:nvSpPr>
          <p:cNvPr id="74" name="Text 72"/>
          <p:cNvSpPr/>
          <p:nvPr/>
        </p:nvSpPr>
        <p:spPr>
          <a:xfrm>
            <a:off x="521208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2021</a:t>
            </a:r>
            <a:endParaRPr lang="en-US" sz="800" dirty="0"/>
          </a:p>
        </p:txBody>
      </p:sp>
      <p:sp>
        <p:nvSpPr>
          <p:cNvPr id="75" name="Shape 73"/>
          <p:cNvSpPr/>
          <p:nvPr/>
        </p:nvSpPr>
        <p:spPr>
          <a:xfrm>
            <a:off x="6675120" y="4023360"/>
            <a:ext cx="0" cy="73152"/>
          </a:xfrm>
          <a:prstGeom prst="line">
            <a:avLst/>
          </a:prstGeom>
          <a:noFill/>
          <a:ln w="6350">
            <a:solidFill>
              <a:srgbClr val="5C6A83"/>
            </a:solidFill>
            <a:prstDash val="solid"/>
          </a:ln>
        </p:spPr>
      </p:sp>
      <p:sp>
        <p:nvSpPr>
          <p:cNvPr id="76" name="Text 74"/>
          <p:cNvSpPr/>
          <p:nvPr/>
        </p:nvSpPr>
        <p:spPr>
          <a:xfrm>
            <a:off x="640080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2022</a:t>
            </a:r>
            <a:endParaRPr lang="en-US" sz="800" dirty="0"/>
          </a:p>
        </p:txBody>
      </p:sp>
      <p:sp>
        <p:nvSpPr>
          <p:cNvPr id="77" name="Shape 75"/>
          <p:cNvSpPr/>
          <p:nvPr/>
        </p:nvSpPr>
        <p:spPr>
          <a:xfrm>
            <a:off x="7863840" y="4023360"/>
            <a:ext cx="0" cy="73152"/>
          </a:xfrm>
          <a:prstGeom prst="line">
            <a:avLst/>
          </a:prstGeom>
          <a:noFill/>
          <a:ln w="6350">
            <a:solidFill>
              <a:srgbClr val="5C6A83"/>
            </a:solidFill>
            <a:prstDash val="solid"/>
          </a:ln>
        </p:spPr>
      </p:sp>
      <p:sp>
        <p:nvSpPr>
          <p:cNvPr id="78" name="Text 76"/>
          <p:cNvSpPr/>
          <p:nvPr/>
        </p:nvSpPr>
        <p:spPr>
          <a:xfrm>
            <a:off x="758952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2023</a:t>
            </a:r>
            <a:endParaRPr lang="en-US" sz="800" dirty="0"/>
          </a:p>
        </p:txBody>
      </p:sp>
      <p:sp>
        <p:nvSpPr>
          <p:cNvPr id="79" name="Shape 77"/>
          <p:cNvSpPr/>
          <p:nvPr/>
        </p:nvSpPr>
        <p:spPr>
          <a:xfrm>
            <a:off x="9052560" y="4023360"/>
            <a:ext cx="0" cy="73152"/>
          </a:xfrm>
          <a:prstGeom prst="line">
            <a:avLst/>
          </a:prstGeom>
          <a:noFill/>
          <a:ln w="6350">
            <a:solidFill>
              <a:srgbClr val="5C6A83"/>
            </a:solidFill>
            <a:prstDash val="solid"/>
          </a:ln>
        </p:spPr>
      </p:sp>
      <p:sp>
        <p:nvSpPr>
          <p:cNvPr id="80" name="Text 78"/>
          <p:cNvSpPr/>
          <p:nvPr/>
        </p:nvSpPr>
        <p:spPr>
          <a:xfrm>
            <a:off x="877824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2024</a:t>
            </a:r>
            <a:endParaRPr lang="en-US" sz="800" dirty="0"/>
          </a:p>
        </p:txBody>
      </p:sp>
      <p:sp>
        <p:nvSpPr>
          <p:cNvPr id="81" name="Shape 79"/>
          <p:cNvSpPr/>
          <p:nvPr/>
        </p:nvSpPr>
        <p:spPr>
          <a:xfrm>
            <a:off x="10241280" y="4023360"/>
            <a:ext cx="0" cy="73152"/>
          </a:xfrm>
          <a:prstGeom prst="line">
            <a:avLst/>
          </a:prstGeom>
          <a:noFill/>
          <a:ln w="6350">
            <a:solidFill>
              <a:srgbClr val="5C6A83"/>
            </a:solidFill>
            <a:prstDash val="solid"/>
          </a:ln>
        </p:spPr>
      </p:sp>
      <p:sp>
        <p:nvSpPr>
          <p:cNvPr id="82" name="Text 80"/>
          <p:cNvSpPr/>
          <p:nvPr/>
        </p:nvSpPr>
        <p:spPr>
          <a:xfrm>
            <a:off x="996696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2025</a:t>
            </a:r>
            <a:endParaRPr lang="en-US" sz="800" dirty="0"/>
          </a:p>
        </p:txBody>
      </p:sp>
      <p:sp>
        <p:nvSpPr>
          <p:cNvPr id="83" name="Shape 81"/>
          <p:cNvSpPr/>
          <p:nvPr/>
        </p:nvSpPr>
        <p:spPr>
          <a:xfrm>
            <a:off x="11430000" y="4023360"/>
            <a:ext cx="0" cy="73152"/>
          </a:xfrm>
          <a:prstGeom prst="line">
            <a:avLst/>
          </a:prstGeom>
          <a:noFill/>
          <a:ln w="6350">
            <a:solidFill>
              <a:srgbClr val="5C6A83"/>
            </a:solidFill>
            <a:prstDash val="solid"/>
          </a:ln>
        </p:spPr>
      </p:sp>
      <p:sp>
        <p:nvSpPr>
          <p:cNvPr id="84" name="Text 82"/>
          <p:cNvSpPr/>
          <p:nvPr/>
        </p:nvSpPr>
        <p:spPr>
          <a:xfrm>
            <a:off x="11155680" y="4133088"/>
            <a:ext cx="548640" cy="228600"/>
          </a:xfrm>
          <a:prstGeom prst="rect">
            <a:avLst/>
          </a:prstGeom>
          <a:noFill/>
          <a:ln/>
        </p:spPr>
        <p:txBody>
          <a:bodyPr wrap="square" lIns="0" tIns="0" rIns="0" bIns="0" rtlCol="0" anchor="ctr"/>
          <a:lstStyle/>
          <a:p>
            <a:pPr algn="ctr" indent="0" marL="0">
              <a:buNone/>
            </a:pPr>
            <a:r>
              <a:rPr lang="en-US" sz="800" dirty="0">
                <a:solidFill>
                  <a:srgbClr val="5C6A83"/>
                </a:solidFill>
                <a:latin typeface="Consolas" pitchFamily="34" charset="0"/>
                <a:ea typeface="Consolas" pitchFamily="34" charset="-122"/>
                <a:cs typeface="Consolas" pitchFamily="34" charset="-120"/>
              </a:rPr>
              <a:t>2026</a:t>
            </a:r>
            <a:endParaRPr lang="en-US" sz="800" dirty="0"/>
          </a:p>
        </p:txBody>
      </p:sp>
      <p:sp>
        <p:nvSpPr>
          <p:cNvPr id="85" name="Text 83"/>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A decade of increasing transparency — one commercial headline, four official reports, two Congressional hearings.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365760" y="365760"/>
            <a:ext cx="320040" cy="27432"/>
          </a:xfrm>
          <a:prstGeom prst="rect">
            <a:avLst/>
          </a:prstGeom>
          <a:solidFill>
            <a:srgbClr val="38D9F0"/>
          </a:solidFill>
          <a:ln w="12700">
            <a:solidFill>
              <a:srgbClr val="38D9F0"/>
            </a:solidFill>
            <a:prstDash val="solid"/>
          </a:ln>
        </p:spPr>
      </p:sp>
      <p:sp>
        <p:nvSpPr>
          <p:cNvPr id="3" name="Shape 1"/>
          <p:cNvSpPr/>
          <p:nvPr/>
        </p:nvSpPr>
        <p:spPr>
          <a:xfrm>
            <a:off x="11475720" y="365760"/>
            <a:ext cx="320040" cy="27432"/>
          </a:xfrm>
          <a:prstGeom prst="rect">
            <a:avLst/>
          </a:prstGeom>
          <a:solidFill>
            <a:srgbClr val="38D9F0"/>
          </a:solidFill>
          <a:ln w="12700">
            <a:solidFill>
              <a:srgbClr val="38D9F0"/>
            </a:solidFill>
            <a:prstDash val="solid"/>
          </a:ln>
        </p:spPr>
      </p:sp>
      <p:sp>
        <p:nvSpPr>
          <p:cNvPr id="4" name="Shape 2"/>
          <p:cNvSpPr/>
          <p:nvPr/>
        </p:nvSpPr>
        <p:spPr>
          <a:xfrm>
            <a:off x="365760" y="6464808"/>
            <a:ext cx="320040" cy="27432"/>
          </a:xfrm>
          <a:prstGeom prst="rect">
            <a:avLst/>
          </a:prstGeom>
          <a:solidFill>
            <a:srgbClr val="38D9F0"/>
          </a:solidFill>
          <a:ln w="12700">
            <a:solidFill>
              <a:srgbClr val="38D9F0"/>
            </a:solidFill>
            <a:prstDash val="solid"/>
          </a:ln>
        </p:spPr>
      </p:sp>
      <p:sp>
        <p:nvSpPr>
          <p:cNvPr id="5" name="Shape 3"/>
          <p:cNvSpPr/>
          <p:nvPr/>
        </p:nvSpPr>
        <p:spPr>
          <a:xfrm>
            <a:off x="11475720" y="6464808"/>
            <a:ext cx="320040" cy="27432"/>
          </a:xfrm>
          <a:prstGeom prst="rect">
            <a:avLst/>
          </a:prstGeom>
          <a:solidFill>
            <a:srgbClr val="38D9F0"/>
          </a:solidFill>
          <a:ln w="12700">
            <a:solidFill>
              <a:srgbClr val="38D9F0"/>
            </a:solidFill>
            <a:prstDash val="solid"/>
          </a:ln>
        </p:spPr>
      </p:sp>
      <p:sp>
        <p:nvSpPr>
          <p:cNvPr id="6" name="Shape 4"/>
          <p:cNvSpPr/>
          <p:nvPr/>
        </p:nvSpPr>
        <p:spPr>
          <a:xfrm>
            <a:off x="365760" y="502920"/>
            <a:ext cx="11430000" cy="0"/>
          </a:xfrm>
          <a:prstGeom prst="line">
            <a:avLst/>
          </a:prstGeom>
          <a:noFill/>
          <a:ln w="6350">
            <a:solidFill>
              <a:srgbClr val="1C2840"/>
            </a:solidFill>
            <a:prstDash val="solid"/>
          </a:ln>
        </p:spPr>
      </p:sp>
      <p:sp>
        <p:nvSpPr>
          <p:cNvPr id="7" name="Shape 5"/>
          <p:cNvSpPr/>
          <p:nvPr/>
        </p:nvSpPr>
        <p:spPr>
          <a:xfrm>
            <a:off x="365760" y="6355080"/>
            <a:ext cx="11430000" cy="0"/>
          </a:xfrm>
          <a:prstGeom prst="line">
            <a:avLst/>
          </a:prstGeom>
          <a:noFill/>
          <a:ln w="6350">
            <a:solidFill>
              <a:srgbClr val="1C2840"/>
            </a:solidFill>
            <a:prstDash val="solid"/>
          </a:ln>
        </p:spPr>
      </p:sp>
      <p:sp>
        <p:nvSpPr>
          <p:cNvPr id="8" name="Shape 6"/>
          <p:cNvSpPr/>
          <p:nvPr/>
        </p:nvSpPr>
        <p:spPr>
          <a:xfrm>
            <a:off x="201168" y="201168"/>
            <a:ext cx="201168" cy="25603"/>
          </a:xfrm>
          <a:prstGeom prst="rect">
            <a:avLst/>
          </a:prstGeom>
          <a:solidFill>
            <a:srgbClr val="38D9F0"/>
          </a:solidFill>
          <a:ln w="12700">
            <a:solidFill>
              <a:srgbClr val="38D9F0"/>
            </a:solidFill>
            <a:prstDash val="solid"/>
          </a:ln>
        </p:spPr>
      </p:sp>
      <p:sp>
        <p:nvSpPr>
          <p:cNvPr id="9" name="Shape 7"/>
          <p:cNvSpPr/>
          <p:nvPr/>
        </p:nvSpPr>
        <p:spPr>
          <a:xfrm>
            <a:off x="201168" y="201168"/>
            <a:ext cx="25603" cy="201168"/>
          </a:xfrm>
          <a:prstGeom prst="rect">
            <a:avLst/>
          </a:prstGeom>
          <a:solidFill>
            <a:srgbClr val="38D9F0"/>
          </a:solidFill>
          <a:ln w="12700">
            <a:solidFill>
              <a:srgbClr val="38D9F0"/>
            </a:solidFill>
            <a:prstDash val="solid"/>
          </a:ln>
        </p:spPr>
      </p:sp>
      <p:sp>
        <p:nvSpPr>
          <p:cNvPr id="10" name="Shape 8"/>
          <p:cNvSpPr/>
          <p:nvPr/>
        </p:nvSpPr>
        <p:spPr>
          <a:xfrm>
            <a:off x="11759184" y="201168"/>
            <a:ext cx="201168" cy="25603"/>
          </a:xfrm>
          <a:prstGeom prst="rect">
            <a:avLst/>
          </a:prstGeom>
          <a:solidFill>
            <a:srgbClr val="38D9F0"/>
          </a:solidFill>
          <a:ln w="12700">
            <a:solidFill>
              <a:srgbClr val="38D9F0"/>
            </a:solidFill>
            <a:prstDash val="solid"/>
          </a:ln>
        </p:spPr>
      </p:sp>
      <p:sp>
        <p:nvSpPr>
          <p:cNvPr id="11" name="Shape 9"/>
          <p:cNvSpPr/>
          <p:nvPr/>
        </p:nvSpPr>
        <p:spPr>
          <a:xfrm>
            <a:off x="11934749" y="201168"/>
            <a:ext cx="25603" cy="201168"/>
          </a:xfrm>
          <a:prstGeom prst="rect">
            <a:avLst/>
          </a:prstGeom>
          <a:solidFill>
            <a:srgbClr val="38D9F0"/>
          </a:solidFill>
          <a:ln w="12700">
            <a:solidFill>
              <a:srgbClr val="38D9F0"/>
            </a:solidFill>
            <a:prstDash val="solid"/>
          </a:ln>
        </p:spPr>
      </p:sp>
      <p:sp>
        <p:nvSpPr>
          <p:cNvPr id="12" name="Shape 10"/>
          <p:cNvSpPr/>
          <p:nvPr/>
        </p:nvSpPr>
        <p:spPr>
          <a:xfrm>
            <a:off x="201168" y="6631229"/>
            <a:ext cx="201168" cy="25603"/>
          </a:xfrm>
          <a:prstGeom prst="rect">
            <a:avLst/>
          </a:prstGeom>
          <a:solidFill>
            <a:srgbClr val="38D9F0"/>
          </a:solidFill>
          <a:ln w="12700">
            <a:solidFill>
              <a:srgbClr val="38D9F0"/>
            </a:solidFill>
            <a:prstDash val="solid"/>
          </a:ln>
        </p:spPr>
      </p:sp>
      <p:sp>
        <p:nvSpPr>
          <p:cNvPr id="13" name="Shape 11"/>
          <p:cNvSpPr/>
          <p:nvPr/>
        </p:nvSpPr>
        <p:spPr>
          <a:xfrm>
            <a:off x="201168" y="6455664"/>
            <a:ext cx="25603" cy="201168"/>
          </a:xfrm>
          <a:prstGeom prst="rect">
            <a:avLst/>
          </a:prstGeom>
          <a:solidFill>
            <a:srgbClr val="38D9F0"/>
          </a:solidFill>
          <a:ln w="12700">
            <a:solidFill>
              <a:srgbClr val="38D9F0"/>
            </a:solidFill>
            <a:prstDash val="solid"/>
          </a:ln>
        </p:spPr>
      </p:sp>
      <p:sp>
        <p:nvSpPr>
          <p:cNvPr id="14" name="Shape 12"/>
          <p:cNvSpPr/>
          <p:nvPr/>
        </p:nvSpPr>
        <p:spPr>
          <a:xfrm>
            <a:off x="11759184" y="6631229"/>
            <a:ext cx="201168" cy="25603"/>
          </a:xfrm>
          <a:prstGeom prst="rect">
            <a:avLst/>
          </a:prstGeom>
          <a:solidFill>
            <a:srgbClr val="38D9F0"/>
          </a:solidFill>
          <a:ln w="12700">
            <a:solidFill>
              <a:srgbClr val="38D9F0"/>
            </a:solidFill>
            <a:prstDash val="solid"/>
          </a:ln>
        </p:spPr>
      </p:sp>
      <p:sp>
        <p:nvSpPr>
          <p:cNvPr id="15" name="Shape 13"/>
          <p:cNvSpPr/>
          <p:nvPr/>
        </p:nvSpPr>
        <p:spPr>
          <a:xfrm>
            <a:off x="11934749" y="6455664"/>
            <a:ext cx="25603" cy="201168"/>
          </a:xfrm>
          <a:prstGeom prst="rect">
            <a:avLst/>
          </a:prstGeom>
          <a:solidFill>
            <a:srgbClr val="38D9F0"/>
          </a:solidFill>
          <a:ln w="12700">
            <a:solidFill>
              <a:srgbClr val="38D9F0"/>
            </a:solidFill>
            <a:prstDash val="solid"/>
          </a:ln>
        </p:spPr>
      </p:sp>
      <p:sp>
        <p:nvSpPr>
          <p:cNvPr id="16" name="Text 14"/>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DOC-039  //  UAP ARCHIVE  //  VOL. I</a:t>
            </a:r>
            <a:endParaRPr lang="en-US" sz="900" dirty="0"/>
          </a:p>
        </p:txBody>
      </p:sp>
      <p:sp>
        <p:nvSpPr>
          <p:cNvPr id="17" name="Text 15"/>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EPISTEMIC MATRIX · 2026</a:t>
            </a:r>
            <a:endParaRPr lang="en-US" sz="900" dirty="0"/>
          </a:p>
        </p:txBody>
      </p:sp>
      <p:sp>
        <p:nvSpPr>
          <p:cNvPr id="18" name="Text 16"/>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ACT IV · OPEN QUESTIONS</a:t>
            </a:r>
            <a:endParaRPr lang="en-US" sz="850" dirty="0"/>
          </a:p>
        </p:txBody>
      </p:sp>
      <p:sp>
        <p:nvSpPr>
          <p:cNvPr id="19" name="Text 17"/>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39 / 40</a:t>
            </a:r>
            <a:endParaRPr lang="en-US" sz="850" dirty="0"/>
          </a:p>
        </p:txBody>
      </p:sp>
      <p:sp>
        <p:nvSpPr>
          <p:cNvPr id="20" name="Text 18"/>
          <p:cNvSpPr/>
          <p:nvPr/>
        </p:nvSpPr>
        <p:spPr>
          <a:xfrm>
            <a:off x="548640" y="685800"/>
            <a:ext cx="9144000" cy="320040"/>
          </a:xfrm>
          <a:prstGeom prst="rect">
            <a:avLst/>
          </a:prstGeom>
          <a:noFill/>
          <a:ln/>
        </p:spPr>
        <p:txBody>
          <a:bodyPr wrap="square" lIns="0" tIns="0" rIns="0" bIns="0" rtlCol="0" anchor="ctr"/>
          <a:lstStyle/>
          <a:p>
            <a:pPr indent="0" marL="0">
              <a:buNone/>
            </a:pPr>
            <a:r>
              <a:rPr lang="en-US" sz="1100" b="1" spc="500" kern="0" dirty="0">
                <a:solidFill>
                  <a:srgbClr val="F5B024"/>
                </a:solidFill>
                <a:latin typeface="Consolas" pitchFamily="34" charset="0"/>
                <a:ea typeface="Consolas" pitchFamily="34" charset="-122"/>
                <a:cs typeface="Consolas" pitchFamily="34" charset="-120"/>
              </a:rPr>
              <a:t>ACT IV  ·  SECTION 17</a:t>
            </a:r>
            <a:endParaRPr lang="en-US" sz="1100" dirty="0"/>
          </a:p>
        </p:txBody>
      </p:sp>
      <p:sp>
        <p:nvSpPr>
          <p:cNvPr id="21" name="Text 19"/>
          <p:cNvSpPr/>
          <p:nvPr/>
        </p:nvSpPr>
        <p:spPr>
          <a:xfrm>
            <a:off x="548640" y="1005840"/>
            <a:ext cx="11064240" cy="777240"/>
          </a:xfrm>
          <a:prstGeom prst="rect">
            <a:avLst/>
          </a:prstGeom>
          <a:noFill/>
          <a:ln/>
        </p:spPr>
        <p:txBody>
          <a:bodyPr wrap="square" lIns="0" tIns="0" rIns="0" bIns="0" rtlCol="0" anchor="ctr"/>
          <a:lstStyle/>
          <a:p>
            <a:pPr indent="0" marL="0">
              <a:buNone/>
            </a:pPr>
            <a:r>
              <a:rPr lang="en-US" sz="3400" dirty="0">
                <a:solidFill>
                  <a:srgbClr val="ECF1F8"/>
                </a:solidFill>
                <a:latin typeface="Arial Black" pitchFamily="34" charset="0"/>
                <a:ea typeface="Arial Black" pitchFamily="34" charset="-122"/>
                <a:cs typeface="Arial Black" pitchFamily="34" charset="-120"/>
              </a:rPr>
              <a:t>Open Questions  ·  What We Do &amp; Don’t Know</a:t>
            </a:r>
            <a:endParaRPr lang="en-US" sz="3400" dirty="0"/>
          </a:p>
        </p:txBody>
      </p:sp>
      <p:sp>
        <p:nvSpPr>
          <p:cNvPr id="22" name="Shape 20"/>
          <p:cNvSpPr/>
          <p:nvPr/>
        </p:nvSpPr>
        <p:spPr>
          <a:xfrm>
            <a:off x="548640" y="1828800"/>
            <a:ext cx="822960" cy="36576"/>
          </a:xfrm>
          <a:prstGeom prst="rect">
            <a:avLst/>
          </a:prstGeom>
          <a:solidFill>
            <a:srgbClr val="38D9F0"/>
          </a:solidFill>
          <a:ln w="12700">
            <a:solidFill>
              <a:srgbClr val="38D9F0"/>
            </a:solidFill>
            <a:prstDash val="solid"/>
          </a:ln>
        </p:spPr>
      </p:sp>
      <p:sp>
        <p:nvSpPr>
          <p:cNvPr id="23" name="Shape 21"/>
          <p:cNvSpPr/>
          <p:nvPr/>
        </p:nvSpPr>
        <p:spPr>
          <a:xfrm>
            <a:off x="1417320" y="1828800"/>
            <a:ext cx="10195560" cy="18288"/>
          </a:xfrm>
          <a:prstGeom prst="rect">
            <a:avLst/>
          </a:prstGeom>
          <a:solidFill>
            <a:srgbClr val="2B3A55"/>
          </a:solidFill>
          <a:ln w="12700">
            <a:solidFill>
              <a:srgbClr val="2B3A55"/>
            </a:solidFill>
            <a:prstDash val="solid"/>
          </a:ln>
        </p:spPr>
      </p:sp>
      <p:sp>
        <p:nvSpPr>
          <p:cNvPr id="24" name="Shape 22"/>
          <p:cNvSpPr/>
          <p:nvPr/>
        </p:nvSpPr>
        <p:spPr>
          <a:xfrm>
            <a:off x="548640" y="2194560"/>
            <a:ext cx="5440680" cy="3840480"/>
          </a:xfrm>
          <a:prstGeom prst="rect">
            <a:avLst/>
          </a:prstGeom>
          <a:solidFill>
            <a:srgbClr val="0F1624"/>
          </a:solidFill>
          <a:ln w="9525">
            <a:solidFill>
              <a:srgbClr val="2B3A55"/>
            </a:solidFill>
            <a:prstDash val="solid"/>
          </a:ln>
        </p:spPr>
      </p:sp>
      <p:sp>
        <p:nvSpPr>
          <p:cNvPr id="25" name="Shape 23"/>
          <p:cNvSpPr/>
          <p:nvPr/>
        </p:nvSpPr>
        <p:spPr>
          <a:xfrm>
            <a:off x="548640" y="2194560"/>
            <a:ext cx="54864" cy="3840480"/>
          </a:xfrm>
          <a:prstGeom prst="rect">
            <a:avLst/>
          </a:prstGeom>
          <a:solidFill>
            <a:srgbClr val="5DD39E"/>
          </a:solidFill>
          <a:ln w="12700">
            <a:solidFill>
              <a:srgbClr val="5DD39E"/>
            </a:solidFill>
            <a:prstDash val="solid"/>
          </a:ln>
        </p:spPr>
      </p:sp>
      <p:sp>
        <p:nvSpPr>
          <p:cNvPr id="26" name="Text 24"/>
          <p:cNvSpPr/>
          <p:nvPr/>
        </p:nvSpPr>
        <p:spPr>
          <a:xfrm>
            <a:off x="777240" y="2423160"/>
            <a:ext cx="5074920" cy="365760"/>
          </a:xfrm>
          <a:prstGeom prst="rect">
            <a:avLst/>
          </a:prstGeom>
          <a:noFill/>
          <a:ln/>
        </p:spPr>
        <p:txBody>
          <a:bodyPr wrap="square" lIns="0" tIns="0" rIns="0" bIns="0" rtlCol="0" anchor="ctr"/>
          <a:lstStyle/>
          <a:p>
            <a:pPr indent="0" marL="0">
              <a:buNone/>
            </a:pPr>
            <a:r>
              <a:rPr lang="en-US" sz="1200" b="1" spc="500" kern="0" dirty="0">
                <a:solidFill>
                  <a:srgbClr val="5DD39E"/>
                </a:solidFill>
                <a:latin typeface="Consolas" pitchFamily="34" charset="0"/>
                <a:ea typeface="Consolas" pitchFamily="34" charset="-122"/>
                <a:cs typeface="Consolas" pitchFamily="34" charset="-120"/>
              </a:rPr>
              <a:t>ESTABLISHED</a:t>
            </a:r>
            <a:endParaRPr lang="en-US" sz="1200" dirty="0"/>
          </a:p>
        </p:txBody>
      </p:sp>
      <p:sp>
        <p:nvSpPr>
          <p:cNvPr id="27" name="Shape 25"/>
          <p:cNvSpPr/>
          <p:nvPr/>
        </p:nvSpPr>
        <p:spPr>
          <a:xfrm>
            <a:off x="777240" y="2834640"/>
            <a:ext cx="4983480" cy="0"/>
          </a:xfrm>
          <a:prstGeom prst="line">
            <a:avLst/>
          </a:prstGeom>
          <a:noFill/>
          <a:ln w="9525">
            <a:solidFill>
              <a:srgbClr val="2B3A55"/>
            </a:solidFill>
            <a:prstDash val="solid"/>
          </a:ln>
        </p:spPr>
      </p:sp>
      <p:sp>
        <p:nvSpPr>
          <p:cNvPr id="28" name="Text 26"/>
          <p:cNvSpPr/>
          <p:nvPr/>
        </p:nvSpPr>
        <p:spPr>
          <a:xfrm>
            <a:off x="777240" y="2971800"/>
            <a:ext cx="5074920" cy="2834640"/>
          </a:xfrm>
          <a:prstGeom prst="rect">
            <a:avLst/>
          </a:prstGeom>
          <a:noFill/>
          <a:ln/>
        </p:spPr>
        <p:txBody>
          <a:bodyPr wrap="square" lIns="0" tIns="0" rIns="0" bIns="0" rtlCol="0" anchor="t"/>
          <a:lstStyle/>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01   Pilots routinely report objects exhibiting anomalous flight characteristics.</a:t>
            </a:r>
            <a:endParaRPr lang="en-US" sz="1250" dirty="0"/>
          </a:p>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02   Multi-sensor signatures (radar + IR + visual) are real and reproducible.</a:t>
            </a:r>
            <a:endParaRPr lang="en-US" sz="1250" dirty="0"/>
          </a:p>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03   A sustained, low-budget UAP effort existed inside the DoD since at least 2008.</a:t>
            </a:r>
            <a:endParaRPr lang="en-US" sz="1250" dirty="0"/>
          </a:p>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04   AARO is an operational, congressionally funded office.</a:t>
            </a:r>
            <a:endParaRPr lang="en-US" sz="1250" dirty="0"/>
          </a:p>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05   A subset (~21 of 757 FY24) remain unresolved after investigation.</a:t>
            </a:r>
            <a:endParaRPr lang="en-US" sz="1250" dirty="0"/>
          </a:p>
        </p:txBody>
      </p:sp>
      <p:sp>
        <p:nvSpPr>
          <p:cNvPr id="29" name="Shape 27"/>
          <p:cNvSpPr/>
          <p:nvPr/>
        </p:nvSpPr>
        <p:spPr>
          <a:xfrm>
            <a:off x="6172200" y="2194560"/>
            <a:ext cx="5440680" cy="3840480"/>
          </a:xfrm>
          <a:prstGeom prst="rect">
            <a:avLst/>
          </a:prstGeom>
          <a:solidFill>
            <a:srgbClr val="0F1624"/>
          </a:solidFill>
          <a:ln w="9525">
            <a:solidFill>
              <a:srgbClr val="2B3A55"/>
            </a:solidFill>
            <a:prstDash val="solid"/>
          </a:ln>
        </p:spPr>
      </p:sp>
      <p:sp>
        <p:nvSpPr>
          <p:cNvPr id="30" name="Shape 28"/>
          <p:cNvSpPr/>
          <p:nvPr/>
        </p:nvSpPr>
        <p:spPr>
          <a:xfrm>
            <a:off x="6172200" y="2194560"/>
            <a:ext cx="54864" cy="3840480"/>
          </a:xfrm>
          <a:prstGeom prst="rect">
            <a:avLst/>
          </a:prstGeom>
          <a:solidFill>
            <a:srgbClr val="E8434C"/>
          </a:solidFill>
          <a:ln w="12700">
            <a:solidFill>
              <a:srgbClr val="E8434C"/>
            </a:solidFill>
            <a:prstDash val="solid"/>
          </a:ln>
        </p:spPr>
      </p:sp>
      <p:sp>
        <p:nvSpPr>
          <p:cNvPr id="31" name="Text 29"/>
          <p:cNvSpPr/>
          <p:nvPr/>
        </p:nvSpPr>
        <p:spPr>
          <a:xfrm>
            <a:off x="6400800" y="2423160"/>
            <a:ext cx="5074920" cy="365760"/>
          </a:xfrm>
          <a:prstGeom prst="rect">
            <a:avLst/>
          </a:prstGeom>
          <a:noFill/>
          <a:ln/>
        </p:spPr>
        <p:txBody>
          <a:bodyPr wrap="square" lIns="0" tIns="0" rIns="0" bIns="0" rtlCol="0" anchor="ctr"/>
          <a:lstStyle/>
          <a:p>
            <a:pPr indent="0" marL="0">
              <a:buNone/>
            </a:pPr>
            <a:r>
              <a:rPr lang="en-US" sz="1200" b="1" spc="500" kern="0" dirty="0">
                <a:solidFill>
                  <a:srgbClr val="E8434C"/>
                </a:solidFill>
                <a:latin typeface="Consolas" pitchFamily="34" charset="0"/>
                <a:ea typeface="Consolas" pitchFamily="34" charset="-122"/>
                <a:cs typeface="Consolas" pitchFamily="34" charset="-120"/>
              </a:rPr>
              <a:t>UNRESOLVED</a:t>
            </a:r>
            <a:endParaRPr lang="en-US" sz="1200" dirty="0"/>
          </a:p>
        </p:txBody>
      </p:sp>
      <p:sp>
        <p:nvSpPr>
          <p:cNvPr id="32" name="Shape 30"/>
          <p:cNvSpPr/>
          <p:nvPr/>
        </p:nvSpPr>
        <p:spPr>
          <a:xfrm>
            <a:off x="6400800" y="2834640"/>
            <a:ext cx="4983480" cy="0"/>
          </a:xfrm>
          <a:prstGeom prst="line">
            <a:avLst/>
          </a:prstGeom>
          <a:noFill/>
          <a:ln w="9525">
            <a:solidFill>
              <a:srgbClr val="2B3A55"/>
            </a:solidFill>
            <a:prstDash val="solid"/>
          </a:ln>
        </p:spPr>
      </p:sp>
      <p:sp>
        <p:nvSpPr>
          <p:cNvPr id="33" name="Text 31"/>
          <p:cNvSpPr/>
          <p:nvPr/>
        </p:nvSpPr>
        <p:spPr>
          <a:xfrm>
            <a:off x="6400800" y="2971800"/>
            <a:ext cx="5074920" cy="2834640"/>
          </a:xfrm>
          <a:prstGeom prst="rect">
            <a:avLst/>
          </a:prstGeom>
          <a:noFill/>
          <a:ln/>
        </p:spPr>
        <p:txBody>
          <a:bodyPr wrap="square" lIns="0" tIns="0" rIns="0" bIns="0" rtlCol="0" anchor="t"/>
          <a:lstStyle/>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01   Whether any UAP represents a non-human technology.</a:t>
            </a:r>
            <a:endParaRPr lang="en-US" sz="1250" dirty="0"/>
          </a:p>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02   Whether classified crash-retrieval programs exist, as alleged.</a:t>
            </a:r>
            <a:endParaRPr lang="en-US" sz="1250" dirty="0"/>
          </a:p>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03   Whether the ~21 “truly anomalous” cases reflect physics beyond current models.</a:t>
            </a:r>
            <a:endParaRPr lang="en-US" sz="1250" dirty="0"/>
          </a:p>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04   The mechanism behind Tic Tac-class descent/acceleration, if the observations are accurate.</a:t>
            </a:r>
            <a:endParaRPr lang="en-US" sz="1250" dirty="0"/>
          </a:p>
          <a:p>
            <a:pPr indent="0" marL="0">
              <a:spcAft>
                <a:spcPts val="1000"/>
              </a:spcAft>
              <a:buNone/>
            </a:pPr>
            <a:r>
              <a:rPr lang="en-US" sz="1250" dirty="0">
                <a:solidFill>
                  <a:srgbClr val="ECF1F8"/>
                </a:solidFill>
                <a:latin typeface="Calibri" pitchFamily="34" charset="0"/>
                <a:ea typeface="Calibri" pitchFamily="34" charset="-122"/>
                <a:cs typeface="Calibri" pitchFamily="34" charset="-120"/>
              </a:rPr>
              <a:t>05   Whether public-facing AARO data reflects the full scope of Pentagon knowledge.</a:t>
            </a:r>
            <a:endParaRPr lang="en-US" sz="1250" dirty="0"/>
          </a:p>
        </p:txBody>
      </p:sp>
      <p:sp>
        <p:nvSpPr>
          <p:cNvPr id="34" name="Text 32"/>
          <p:cNvSpPr/>
          <p:nvPr/>
        </p:nvSpPr>
        <p:spPr>
          <a:xfrm>
            <a:off x="548640" y="6144768"/>
            <a:ext cx="11064240" cy="256032"/>
          </a:xfrm>
          <a:prstGeom prst="rect">
            <a:avLst/>
          </a:prstGeom>
          <a:noFill/>
          <a:ln/>
        </p:spPr>
        <p:txBody>
          <a:bodyPr wrap="square" lIns="0" tIns="0" rIns="0" bIns="0" rtlCol="0" anchor="ctr"/>
          <a:lstStyle/>
          <a:p>
            <a:pPr indent="0" marL="0">
              <a:buNone/>
            </a:pPr>
            <a:r>
              <a:rPr lang="en-US" sz="900" i="1" dirty="0">
                <a:solidFill>
                  <a:srgbClr val="5C6A83"/>
                </a:solidFill>
                <a:latin typeface="Consolas" pitchFamily="34" charset="0"/>
                <a:ea typeface="Consolas" pitchFamily="34" charset="-122"/>
                <a:cs typeface="Consolas" pitchFamily="34" charset="-120"/>
              </a:rPr>
              <a:t>// The gap between the first and second columns is the subject of the next decade of inquiry.</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70B14"/>
        </a:solidFill>
      </p:bgPr>
    </p:bg>
    <p:spTree>
      <p:nvGrpSpPr>
        <p:cNvPr id="1" name=""/>
        <p:cNvGrpSpPr/>
        <p:nvPr/>
      </p:nvGrpSpPr>
      <p:grpSpPr>
        <a:xfrm>
          <a:off x="0" y="0"/>
          <a:ext cx="0" cy="0"/>
          <a:chOff x="0" y="0"/>
          <a:chExt cx="0" cy="0"/>
        </a:xfrm>
      </p:grpSpPr>
      <p:sp>
        <p:nvSpPr>
          <p:cNvPr id="2" name="Shape 0"/>
          <p:cNvSpPr/>
          <p:nvPr/>
        </p:nvSpPr>
        <p:spPr>
          <a:xfrm>
            <a:off x="4434840" y="1234440"/>
            <a:ext cx="3291840" cy="3291840"/>
          </a:xfrm>
          <a:prstGeom prst="ellipse">
            <a:avLst/>
          </a:prstGeom>
          <a:solidFill>
            <a:srgbClr val="070B14">
              <a:alpha val="0"/>
            </a:srgbClr>
          </a:solidFill>
          <a:ln w="6350">
            <a:solidFill>
              <a:srgbClr val="1C2840"/>
            </a:solidFill>
            <a:prstDash val="solid"/>
          </a:ln>
        </p:spPr>
      </p:sp>
      <p:sp>
        <p:nvSpPr>
          <p:cNvPr id="3" name="Shape 1"/>
          <p:cNvSpPr/>
          <p:nvPr/>
        </p:nvSpPr>
        <p:spPr>
          <a:xfrm>
            <a:off x="3886200" y="685800"/>
            <a:ext cx="4389120" cy="4389120"/>
          </a:xfrm>
          <a:prstGeom prst="ellipse">
            <a:avLst/>
          </a:prstGeom>
          <a:solidFill>
            <a:srgbClr val="070B14">
              <a:alpha val="0"/>
            </a:srgbClr>
          </a:solidFill>
          <a:ln w="6350">
            <a:solidFill>
              <a:srgbClr val="1C2840"/>
            </a:solidFill>
            <a:prstDash val="solid"/>
          </a:ln>
        </p:spPr>
      </p:sp>
      <p:sp>
        <p:nvSpPr>
          <p:cNvPr id="4" name="Shape 2"/>
          <p:cNvSpPr/>
          <p:nvPr/>
        </p:nvSpPr>
        <p:spPr>
          <a:xfrm>
            <a:off x="3337560" y="137160"/>
            <a:ext cx="5486400" cy="5486400"/>
          </a:xfrm>
          <a:prstGeom prst="ellipse">
            <a:avLst/>
          </a:prstGeom>
          <a:solidFill>
            <a:srgbClr val="070B14">
              <a:alpha val="0"/>
            </a:srgbClr>
          </a:solidFill>
          <a:ln w="6350">
            <a:solidFill>
              <a:srgbClr val="1C2840"/>
            </a:solidFill>
            <a:prstDash val="solid"/>
          </a:ln>
        </p:spPr>
      </p:sp>
      <p:sp>
        <p:nvSpPr>
          <p:cNvPr id="5" name="Shape 3"/>
          <p:cNvSpPr/>
          <p:nvPr/>
        </p:nvSpPr>
        <p:spPr>
          <a:xfrm>
            <a:off x="2788920" y="-411480"/>
            <a:ext cx="6583680" cy="6583680"/>
          </a:xfrm>
          <a:prstGeom prst="ellipse">
            <a:avLst/>
          </a:prstGeom>
          <a:solidFill>
            <a:srgbClr val="070B14">
              <a:alpha val="0"/>
            </a:srgbClr>
          </a:solidFill>
          <a:ln w="6350">
            <a:solidFill>
              <a:srgbClr val="1C2840"/>
            </a:solidFill>
            <a:prstDash val="solid"/>
          </a:ln>
        </p:spPr>
      </p:sp>
      <p:sp>
        <p:nvSpPr>
          <p:cNvPr id="6" name="Shape 4"/>
          <p:cNvSpPr/>
          <p:nvPr/>
        </p:nvSpPr>
        <p:spPr>
          <a:xfrm>
            <a:off x="2240280" y="-960120"/>
            <a:ext cx="7680960" cy="7680960"/>
          </a:xfrm>
          <a:prstGeom prst="ellipse">
            <a:avLst/>
          </a:prstGeom>
          <a:solidFill>
            <a:srgbClr val="070B14">
              <a:alpha val="0"/>
            </a:srgbClr>
          </a:solidFill>
          <a:ln w="6350">
            <a:solidFill>
              <a:srgbClr val="1C2840"/>
            </a:solidFill>
            <a:prstDash val="solid"/>
          </a:ln>
        </p:spPr>
      </p:sp>
      <p:sp>
        <p:nvSpPr>
          <p:cNvPr id="7" name="Shape 5"/>
          <p:cNvSpPr/>
          <p:nvPr/>
        </p:nvSpPr>
        <p:spPr>
          <a:xfrm>
            <a:off x="201168" y="201168"/>
            <a:ext cx="201168" cy="25603"/>
          </a:xfrm>
          <a:prstGeom prst="rect">
            <a:avLst/>
          </a:prstGeom>
          <a:solidFill>
            <a:srgbClr val="38D9F0"/>
          </a:solidFill>
          <a:ln w="12700">
            <a:solidFill>
              <a:srgbClr val="38D9F0"/>
            </a:solidFill>
            <a:prstDash val="solid"/>
          </a:ln>
        </p:spPr>
      </p:sp>
      <p:sp>
        <p:nvSpPr>
          <p:cNvPr id="8" name="Shape 6"/>
          <p:cNvSpPr/>
          <p:nvPr/>
        </p:nvSpPr>
        <p:spPr>
          <a:xfrm>
            <a:off x="201168" y="201168"/>
            <a:ext cx="25603" cy="201168"/>
          </a:xfrm>
          <a:prstGeom prst="rect">
            <a:avLst/>
          </a:prstGeom>
          <a:solidFill>
            <a:srgbClr val="38D9F0"/>
          </a:solidFill>
          <a:ln w="12700">
            <a:solidFill>
              <a:srgbClr val="38D9F0"/>
            </a:solidFill>
            <a:prstDash val="solid"/>
          </a:ln>
        </p:spPr>
      </p:sp>
      <p:sp>
        <p:nvSpPr>
          <p:cNvPr id="9" name="Shape 7"/>
          <p:cNvSpPr/>
          <p:nvPr/>
        </p:nvSpPr>
        <p:spPr>
          <a:xfrm>
            <a:off x="11759184" y="201168"/>
            <a:ext cx="201168" cy="25603"/>
          </a:xfrm>
          <a:prstGeom prst="rect">
            <a:avLst/>
          </a:prstGeom>
          <a:solidFill>
            <a:srgbClr val="38D9F0"/>
          </a:solidFill>
          <a:ln w="12700">
            <a:solidFill>
              <a:srgbClr val="38D9F0"/>
            </a:solidFill>
            <a:prstDash val="solid"/>
          </a:ln>
        </p:spPr>
      </p:sp>
      <p:sp>
        <p:nvSpPr>
          <p:cNvPr id="10" name="Shape 8"/>
          <p:cNvSpPr/>
          <p:nvPr/>
        </p:nvSpPr>
        <p:spPr>
          <a:xfrm>
            <a:off x="11934749" y="201168"/>
            <a:ext cx="25603" cy="201168"/>
          </a:xfrm>
          <a:prstGeom prst="rect">
            <a:avLst/>
          </a:prstGeom>
          <a:solidFill>
            <a:srgbClr val="38D9F0"/>
          </a:solidFill>
          <a:ln w="12700">
            <a:solidFill>
              <a:srgbClr val="38D9F0"/>
            </a:solidFill>
            <a:prstDash val="solid"/>
          </a:ln>
        </p:spPr>
      </p:sp>
      <p:sp>
        <p:nvSpPr>
          <p:cNvPr id="11" name="Shape 9"/>
          <p:cNvSpPr/>
          <p:nvPr/>
        </p:nvSpPr>
        <p:spPr>
          <a:xfrm>
            <a:off x="201168" y="6631229"/>
            <a:ext cx="201168" cy="25603"/>
          </a:xfrm>
          <a:prstGeom prst="rect">
            <a:avLst/>
          </a:prstGeom>
          <a:solidFill>
            <a:srgbClr val="38D9F0"/>
          </a:solidFill>
          <a:ln w="12700">
            <a:solidFill>
              <a:srgbClr val="38D9F0"/>
            </a:solidFill>
            <a:prstDash val="solid"/>
          </a:ln>
        </p:spPr>
      </p:sp>
      <p:sp>
        <p:nvSpPr>
          <p:cNvPr id="12" name="Shape 10"/>
          <p:cNvSpPr/>
          <p:nvPr/>
        </p:nvSpPr>
        <p:spPr>
          <a:xfrm>
            <a:off x="201168" y="6455664"/>
            <a:ext cx="25603" cy="201168"/>
          </a:xfrm>
          <a:prstGeom prst="rect">
            <a:avLst/>
          </a:prstGeom>
          <a:solidFill>
            <a:srgbClr val="38D9F0"/>
          </a:solidFill>
          <a:ln w="12700">
            <a:solidFill>
              <a:srgbClr val="38D9F0"/>
            </a:solidFill>
            <a:prstDash val="solid"/>
          </a:ln>
        </p:spPr>
      </p:sp>
      <p:sp>
        <p:nvSpPr>
          <p:cNvPr id="13" name="Shape 11"/>
          <p:cNvSpPr/>
          <p:nvPr/>
        </p:nvSpPr>
        <p:spPr>
          <a:xfrm>
            <a:off x="11759184" y="6631229"/>
            <a:ext cx="201168" cy="25603"/>
          </a:xfrm>
          <a:prstGeom prst="rect">
            <a:avLst/>
          </a:prstGeom>
          <a:solidFill>
            <a:srgbClr val="38D9F0"/>
          </a:solidFill>
          <a:ln w="12700">
            <a:solidFill>
              <a:srgbClr val="38D9F0"/>
            </a:solidFill>
            <a:prstDash val="solid"/>
          </a:ln>
        </p:spPr>
      </p:sp>
      <p:sp>
        <p:nvSpPr>
          <p:cNvPr id="14" name="Shape 12"/>
          <p:cNvSpPr/>
          <p:nvPr/>
        </p:nvSpPr>
        <p:spPr>
          <a:xfrm>
            <a:off x="11934749" y="6455664"/>
            <a:ext cx="25603" cy="201168"/>
          </a:xfrm>
          <a:prstGeom prst="rect">
            <a:avLst/>
          </a:prstGeom>
          <a:solidFill>
            <a:srgbClr val="38D9F0"/>
          </a:solidFill>
          <a:ln w="12700">
            <a:solidFill>
              <a:srgbClr val="38D9F0"/>
            </a:solidFill>
            <a:prstDash val="solid"/>
          </a:ln>
        </p:spPr>
      </p:sp>
      <p:sp>
        <p:nvSpPr>
          <p:cNvPr id="15" name="Text 13"/>
          <p:cNvSpPr/>
          <p:nvPr/>
        </p:nvSpPr>
        <p:spPr>
          <a:xfrm>
            <a:off x="777240" y="155448"/>
            <a:ext cx="5486400" cy="274320"/>
          </a:xfrm>
          <a:prstGeom prst="rect">
            <a:avLst/>
          </a:prstGeom>
          <a:noFill/>
          <a:ln/>
        </p:spPr>
        <p:txBody>
          <a:bodyPr wrap="square" lIns="0" tIns="0" rIns="0" bIns="0" rtlCol="0" anchor="ctr"/>
          <a:lstStyle/>
          <a:p>
            <a:pPr indent="0" marL="0">
              <a:buNone/>
            </a:pPr>
            <a:r>
              <a:rPr lang="en-US" sz="900" spc="300" kern="0" dirty="0">
                <a:solidFill>
                  <a:srgbClr val="8A97AD"/>
                </a:solidFill>
                <a:latin typeface="Consolas" pitchFamily="34" charset="0"/>
                <a:ea typeface="Consolas" pitchFamily="34" charset="-122"/>
                <a:cs typeface="Consolas" pitchFamily="34" charset="-120"/>
              </a:rPr>
              <a:t>DOC-040  //  UAP ARCHIVE  //  VOL. I</a:t>
            </a:r>
            <a:endParaRPr lang="en-US" sz="900" dirty="0"/>
          </a:p>
        </p:txBody>
      </p:sp>
      <p:sp>
        <p:nvSpPr>
          <p:cNvPr id="16" name="Text 14"/>
          <p:cNvSpPr/>
          <p:nvPr/>
        </p:nvSpPr>
        <p:spPr>
          <a:xfrm>
            <a:off x="6812280" y="155448"/>
            <a:ext cx="4572000" cy="274320"/>
          </a:xfrm>
          <a:prstGeom prst="rect">
            <a:avLst/>
          </a:prstGeom>
          <a:noFill/>
          <a:ln/>
        </p:spPr>
        <p:txBody>
          <a:bodyPr wrap="square" lIns="0" tIns="0" rIns="0" bIns="0" rtlCol="0" anchor="ctr"/>
          <a:lstStyle/>
          <a:p>
            <a:pPr algn="r" indent="0" marL="0">
              <a:buNone/>
            </a:pPr>
            <a:r>
              <a:rPr lang="en-US" sz="900" b="1" spc="400" kern="0" dirty="0">
                <a:solidFill>
                  <a:srgbClr val="F5B024"/>
                </a:solidFill>
                <a:latin typeface="Consolas" pitchFamily="34" charset="0"/>
                <a:ea typeface="Consolas" pitchFamily="34" charset="-122"/>
                <a:cs typeface="Consolas" pitchFamily="34" charset="-120"/>
              </a:rPr>
              <a:t>END OF RECORD</a:t>
            </a:r>
            <a:endParaRPr lang="en-US" sz="900" dirty="0"/>
          </a:p>
        </p:txBody>
      </p:sp>
      <p:sp>
        <p:nvSpPr>
          <p:cNvPr id="17" name="Text 15"/>
          <p:cNvSpPr/>
          <p:nvPr/>
        </p:nvSpPr>
        <p:spPr>
          <a:xfrm>
            <a:off x="777240" y="6510528"/>
            <a:ext cx="7315200" cy="228600"/>
          </a:xfrm>
          <a:prstGeom prst="rect">
            <a:avLst/>
          </a:prstGeom>
          <a:noFill/>
          <a:ln/>
        </p:spPr>
        <p:txBody>
          <a:bodyPr wrap="square" lIns="0" tIns="0" rIns="0" bIns="0" rtlCol="0" anchor="ctr"/>
          <a:lstStyle/>
          <a:p>
            <a:pPr indent="0" marL="0">
              <a:buNone/>
            </a:pPr>
            <a:r>
              <a:rPr lang="en-US" sz="850" spc="300" kern="0" dirty="0">
                <a:solidFill>
                  <a:srgbClr val="5C6A83"/>
                </a:solidFill>
                <a:latin typeface="Consolas" pitchFamily="34" charset="0"/>
                <a:ea typeface="Consolas" pitchFamily="34" charset="-122"/>
                <a:cs typeface="Consolas" pitchFamily="34" charset="-120"/>
              </a:rPr>
              <a:t>CLOSING</a:t>
            </a:r>
            <a:endParaRPr lang="en-US" sz="850" dirty="0"/>
          </a:p>
        </p:txBody>
      </p:sp>
      <p:sp>
        <p:nvSpPr>
          <p:cNvPr id="18" name="Text 16"/>
          <p:cNvSpPr/>
          <p:nvPr/>
        </p:nvSpPr>
        <p:spPr>
          <a:xfrm>
            <a:off x="8641080" y="6510528"/>
            <a:ext cx="2743200" cy="228600"/>
          </a:xfrm>
          <a:prstGeom prst="rect">
            <a:avLst/>
          </a:prstGeom>
          <a:noFill/>
          <a:ln/>
        </p:spPr>
        <p:txBody>
          <a:bodyPr wrap="square" lIns="0" tIns="0" rIns="0" bIns="0" rtlCol="0" anchor="ctr"/>
          <a:lstStyle/>
          <a:p>
            <a:pPr algn="r" indent="0" marL="0">
              <a:buNone/>
            </a:pPr>
            <a:r>
              <a:rPr lang="en-US" sz="850" dirty="0">
                <a:solidFill>
                  <a:srgbClr val="8A97AD"/>
                </a:solidFill>
                <a:latin typeface="Consolas" pitchFamily="34" charset="0"/>
                <a:ea typeface="Consolas" pitchFamily="34" charset="-122"/>
                <a:cs typeface="Consolas" pitchFamily="34" charset="-120"/>
              </a:rPr>
              <a:t>40 / 40</a:t>
            </a:r>
            <a:endParaRPr lang="en-US" sz="850" dirty="0"/>
          </a:p>
        </p:txBody>
      </p:sp>
      <p:sp>
        <p:nvSpPr>
          <p:cNvPr id="19" name="Text 17"/>
          <p:cNvSpPr/>
          <p:nvPr/>
        </p:nvSpPr>
        <p:spPr>
          <a:xfrm>
            <a:off x="548640" y="1737360"/>
            <a:ext cx="10972800" cy="365760"/>
          </a:xfrm>
          <a:prstGeom prst="rect">
            <a:avLst/>
          </a:prstGeom>
          <a:noFill/>
          <a:ln/>
        </p:spPr>
        <p:txBody>
          <a:bodyPr wrap="square" lIns="0" tIns="0" rIns="0" bIns="0" rtlCol="0" anchor="ctr"/>
          <a:lstStyle/>
          <a:p>
            <a:pPr indent="0" marL="0">
              <a:buNone/>
            </a:pPr>
            <a:r>
              <a:rPr lang="en-US" sz="1200" b="1" spc="700" kern="0" dirty="0">
                <a:solidFill>
                  <a:srgbClr val="F5B024"/>
                </a:solidFill>
                <a:latin typeface="Consolas" pitchFamily="34" charset="0"/>
                <a:ea typeface="Consolas" pitchFamily="34" charset="-122"/>
                <a:cs typeface="Consolas" pitchFamily="34" charset="-120"/>
              </a:rPr>
              <a:t>CLOSING REMARKS</a:t>
            </a:r>
            <a:endParaRPr lang="en-US" sz="1200" dirty="0"/>
          </a:p>
        </p:txBody>
      </p:sp>
      <p:sp>
        <p:nvSpPr>
          <p:cNvPr id="20" name="Text 18"/>
          <p:cNvSpPr/>
          <p:nvPr/>
        </p:nvSpPr>
        <p:spPr>
          <a:xfrm>
            <a:off x="548640" y="2148840"/>
            <a:ext cx="10972800" cy="1005840"/>
          </a:xfrm>
          <a:prstGeom prst="rect">
            <a:avLst/>
          </a:prstGeom>
          <a:noFill/>
          <a:ln/>
        </p:spPr>
        <p:txBody>
          <a:bodyPr wrap="square" lIns="0" tIns="0" rIns="0" bIns="0" rtlCol="0" anchor="ctr"/>
          <a:lstStyle/>
          <a:p>
            <a:pPr indent="0" marL="0">
              <a:buNone/>
            </a:pPr>
            <a:r>
              <a:rPr lang="en-US" sz="6400" spc="300" kern="0" dirty="0">
                <a:solidFill>
                  <a:srgbClr val="ECF1F8"/>
                </a:solidFill>
                <a:latin typeface="Arial Black" pitchFamily="34" charset="0"/>
                <a:ea typeface="Arial Black" pitchFamily="34" charset="-122"/>
                <a:cs typeface="Arial Black" pitchFamily="34" charset="-120"/>
              </a:rPr>
              <a:t>FROM MYTH</a:t>
            </a:r>
            <a:endParaRPr lang="en-US" sz="6400" dirty="0"/>
          </a:p>
        </p:txBody>
      </p:sp>
      <p:sp>
        <p:nvSpPr>
          <p:cNvPr id="21" name="Text 19"/>
          <p:cNvSpPr/>
          <p:nvPr/>
        </p:nvSpPr>
        <p:spPr>
          <a:xfrm>
            <a:off x="548640" y="3154680"/>
            <a:ext cx="10972800" cy="1005840"/>
          </a:xfrm>
          <a:prstGeom prst="rect">
            <a:avLst/>
          </a:prstGeom>
          <a:noFill/>
          <a:ln/>
        </p:spPr>
        <p:txBody>
          <a:bodyPr wrap="square" lIns="0" tIns="0" rIns="0" bIns="0" rtlCol="0" anchor="ctr"/>
          <a:lstStyle/>
          <a:p>
            <a:pPr indent="0" marL="0">
              <a:buNone/>
            </a:pPr>
            <a:r>
              <a:rPr lang="en-US" sz="6400" spc="300" kern="0" dirty="0">
                <a:solidFill>
                  <a:srgbClr val="38D9F0"/>
                </a:solidFill>
                <a:latin typeface="Arial Black" pitchFamily="34" charset="0"/>
                <a:ea typeface="Arial Black" pitchFamily="34" charset="-122"/>
                <a:cs typeface="Arial Black" pitchFamily="34" charset="-120"/>
              </a:rPr>
              <a:t>TO MEASUREMENT.</a:t>
            </a:r>
            <a:endParaRPr lang="en-US" sz="6400" dirty="0"/>
          </a:p>
        </p:txBody>
      </p:sp>
      <p:sp>
        <p:nvSpPr>
          <p:cNvPr id="22" name="Shape 20"/>
          <p:cNvSpPr/>
          <p:nvPr/>
        </p:nvSpPr>
        <p:spPr>
          <a:xfrm>
            <a:off x="548640" y="4343400"/>
            <a:ext cx="1097280" cy="45720"/>
          </a:xfrm>
          <a:prstGeom prst="rect">
            <a:avLst/>
          </a:prstGeom>
          <a:solidFill>
            <a:srgbClr val="F5B024"/>
          </a:solidFill>
          <a:ln w="12700">
            <a:solidFill>
              <a:srgbClr val="F5B024"/>
            </a:solidFill>
            <a:prstDash val="solid"/>
          </a:ln>
        </p:spPr>
      </p:sp>
      <p:sp>
        <p:nvSpPr>
          <p:cNvPr id="23" name="Text 21"/>
          <p:cNvSpPr/>
          <p:nvPr/>
        </p:nvSpPr>
        <p:spPr>
          <a:xfrm>
            <a:off x="548640" y="4480560"/>
            <a:ext cx="10972800" cy="1280160"/>
          </a:xfrm>
          <a:prstGeom prst="rect">
            <a:avLst/>
          </a:prstGeom>
          <a:noFill/>
          <a:ln/>
        </p:spPr>
        <p:txBody>
          <a:bodyPr wrap="square" lIns="0" tIns="0" rIns="0" bIns="0" rtlCol="0" anchor="ctr"/>
          <a:lstStyle/>
          <a:p>
            <a:pPr indent="0" marL="0">
              <a:buNone/>
            </a:pPr>
            <a:r>
              <a:rPr lang="en-US" sz="1800" i="1" dirty="0">
                <a:solidFill>
                  <a:srgbClr val="8A97AD"/>
                </a:solidFill>
                <a:latin typeface="Calibri" pitchFamily="34" charset="0"/>
                <a:ea typeface="Calibri" pitchFamily="34" charset="-122"/>
                <a:cs typeface="Calibri" pitchFamily="34" charset="-120"/>
              </a:rPr>
              <a:t>For two thousand years humanity looked up and told stories. Today, we look up with instruments — and the sky is still telling us something we do not yet fully understand.</a:t>
            </a:r>
            <a:endParaRPr lang="en-US" sz="1800" dirty="0"/>
          </a:p>
        </p:txBody>
      </p:sp>
      <p:sp>
        <p:nvSpPr>
          <p:cNvPr id="24" name="Text 22"/>
          <p:cNvSpPr/>
          <p:nvPr/>
        </p:nvSpPr>
        <p:spPr>
          <a:xfrm>
            <a:off x="548640" y="5852160"/>
            <a:ext cx="10972800" cy="411480"/>
          </a:xfrm>
          <a:prstGeom prst="rect">
            <a:avLst/>
          </a:prstGeom>
          <a:noFill/>
          <a:ln/>
        </p:spPr>
        <p:txBody>
          <a:bodyPr wrap="square" lIns="0" tIns="0" rIns="0" bIns="0" rtlCol="0" anchor="ctr"/>
          <a:lstStyle/>
          <a:p>
            <a:pPr indent="0" marL="0">
              <a:buNone/>
            </a:pPr>
            <a:r>
              <a:rPr lang="en-US" sz="1200" b="1" spc="600" kern="0" dirty="0">
                <a:solidFill>
                  <a:srgbClr val="5DD39E"/>
                </a:solidFill>
                <a:latin typeface="Consolas" pitchFamily="34" charset="0"/>
                <a:ea typeface="Consolas" pitchFamily="34" charset="-122"/>
                <a:cs typeface="Consolas" pitchFamily="34" charset="-120"/>
              </a:rPr>
              <a:t>QUESTIONS  ·  DISCUSSION  ·  FURTHER READING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Unidentified Anomalous Phenomena: A History</dc:title>
  <dc:subject>PptxGenJS Presentation</dc:subject>
  <dc:creator>UAP Archive</dc:creator>
  <cp:lastModifiedBy>UAP Archive</cp:lastModifiedBy>
  <cp:revision>1</cp:revision>
  <dcterms:created xsi:type="dcterms:W3CDTF">2026-04-18T00:40:30Z</dcterms:created>
  <dcterms:modified xsi:type="dcterms:W3CDTF">2026-04-18T00:40:30Z</dcterms:modified>
</cp:coreProperties>
</file>